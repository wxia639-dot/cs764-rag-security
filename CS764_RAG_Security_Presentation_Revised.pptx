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1ba04a149a4bb5" /><Relationship Type="http://schemas.openxmlformats.org/officeDocument/2006/relationships/extended-properties" Target="/docProps/app.xml" Id="R68aef62807e5490f" /><Relationship Type="http://schemas.openxmlformats.org/officeDocument/2006/relationships/officeDocument" Target="/ppt/presentation.xml" Id="Ra36e6aac9d6543e8" /></Relationships>
</file>

<file path=ppt/presentation.xml><?xml version="1.0" encoding="utf-8"?>
<p:presentation xmlns:p="http://schemas.openxmlformats.org/presentationml/2006/main">
  <p:sldMasterIdLst>
    <p:sldMasterId xmlns:r="http://schemas.openxmlformats.org/officeDocument/2006/relationships" id="2147483648" r:id="R9ec8cbaf6c954cb0"/>
  </p:sldMasterIdLst>
  <p:notesMasterIdLst>
    <p:notesMasterId xmlns:r="http://schemas.openxmlformats.org/officeDocument/2006/relationships" r:id="R2be0840477b444bc"/>
  </p:notesMasterIdLst>
  <p:sldIdLst>
    <p:sldId xmlns:r="http://schemas.openxmlformats.org/officeDocument/2006/relationships" id="256" r:id="R6a94ff0e1529408f"/>
    <p:sldId xmlns:r="http://schemas.openxmlformats.org/officeDocument/2006/relationships" id="257" r:id="R1fc84d48b2c84941"/>
    <p:sldId xmlns:r="http://schemas.openxmlformats.org/officeDocument/2006/relationships" id="258" r:id="R77fcbded133a4620"/>
    <p:sldId xmlns:r="http://schemas.openxmlformats.org/officeDocument/2006/relationships" id="259" r:id="R049b65b1c3ff4d2d"/>
    <p:sldId xmlns:r="http://schemas.openxmlformats.org/officeDocument/2006/relationships" id="260" r:id="Rf55e845c25564393"/>
    <p:sldId xmlns:r="http://schemas.openxmlformats.org/officeDocument/2006/relationships" id="261" r:id="R6330db8e83254afa"/>
    <p:sldId xmlns:r="http://schemas.openxmlformats.org/officeDocument/2006/relationships" id="262" r:id="Rd1dcaa6f88494c8d"/>
    <p:sldId xmlns:r="http://schemas.openxmlformats.org/officeDocument/2006/relationships" id="263" r:id="Ra28e239d74d14cde"/>
    <p:sldId xmlns:r="http://schemas.openxmlformats.org/officeDocument/2006/relationships" id="264" r:id="R54932ef4ce6f43cf"/>
    <p:sldId xmlns:r="http://schemas.openxmlformats.org/officeDocument/2006/relationships" id="265" r:id="R2e37a38b6c2d40f9"/>
    <p:sldId xmlns:r="http://schemas.openxmlformats.org/officeDocument/2006/relationships" id="266" r:id="Rb036da946fc54fb5"/>
    <p:sldId xmlns:r="http://schemas.openxmlformats.org/officeDocument/2006/relationships" id="267" r:id="Ra827e98531d44a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09261609bd4b46" /><Relationship Type="http://schemas.openxmlformats.org/officeDocument/2006/relationships/slideMaster" Target="/ppt/slideMasters/slideMaster1.xml" Id="R9ec8cbaf6c954cb0" /><Relationship Type="http://schemas.openxmlformats.org/officeDocument/2006/relationships/notesMaster" Target="/ppt/notesMasters/notesMaster1.xml" Id="R2be0840477b444bc" /><Relationship Type="http://schemas.openxmlformats.org/officeDocument/2006/relationships/presProps" Target="/ppt/presProps.xml" Id="R7f96615d3dec4f04" /><Relationship Type="http://schemas.openxmlformats.org/officeDocument/2006/relationships/tableStyles" Target="/ppt/tableStyles.xml" Id="Rcdb8bdd7e5d34757" /><Relationship Type="http://schemas.openxmlformats.org/officeDocument/2006/relationships/slide" Target="/ppt/slides/slide1.xml" Id="R6a94ff0e1529408f" /><Relationship Type="http://schemas.openxmlformats.org/officeDocument/2006/relationships/slide" Target="/ppt/slides/slide2.xml" Id="R1fc84d48b2c84941" /><Relationship Type="http://schemas.openxmlformats.org/officeDocument/2006/relationships/slide" Target="/ppt/slides/slide3.xml" Id="R77fcbded133a4620" /><Relationship Type="http://schemas.openxmlformats.org/officeDocument/2006/relationships/slide" Target="/ppt/slides/slide4.xml" Id="R049b65b1c3ff4d2d" /><Relationship Type="http://schemas.openxmlformats.org/officeDocument/2006/relationships/slide" Target="/ppt/slides/slide5.xml" Id="Rf55e845c25564393" /><Relationship Type="http://schemas.openxmlformats.org/officeDocument/2006/relationships/slide" Target="/ppt/slides/slide6.xml" Id="R6330db8e83254afa" /><Relationship Type="http://schemas.openxmlformats.org/officeDocument/2006/relationships/slide" Target="/ppt/slides/slide7.xml" Id="Rd1dcaa6f88494c8d" /><Relationship Type="http://schemas.openxmlformats.org/officeDocument/2006/relationships/slide" Target="/ppt/slides/slide8.xml" Id="Ra28e239d74d14cde" /><Relationship Type="http://schemas.openxmlformats.org/officeDocument/2006/relationships/slide" Target="/ppt/slides/slide9.xml" Id="R54932ef4ce6f43cf" /><Relationship Type="http://schemas.openxmlformats.org/officeDocument/2006/relationships/slide" Target="/ppt/slides/slide10.xml" Id="R2e37a38b6c2d40f9" /><Relationship Type="http://schemas.openxmlformats.org/officeDocument/2006/relationships/slide" Target="/ppt/slides/slide11.xml" Id="Rb036da946fc54fb5" /><Relationship Type="http://schemas.openxmlformats.org/officeDocument/2006/relationships/slide" Target="/ppt/slides/slide12.xml" Id="Ra827e98531d44a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dd6deb56b343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ec34ae59e704c59" /><Relationship Type="http://schemas.openxmlformats.org/officeDocument/2006/relationships/notesMaster" Target="/ppt/notesMasters/notesMaster1.xml" Id="R57bd8c3a389643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46038a84494594" /><Relationship Type="http://schemas.openxmlformats.org/officeDocument/2006/relationships/notesMaster" Target="/ppt/notesMasters/notesMaster1.xml" Id="Rb6d07dddd9b447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aceeef3a5834457" /><Relationship Type="http://schemas.openxmlformats.org/officeDocument/2006/relationships/notesMaster" Target="/ppt/notesMasters/notesMaster1.xml" Id="R7e1b027556da49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cff190682042f6" /><Relationship Type="http://schemas.openxmlformats.org/officeDocument/2006/relationships/notesMaster" Target="/ppt/notesMasters/notesMaster1.xml" Id="Ra717cc92dc034dd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187ee7f86244d37" /><Relationship Type="http://schemas.openxmlformats.org/officeDocument/2006/relationships/notesMaster" Target="/ppt/notesMasters/notesMaster1.xml" Id="Rd9fa419a6a3d4b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dd41fda495f4af7" /><Relationship Type="http://schemas.openxmlformats.org/officeDocument/2006/relationships/notesMaster" Target="/ppt/notesMasters/notesMaster1.xml" Id="R94c4733d909246b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b12a489fd449fb" /><Relationship Type="http://schemas.openxmlformats.org/officeDocument/2006/relationships/notesMaster" Target="/ppt/notesMasters/notesMaster1.xml" Id="R577f1df4dcd14a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217a32d2cf497f" /><Relationship Type="http://schemas.openxmlformats.org/officeDocument/2006/relationships/notesMaster" Target="/ppt/notesMasters/notesMaster1.xml" Id="R986593fbb6e442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e9446fce844556" /><Relationship Type="http://schemas.openxmlformats.org/officeDocument/2006/relationships/notesMaster" Target="/ppt/notesMasters/notesMaster1.xml" Id="Rbaa5626335d047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e654d646734ac7" /><Relationship Type="http://schemas.openxmlformats.org/officeDocument/2006/relationships/notesMaster" Target="/ppt/notesMasters/notesMaster1.xml" Id="R1b1ab207413f4ee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3fa9b540434f6d" /><Relationship Type="http://schemas.openxmlformats.org/officeDocument/2006/relationships/notesMaster" Target="/ppt/notesMasters/notesMaster1.xml" Id="R43ca8b36861043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7deb65d24e94868" /><Relationship Type="http://schemas.openxmlformats.org/officeDocument/2006/relationships/notesMaster" Target="/ppt/notesMasters/notesMaster1.xml" Id="Rb78c40a9776842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Weiyi Xia | Target 20 seconds</a:t>
            </a:r>
          </a:p>
          <a:p xmlns:a="http://schemas.openxmlformats.org/drawingml/2006/main">
            <a:r>
              <a:t/>
            </a:r>
          </a:p>
          <a:p xmlns:a="http://schemas.openxmlformats.org/drawingml/2006/main">
            <a:r>
              <a:t>Our project examines instructions hidden in retrieved evidence. We built a two-signal passage gate and evaluated both detection and actual RAG answers. The revised experiments broaden the source and attack crossing and add an external classifier. The most important new finding is a failure: a gate that retains ordinary emails can still reject legitimate instructions.</a:t>
            </a:r>
          </a:p>
          <a:p xmlns:a="http://schemas.openxmlformats.org/drawingml/2006/main">
            <a:r>
              <a:t/>
            </a:r>
          </a:p>
          <a:p xmlns:a="http://schemas.openxmlformats.org/drawingml/2006/main">
            <a:r>
              <a:t>Evidence: revised report; work/expanded/results.json; work/revision_detection/results.json; original uncached pilot timings in work/rag/results.json.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Weiyi Xia | Target 50 seconds</a:t>
            </a:r>
          </a:p>
          <a:p xmlns:a="http://schemas.openxmlformats.org/drawingml/2006/main">
            <a:r>
              <a:t/>
            </a:r>
          </a:p>
          <a:p xmlns:a="http://schemas.openxmlformats.org/drawingml/2006/main">
            <a:r>
              <a:t>We ask three questions. First, can the gate detect injected instructions while preserving legitimate evidence? Second, does combining a learned probe and explicit rule add value over either component and an external detector? Third, does that passage-level benefit transfer to actual answers at a reasonable cost? Our hypothesis is complementary attack coverage. We keep that hypothesis separate from usefulness, because rejecting a chunk can also remove the answer. The evaluation therefore reports attack success, task correctness, benign rejection and computation together. The new legitimate-instruction challenge becomes particularly important when interpreting the headline security result.</a:t>
            </a:r>
          </a:p>
          <a:p xmlns:a="http://schemas.openxmlformats.org/drawingml/2006/main">
            <a:r>
              <a:t/>
            </a:r>
          </a:p>
          <a:p xmlns:a="http://schemas.openxmlformats.org/drawingml/2006/main">
            <a:r>
              <a:t>Evidence: revised report; work/expanded/results.json; work/revision_detection/results.json; original uncached pilot timings in work/rag/results.json.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Weiyi Xia | Target 45 seconds</a:t>
            </a:r>
          </a:p>
          <a:p xmlns:a="http://schemas.openxmlformats.org/drawingml/2006/main">
            <a:r>
              <a:t/>
            </a:r>
          </a:p>
          <a:p xmlns:a="http://schemas.openxmlformats.org/drawingml/2006/main">
            <a:r>
              <a:t>Prior work motivates different intervention points. StruQ separates instructions and data using a compatible trained model. Spotlighting signals the provenance of untrusted content. Detection-and-removal methods inspect contaminated text. RobustRAG isolates evidence and aggregates generated answers under a corruption model. Our contribution is narrower: an inspectable gate and a controlled comparison linking its decisions to actual answers, false positives and cost. BIPIA supplies public EmailQA records and attack data. Our retrieval adapter is locally implemented. The external ProtectAI classifier is measured on our test passages rather than represented by its model-card benchmark accuracy.</a:t>
            </a:r>
          </a:p>
          <a:p xmlns:a="http://schemas.openxmlformats.org/drawingml/2006/main">
            <a:r>
              <a:t/>
            </a:r>
          </a:p>
          <a:p xmlns:a="http://schemas.openxmlformats.org/drawingml/2006/main">
            <a:r>
              <a:t>Evidence: revised report; work/expanded/results.json; work/revision_detection/results.json; original uncached pilot timings in work/rag/results.json.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Weiyi Xia | Target 60 seconds</a:t>
            </a:r>
          </a:p>
          <a:p xmlns:a="http://schemas.openxmlformats.org/drawingml/2006/main">
            <a:r>
              <a:t/>
            </a:r>
          </a:p>
          <a:p xmlns:a="http://schemas.openxmlformats.org/drawingml/2006/main">
            <a:r>
              <a:t>The attacker inserts text into an email before chunking. A document-scoped TF-IDF retriever returns up to two chunks. Each chunk receives a probe score and an explicit response-control cue. BERT stays frozen; a logistic head scores overlapping windows, and maximum pooling gives the passage score. The combination increases risk when the cue is present. Each method uses its own threshold selected on validation under a five-percent clean false-positive constraint. The application keeps scores strictly below the threshold. If no chunk survives, it returns UNKNOWN. Otherwise the same Qwen model, prompt and greedy decoding generate an answer. This design lets us trace a result back to source text, retrieval and gate decisions.</a:t>
            </a:r>
          </a:p>
          <a:p xmlns:a="http://schemas.openxmlformats.org/drawingml/2006/main">
            <a:r>
              <a:t/>
            </a:r>
          </a:p>
          <a:p xmlns:a="http://schemas.openxmlformats.org/drawingml/2006/main">
            <a:r>
              <a:t>Evidence: revised report; work/expanded/results.json; work/revision_detection/results.json; original uncached pilot timings in work/rag/results.json.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Weiyi Xia | Target 45 seconds</a:t>
            </a:r>
          </a:p>
          <a:p xmlns:a="http://schemas.openxmlformats.org/drawingml/2006/main">
            <a:r>
              <a:t/>
            </a:r>
          </a:p>
          <a:p xmlns:a="http://schemas.openxmlformats.org/drawingml/2006/main">
            <a:r>
              <a:t>Exact development-to-test email copies were removed. The passage test has thirty-seven clean records and one hundred eleven attacked passages, representing thirty-three distinct email texts. The expanded RAG study uses all thirty-three distinct emails, every one of four attack templates and both prefix and suffix positions. That produces two hundred sixty-four attacked variants per gate. Variants from the same email are dependent, so uncertainty is clustered by email. Identical deterministic question-and-evidence inputs can reuse generation in the expansion. We label those reuses and use the earlier uncached pilot for timing.</a:t>
            </a:r>
          </a:p>
          <a:p xmlns:a="http://schemas.openxmlformats.org/drawingml/2006/main">
            <a:r>
              <a:t/>
            </a:r>
          </a:p>
          <a:p xmlns:a="http://schemas.openxmlformats.org/drawingml/2006/main">
            <a:r>
              <a:t>Evidence: revised report; work/expanded/results.json; work/revision_detection/results.json; original uncached pilot timings in work/rag/results.json.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Weiyi Xia | Target 50 seconds</a:t>
            </a:r>
          </a:p>
          <a:p xmlns:a="http://schemas.openxmlformats.org/drawingml/2006/main">
            <a:r>
              <a:t/>
            </a:r>
          </a:p>
          <a:p xmlns:a="http://schemas.openxmlformats.org/drawingml/2006/main">
            <a:r>
              <a:t>The original combined gate detects seventy-four of one hundred eleven attacks, compared with sixty-three for rules and twenty-two for the probe. The external DeBERTa detects 73 attacks but rejects 31 of thirty-seven original clean records at the fixed threshold. Its passage wrapper and calibration differ, so this is a reference operating point rather than a universal ranking. The result also shows why a curve and a threshold answer different questions. Better ranking does not necessarily mean better recall when the deployment decision is constrained by a small clean validation sample. We now turn to generated answers and the harder benign negatives.</a:t>
            </a:r>
          </a:p>
          <a:p xmlns:a="http://schemas.openxmlformats.org/drawingml/2006/main">
            <a:r>
              <a:t/>
            </a:r>
          </a:p>
          <a:p xmlns:a="http://schemas.openxmlformats.org/drawingml/2006/main">
            <a:r>
              <a:t>Evidence: revised report; work/expanded/results.json; work/revision_detection/results.json; original uncached pilot timings in work/rag/results.json.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Xinye He | Target 50 seconds</a:t>
            </a:r>
          </a:p>
          <a:p xmlns:a="http://schemas.openxmlformats.org/drawingml/2006/main">
            <a:r>
              <a:t/>
            </a:r>
          </a:p>
          <a:p xmlns:a="http://schemas.openxmlformats.org/drawingml/2006/main">
            <a:r>
              <a:t>In the expanded crossing, marker successes are 102 without filtering, 16 with rules, 85 with the probe and 7 with the combination, out of two hundred sixty-four variants each. Clean correctness for the combination is 16 of thirty-three. Attacked correctness is 125 of two hundred sixty-four. We report marker exposure and retention separately from output success. The source-email cluster interval describes uncertainty over these thirty-three emails under the fixed templates. The templates are repeated, so the larger variant count is not the same as having two hundred sixty-four independent documents or attack strategies.</a:t>
            </a:r>
          </a:p>
          <a:p xmlns:a="http://schemas.openxmlformats.org/drawingml/2006/main">
            <a:r>
              <a:t/>
            </a:r>
          </a:p>
          <a:p xmlns:a="http://schemas.openxmlformats.org/drawingml/2006/main">
            <a:r>
              <a:t>Evidence: revised report; work/expanded/results.json; work/revision_detection/results.json; original uncached pilot timings in work/rag/results.json.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Xinye He | Target 50 seconds</a:t>
            </a:r>
          </a:p>
          <a:p xmlns:a="http://schemas.openxmlformats.org/drawingml/2006/main">
            <a:r>
              <a:t/>
            </a:r>
          </a:p>
          <a:p xmlns:a="http://schemas.openxmlformats.org/drawingml/2006/main">
            <a:r>
              <a:t>The benign-instruction challenge changes the conclusion. It contains twelve ordinary requests or procedures and twelve benign paragraphs using cue-like vocabulary. Rules reject twelve, the original probe twenty-two and the combination all twenty-four. DeBERTa rejects four. The combined gate therefore fails this transfer test despite retaining every ordinary email in the original sample. Instructions such as asking an email recipient to reply, or describing a printer's system message, can be legitimate documentary content. Their wording can still trigger our signals. These authored examples are diagnostic rather than a prevalence estimate, but they are sufficient to reject a broad claim that the gate preserves legitimate instructions.</a:t>
            </a:r>
          </a:p>
          <a:p xmlns:a="http://schemas.openxmlformats.org/drawingml/2006/main">
            <a:r>
              <a:t/>
            </a:r>
          </a:p>
          <a:p xmlns:a="http://schemas.openxmlformats.org/drawingml/2006/main">
            <a:r>
              <a:t>Evidence: revised report; work/expanded/results.json; work/revision_detection/results.json; original uncached pilot timings in work/rag/results.json.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Xinye He | Target 50 seconds</a:t>
            </a:r>
          </a:p>
          <a:p xmlns:a="http://schemas.openxmlformats.org/drawingml/2006/main">
            <a:r>
              <a:t/>
            </a:r>
          </a:p>
          <a:p xmlns:a="http://schemas.openxmlformats.org/drawingml/2006/main">
            <a:r>
              <a:t>We tested one fixed correction by fitting the probe on windows from emails with inserted training payloads. Only windows overlapping the inserted span receive positive labels. AUROC improves from point seven five four to point nine two six, but recall at the validation-selected threshold falls from nineteen point eight to eleven point seven percent. The corrected probe also rejects eleven of twenty-four benign challenge examples. It improves some aspects of ranking and transfer but does not solve the operating-point problem. We additionally inspect five cue weights and a threshold sweep from stored scores, without retuning the generator experiment on the test results.</a:t>
            </a:r>
          </a:p>
          <a:p xmlns:a="http://schemas.openxmlformats.org/drawingml/2006/main">
            <a:r>
              <a:t/>
            </a:r>
          </a:p>
          <a:p xmlns:a="http://schemas.openxmlformats.org/drawingml/2006/main">
            <a:r>
              <a:t>Evidence: revised report; work/expanded/results.json; work/revision_detection/results.json; original uncached pilot timings in work/rag/results.json.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Xinye He | Target 50 seconds</a:t>
            </a:r>
          </a:p>
          <a:p xmlns:a="http://schemas.openxmlformats.org/drawingml/2006/main">
            <a:r>
              <a:t/>
            </a:r>
          </a:p>
          <a:p xmlns:a="http://schemas.openxmlformats.org/drawingml/2006/main">
            <a:r>
              <a:t>Cost comes from the original uncached pilot. The combined gate takes roughly one hundred ninety-two milliseconds at the median on this CPU; the rule gate takes a fraction of a millisecond. Expanded cached execution is excluded from that comparison. We also retain concrete pilot failures. One attack is suppressed but the model returns an amount when UNKNOWN is correct. Another filter removes a chunk containing the correct amount, and a previously correct answer becomes wrong. These examples explain why marker suppression, answering the question and keeping useful evidence must be measured separately.</a:t>
            </a:r>
          </a:p>
          <a:p xmlns:a="http://schemas.openxmlformats.org/drawingml/2006/main">
            <a:r>
              <a:t/>
            </a:r>
          </a:p>
          <a:p xmlns:a="http://schemas.openxmlformats.org/drawingml/2006/main">
            <a:r>
              <a:t>Evidence: revised report; work/expanded/results.json; work/revision_detection/results.json; original uncached pilot timings in work/rag/results.json.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Xinye He | Target 40 seconds</a:t>
            </a:r>
          </a:p>
          <a:p xmlns:a="http://schemas.openxmlformats.org/drawingml/2006/main">
            <a:r>
              <a:t/>
            </a:r>
          </a:p>
          <a:p xmlns:a="http://schemas.openxmlformats.org/drawingml/2006/main">
            <a:r>
              <a:t>The expanded experiment covers more documents and every template-position combination, but it still uses one small generator and a fixed four-template attack bank. There is no adaptive attack search or open-corpus poisoning evaluation. The benign challenge changes genre and length relative to the training emails. External classifier calibration also transfers poorly to the original emails. These limits point toward task-conditioned detection, more representative calibration data and evidence-preserving removal. Adding further signals should wait until these basic security and utility failures are addressed.</a:t>
            </a:r>
          </a:p>
          <a:p xmlns:a="http://schemas.openxmlformats.org/drawingml/2006/main">
            <a:r>
              <a:t/>
            </a:r>
          </a:p>
          <a:p xmlns:a="http://schemas.openxmlformats.org/drawingml/2006/main">
            <a:r>
              <a:t>Evidence: revised report; work/expanded/results.json; work/revision_detection/results.json; original uncached pilot timings in work/rag/results.json.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Xinye He | Target 30 seconds</a:t>
            </a:r>
          </a:p>
          <a:p xmlns:a="http://schemas.openxmlformats.org/drawingml/2006/main">
            <a:r>
              <a:t/>
            </a:r>
          </a:p>
          <a:p xmlns:a="http://schemas.openxmlformats.org/drawingml/2006/main">
            <a:r>
              <a:t>The two signals complement each other on the original attacks, and the complete pipeline makes the downstream effect measurable. The stronger conclusion is that attack coverage alone is insufficient: the same gate rejects every legitimate challenge paragraph. Mixed-window training exposes a ranking-versus-threshold trade-off. Our code, raw outputs and report preserve both the improvements and the failures. Future work should earn its added cost by preserving legitimate evidence as well as reducing attacks.</a:t>
            </a:r>
          </a:p>
          <a:p xmlns:a="http://schemas.openxmlformats.org/drawingml/2006/main">
            <a:r>
              <a:t/>
            </a:r>
          </a:p>
          <a:p xmlns:a="http://schemas.openxmlformats.org/drawingml/2006/main">
            <a:r>
              <a:t>Evidence: revised report; work/expanded/results.json; work/revision_detection/results.json; original uncached pilot timings in work/rag/results.json.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f8d0ed67ea495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fb1b8207d84e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7435fc424b64c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a356657d76d4b7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2996aba7a00457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81f9a2401145f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97752A-CB2E-4859-8B56-40DA7AF82C4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D17E5F-0D34-4F52-BFE5-C7187E8412B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39CDC10-27D9-47B4-8AA1-349064C651A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43A50E-8DE0-40B4-9E1F-AF55F4815A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56A273A-5C62-47D6-9D7A-3541F3DC5D8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C181B40-AF08-4AF3-B532-FA40A49EC43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01752D-2DA0-4F9B-B15F-8E668438B9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0272C11-BE99-4CA6-BAD3-1FDBF789249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AD6466-6148-45BF-BE5A-4D92DD713D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5710BA-F5C7-4BD0-9170-479F64A441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26757c68ada4042" /><Relationship Type="http://schemas.openxmlformats.org/officeDocument/2006/relationships/slideLayout" Target="/ppt/slideLayouts/slideLayout1.xml" Id="R46367b0d9f634ae0" /><Relationship Type="http://schemas.openxmlformats.org/officeDocument/2006/relationships/slideLayout" Target="/ppt/slideLayouts/slideLayout2.xml" Id="Rc95e096d59fe4fa5" /><Relationship Type="http://schemas.openxmlformats.org/officeDocument/2006/relationships/slideLayout" Target="/ppt/slideLayouts/slideLayout3.xml" Id="R1253a976d3c24009" /><Relationship Type="http://schemas.openxmlformats.org/officeDocument/2006/relationships/slideLayout" Target="/ppt/slideLayouts/slideLayout4.xml" Id="R0ca973d764e042ea" /><Relationship Type="http://schemas.openxmlformats.org/officeDocument/2006/relationships/slideLayout" Target="/ppt/slideLayouts/slideLayout5.xml" Id="R0ba8a62419e7451d" /><Relationship Type="http://schemas.openxmlformats.org/officeDocument/2006/relationships/slideLayout" Target="/ppt/slideLayouts/slideLayout6.xml" Id="Re1a3f33f582549a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367b0d9f634ae0"/>
    <p:sldLayoutId xmlns:r="http://schemas.openxmlformats.org/officeDocument/2006/relationships" id="2147483650" r:id="Rc95e096d59fe4fa5"/>
    <p:sldLayoutId xmlns:r="http://schemas.openxmlformats.org/officeDocument/2006/relationships" id="2147483651" r:id="R1253a976d3c24009"/>
    <p:sldLayoutId xmlns:r="http://schemas.openxmlformats.org/officeDocument/2006/relationships" id="2147483652" r:id="R0ca973d764e042ea"/>
    <p:sldLayoutId xmlns:r="http://schemas.openxmlformats.org/officeDocument/2006/relationships" id="2147483653" r:id="R0ba8a62419e7451d"/>
    <p:sldLayoutId xmlns:r="http://schemas.openxmlformats.org/officeDocument/2006/relationships" id="2147483654" r:id="Re1a3f33f582549a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ba2f879746b4ad3" /><Relationship Type="http://schemas.openxmlformats.org/officeDocument/2006/relationships/notesSlide" Target="/ppt/notesSlides/notesSlide1.xml" Id="R277349256c2148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8debac390c4261" /><Relationship Type="http://schemas.openxmlformats.org/officeDocument/2006/relationships/notesSlide" Target="/ppt/notesSlides/notesSlide2.xml" Id="R6ac72035dccc49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a7d502e3884dcd" /><Relationship Type="http://schemas.openxmlformats.org/officeDocument/2006/relationships/notesSlide" Target="/ppt/notesSlides/notesSlide3.xml" Id="R3f534a5fc5c948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8daf5bdb7504cd4" /><Relationship Type="http://schemas.openxmlformats.org/officeDocument/2006/relationships/notesSlide" Target="/ppt/notesSlides/notesSlide4.xml" Id="R4b3869d3926a44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2c35961721e4ab4" /><Relationship Type="http://schemas.openxmlformats.org/officeDocument/2006/relationships/notesSlide" Target="/ppt/notesSlides/notesSlide5.xml" Id="R1b8883069b2f468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eec9bf1a88448e9" /><Relationship Type="http://schemas.openxmlformats.org/officeDocument/2006/relationships/notesSlide" Target="/ppt/notesSlides/notesSlide6.xml" Id="R4fb71c2f325c4d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0aec18f95e34fd1" /><Relationship Type="http://schemas.openxmlformats.org/officeDocument/2006/relationships/notesSlide" Target="/ppt/notesSlides/notesSlide7.xml" Id="R6d60418e0d1643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c348886dbe842d0" /><Relationship Type="http://schemas.openxmlformats.org/officeDocument/2006/relationships/notesSlide" Target="/ppt/notesSlides/notesSlide8.xml" Id="R1162ed6ddfc145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210189301f74375" /><Relationship Type="http://schemas.openxmlformats.org/officeDocument/2006/relationships/notesSlide" Target="/ppt/notesSlides/notesSlide9.xml" Id="R4eadba021e3949f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4d275a6b9214756" /><Relationship Type="http://schemas.openxmlformats.org/officeDocument/2006/relationships/notesSlide" Target="/ppt/notesSlides/notesSlide10.xml" Id="R02cd6ea862f949a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fd596fa23434993" /><Relationship Type="http://schemas.openxmlformats.org/officeDocument/2006/relationships/notesSlide" Target="/ppt/notesSlides/notesSlide11.xml" Id="Rbe399c91590349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3f37d0d231f4bb5" /><Relationship Type="http://schemas.openxmlformats.org/officeDocument/2006/relationships/notesSlide" Target="/ppt/notesSlides/notesSlide12.xml" Id="Rb0509bfc861d4691" /></Relationships>
</file>

<file path=ppt/slides/slide1.xml><?xml version="1.0" encoding="utf-8"?>
<p:sld xmlns:p="http://schemas.openxmlformats.org/presentationml/2006/main">
  <p:cSld>
    <p:bg>
      <p:bgPr>
        <a:solidFill xmlns:a="http://schemas.openxmlformats.org/drawingml/2006/main">
          <a:srgbClr val="132D46"/>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4C7C1D6-DFE0-4DD7-AFD8-5AB6C2CEE3C3}"/>
              </a:ext>
            </a:extLst>
          </p:cNvPr>
          <p:cNvSpPr>
            <a:spLocks xmlns:a="http://schemas.openxmlformats.org/drawingml/2006/main" noGrp="1"/>
          </p:cNvSpPr>
          <p:nvPr/>
        </p:nvSpPr>
        <p:spPr>
          <a:xfrm xmlns:a="http://schemas.openxmlformats.org/drawingml/2006/main">
            <a:off x="685800" y="1095375"/>
            <a:ext cx="104775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4650" b="1">
                <a:solidFill>
                  <a:srgbClr val="FFFFFF"/>
                </a:solidFill>
                <a:latin typeface="Arial"/>
                <a:ea typeface="Arial"/>
                <a:cs typeface="Arial"/>
              </a:defRPr>
            </a:defPPr>
            <a:lvl1pPr>
              <a:defRPr sz="4650" b="1">
                <a:solidFill>
                  <a:srgbClr val="FFFFFF"/>
                </a:solidFill>
                <a:latin typeface="Arial"/>
                <a:ea typeface="Arial"/>
                <a:cs typeface="Arial"/>
              </a:defRPr>
            </a:lvl1pPr>
            <a:lvl2pPr>
              <a:defRPr sz="4650" b="1">
                <a:solidFill>
                  <a:srgbClr val="FFFFFF"/>
                </a:solidFill>
                <a:latin typeface="Arial"/>
                <a:ea typeface="Arial"/>
                <a:cs typeface="Arial"/>
              </a:defRPr>
            </a:lvl2pPr>
            <a:lvl3pPr>
              <a:defRPr sz="4650" b="1">
                <a:solidFill>
                  <a:srgbClr val="FFFFFF"/>
                </a:solidFill>
                <a:latin typeface="Arial"/>
                <a:ea typeface="Arial"/>
                <a:cs typeface="Arial"/>
              </a:defRPr>
            </a:lvl3pPr>
            <a:lvl4pPr>
              <a:defRPr sz="4650" b="1">
                <a:solidFill>
                  <a:srgbClr val="FFFFFF"/>
                </a:solidFill>
                <a:latin typeface="Arial"/>
                <a:ea typeface="Arial"/>
                <a:cs typeface="Arial"/>
              </a:defRPr>
            </a:lvl4pPr>
            <a:lvl5pPr>
              <a:defRPr sz="4650" b="1">
                <a:solidFill>
                  <a:srgbClr val="FFFFFF"/>
                </a:solidFill>
                <a:latin typeface="Arial"/>
                <a:ea typeface="Arial"/>
                <a:cs typeface="Arial"/>
              </a:defRPr>
            </a:lvl5pPr>
            <a:lvl6pPr>
              <a:defRPr sz="4650" b="1">
                <a:solidFill>
                  <a:srgbClr val="FFFFFF"/>
                </a:solidFill>
                <a:latin typeface="Arial"/>
                <a:ea typeface="Arial"/>
                <a:cs typeface="Arial"/>
              </a:defRPr>
            </a:lvl6pPr>
            <a:lvl7pPr>
              <a:defRPr sz="4650" b="1">
                <a:solidFill>
                  <a:srgbClr val="FFFFFF"/>
                </a:solidFill>
                <a:latin typeface="Arial"/>
                <a:ea typeface="Arial"/>
                <a:cs typeface="Arial"/>
              </a:defRPr>
            </a:lvl7pPr>
            <a:lvl8pPr>
              <a:defRPr sz="4650" b="1">
                <a:solidFill>
                  <a:srgbClr val="FFFFFF"/>
                </a:solidFill>
                <a:latin typeface="Arial"/>
                <a:ea typeface="Arial"/>
                <a:cs typeface="Arial"/>
              </a:defRPr>
            </a:lvl8pPr>
            <a:lvl9pPr>
              <a:defRPr sz="4650" b="1">
                <a:solidFill>
                  <a:srgbClr val="FFFFFF"/>
                </a:solidFill>
                <a:latin typeface="Arial"/>
                <a:ea typeface="Arial"/>
                <a:cs typeface="Arial"/>
              </a:defRPr>
            </a:lvl9pPr>
          </a:lstStyle>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Detecting adversarial</a:t>
            </a:r>
          </a:p>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contexts in RAG</a:t>
            </a:r>
          </a:p>
        </p:txBody>
      </p:sp>
      <p:sp>
        <p:nvSpPr>
          <p:cNvPr id="2" name="">
            <a:extLst xmlns:a="http://schemas.openxmlformats.org/drawingml/2006/main">
              <a:ext uri="{FF2B5EF4-FFF2-40B4-BE49-F238E27FC236}">
                <a16:creationId xmlns:a16="http://schemas.microsoft.com/office/drawing/2014/main" id="{879E16EC-7823-4D2E-9D7C-E1D4DF6A7A16}"/>
              </a:ext>
            </a:extLst>
          </p:cNvPr>
          <p:cNvSpPr>
            <a:spLocks xmlns:a="http://schemas.openxmlformats.org/drawingml/2006/main" noGrp="1"/>
          </p:cNvSpPr>
          <p:nvPr/>
        </p:nvSpPr>
        <p:spPr>
          <a:xfrm xmlns:a="http://schemas.openxmlformats.org/drawingml/2006/main">
            <a:off x="723900" y="3476625"/>
            <a:ext cx="10572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91D9DB"/>
                </a:solidFill>
                <a:latin typeface="Arial"/>
                <a:ea typeface="Arial"/>
                <a:cs typeface="Arial"/>
              </a:defRPr>
            </a:defPPr>
            <a:lvl1pPr>
              <a:defRPr sz="2325" b="0">
                <a:solidFill>
                  <a:srgbClr val="91D9DB"/>
                </a:solidFill>
                <a:latin typeface="Arial"/>
                <a:ea typeface="Arial"/>
                <a:cs typeface="Arial"/>
              </a:defRPr>
            </a:lvl1pPr>
            <a:lvl2pPr>
              <a:defRPr sz="2325" b="0">
                <a:solidFill>
                  <a:srgbClr val="91D9DB"/>
                </a:solidFill>
                <a:latin typeface="Arial"/>
                <a:ea typeface="Arial"/>
                <a:cs typeface="Arial"/>
              </a:defRPr>
            </a:lvl2pPr>
            <a:lvl3pPr>
              <a:defRPr sz="2325" b="0">
                <a:solidFill>
                  <a:srgbClr val="91D9DB"/>
                </a:solidFill>
                <a:latin typeface="Arial"/>
                <a:ea typeface="Arial"/>
                <a:cs typeface="Arial"/>
              </a:defRPr>
            </a:lvl3pPr>
            <a:lvl4pPr>
              <a:defRPr sz="2325" b="0">
                <a:solidFill>
                  <a:srgbClr val="91D9DB"/>
                </a:solidFill>
                <a:latin typeface="Arial"/>
                <a:ea typeface="Arial"/>
                <a:cs typeface="Arial"/>
              </a:defRPr>
            </a:lvl4pPr>
            <a:lvl5pPr>
              <a:defRPr sz="2325" b="0">
                <a:solidFill>
                  <a:srgbClr val="91D9DB"/>
                </a:solidFill>
                <a:latin typeface="Arial"/>
                <a:ea typeface="Arial"/>
                <a:cs typeface="Arial"/>
              </a:defRPr>
            </a:lvl5pPr>
            <a:lvl6pPr>
              <a:defRPr sz="2325" b="0">
                <a:solidFill>
                  <a:srgbClr val="91D9DB"/>
                </a:solidFill>
                <a:latin typeface="Arial"/>
                <a:ea typeface="Arial"/>
                <a:cs typeface="Arial"/>
              </a:defRPr>
            </a:lvl6pPr>
            <a:lvl7pPr>
              <a:defRPr sz="2325" b="0">
                <a:solidFill>
                  <a:srgbClr val="91D9DB"/>
                </a:solidFill>
                <a:latin typeface="Arial"/>
                <a:ea typeface="Arial"/>
                <a:cs typeface="Arial"/>
              </a:defRPr>
            </a:lvl7pPr>
            <a:lvl8pPr>
              <a:defRPr sz="2325" b="0">
                <a:solidFill>
                  <a:srgbClr val="91D9DB"/>
                </a:solidFill>
                <a:latin typeface="Arial"/>
                <a:ea typeface="Arial"/>
                <a:cs typeface="Arial"/>
              </a:defRPr>
            </a:lvl8pPr>
            <a:lvl9pPr>
              <a:defRPr sz="2325" b="0">
                <a:solidFill>
                  <a:srgbClr val="91D9DB"/>
                </a:solidFill>
                <a:latin typeface="Arial"/>
                <a:ea typeface="Arial"/>
                <a:cs typeface="Arial"/>
              </a:defRPr>
            </a:lvl9pPr>
          </a:lstStyle>
          <a:p xmlns:a="http://schemas.openxmlformats.org/drawingml/2006/main">
            <a:pPr>
              <a:defRPr sz="2325" b="0">
                <a:solidFill>
                  <a:srgbClr val="91D9DB"/>
                </a:solidFill>
                <a:latin typeface="Arial"/>
                <a:ea typeface="Arial"/>
                <a:cs typeface="Arial"/>
              </a:defRPr>
            </a:pPr>
            <a:r>
              <a:rPr sz="2325" b="0">
                <a:solidFill>
                  <a:srgbClr val="91D9DB"/>
                </a:solidFill>
                <a:latin typeface="Arial"/>
                <a:ea typeface="Arial"/>
                <a:cs typeface="Arial"/>
              </a:rPr>
              <a:t>Attack coverage, legitimate instructions and answer utility</a:t>
            </a:r>
          </a:p>
        </p:txBody>
      </p:sp>
      <p:sp>
        <p:nvSpPr>
          <p:cNvPr id="3" name="">
            <a:extLst xmlns:a="http://schemas.openxmlformats.org/drawingml/2006/main">
              <a:ext uri="{FF2B5EF4-FFF2-40B4-BE49-F238E27FC236}">
                <a16:creationId xmlns:a16="http://schemas.microsoft.com/office/drawing/2014/main" id="{DC8167A0-EBC4-4DC9-8AAB-1BE36A01882F}"/>
              </a:ext>
            </a:extLst>
          </p:cNvPr>
          <p:cNvSpPr>
            <a:spLocks xmlns:a="http://schemas.openxmlformats.org/drawingml/2006/main" noGrp="1"/>
          </p:cNvSpPr>
          <p:nvPr/>
        </p:nvSpPr>
        <p:spPr>
          <a:xfrm xmlns:a="http://schemas.openxmlformats.org/drawingml/2006/main">
            <a:off x="723900" y="4810125"/>
            <a:ext cx="10191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FFFFFF"/>
                </a:solidFill>
                <a:latin typeface="Arial"/>
                <a:ea typeface="Arial"/>
                <a:cs typeface="Arial"/>
              </a:defRPr>
            </a:defPPr>
            <a:lvl1pPr>
              <a:defRPr sz="1800" b="0">
                <a:solidFill>
                  <a:srgbClr val="FFFFFF"/>
                </a:solidFill>
                <a:latin typeface="Arial"/>
                <a:ea typeface="Arial"/>
                <a:cs typeface="Arial"/>
              </a:defRPr>
            </a:lvl1pPr>
            <a:lvl2pPr>
              <a:defRPr sz="1800" b="0">
                <a:solidFill>
                  <a:srgbClr val="FFFFFF"/>
                </a:solidFill>
                <a:latin typeface="Arial"/>
                <a:ea typeface="Arial"/>
                <a:cs typeface="Arial"/>
              </a:defRPr>
            </a:lvl2pPr>
            <a:lvl3pPr>
              <a:defRPr sz="1800" b="0">
                <a:solidFill>
                  <a:srgbClr val="FFFFFF"/>
                </a:solidFill>
                <a:latin typeface="Arial"/>
                <a:ea typeface="Arial"/>
                <a:cs typeface="Arial"/>
              </a:defRPr>
            </a:lvl3pPr>
            <a:lvl4pPr>
              <a:defRPr sz="1800" b="0">
                <a:solidFill>
                  <a:srgbClr val="FFFFFF"/>
                </a:solidFill>
                <a:latin typeface="Arial"/>
                <a:ea typeface="Arial"/>
                <a:cs typeface="Arial"/>
              </a:defRPr>
            </a:lvl4pPr>
            <a:lvl5pPr>
              <a:defRPr sz="1800" b="0">
                <a:solidFill>
                  <a:srgbClr val="FFFFFF"/>
                </a:solidFill>
                <a:latin typeface="Arial"/>
                <a:ea typeface="Arial"/>
                <a:cs typeface="Arial"/>
              </a:defRPr>
            </a:lvl5pPr>
            <a:lvl6pPr>
              <a:defRPr sz="1800" b="0">
                <a:solidFill>
                  <a:srgbClr val="FFFFFF"/>
                </a:solidFill>
                <a:latin typeface="Arial"/>
                <a:ea typeface="Arial"/>
                <a:cs typeface="Arial"/>
              </a:defRPr>
            </a:lvl6pPr>
            <a:lvl7pPr>
              <a:defRPr sz="1800" b="0">
                <a:solidFill>
                  <a:srgbClr val="FFFFFF"/>
                </a:solidFill>
                <a:latin typeface="Arial"/>
                <a:ea typeface="Arial"/>
                <a:cs typeface="Arial"/>
              </a:defRPr>
            </a:lvl7pPr>
            <a:lvl8pPr>
              <a:defRPr sz="1800" b="0">
                <a:solidFill>
                  <a:srgbClr val="FFFFFF"/>
                </a:solidFill>
                <a:latin typeface="Arial"/>
                <a:ea typeface="Arial"/>
                <a:cs typeface="Arial"/>
              </a:defRPr>
            </a:lvl8pPr>
            <a:lvl9pPr>
              <a:defRPr sz="1800" b="0">
                <a:solidFill>
                  <a:srgbClr val="FFFFFF"/>
                </a:solidFill>
                <a:latin typeface="Arial"/>
                <a:ea typeface="Arial"/>
                <a:cs typeface="Arial"/>
              </a:defRPr>
            </a:lvl9pPr>
          </a:lstStyle>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Weiyi Xia and Xinye He</a:t>
            </a:r>
          </a:p>
          <a:p xmlns:a="http://schemas.openxmlformats.org/drawingml/2006/main">
            <a:pPr>
              <a:defRPr sz="1800" b="0">
                <a:solidFill>
                  <a:srgbClr val="FFFFFF"/>
                </a:solidFill>
                <a:latin typeface="Arial"/>
                <a:ea typeface="Arial"/>
                <a:cs typeface="Arial"/>
              </a:defRPr>
            </a:pPr>
            <a:r>
              <a:rPr sz="1800" b="0">
                <a:solidFill>
                  <a:srgbClr val="FFFFFF"/>
                </a:solidFill>
                <a:latin typeface="Arial"/>
                <a:ea typeface="Arial"/>
                <a:cs typeface="Arial"/>
              </a:rPr>
              <a:t>COMPSCI 764 · University of Auckland</a:t>
            </a:r>
          </a:p>
        </p:txBody>
      </p:sp>
    </p:spTree>
    <p:extLst>
      <p:ext uri="{BB962C8B-B14F-4D97-AF65-F5344CB8AC3E}">
        <p14:creationId xmlns:p14="http://schemas.microsoft.com/office/powerpoint/2010/main" val="177249300"/>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29113C-7697-454D-A799-E9F79A3A62B4}"/>
              </a:ext>
            </a:extLst>
          </p:cNvPr>
          <p:cNvSpPr>
            <a:spLocks xmlns:a="http://schemas.openxmlformats.org/drawingml/2006/main" noGrp="1"/>
          </p:cNvSpPr>
          <p:nvPr/>
        </p:nvSpPr>
        <p:spPr>
          <a:xfrm xmlns:a="http://schemas.openxmlformats.org/drawingml/2006/main">
            <a:off x="685800" y="476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132D46"/>
                </a:solidFill>
                <a:latin typeface="Arial"/>
                <a:ea typeface="Arial"/>
                <a:cs typeface="Arial"/>
              </a:defRPr>
            </a:defPPr>
            <a:lvl1pPr>
              <a:defRPr sz="3000" b="1">
                <a:solidFill>
                  <a:srgbClr val="132D46"/>
                </a:solidFill>
                <a:latin typeface="Arial"/>
                <a:ea typeface="Arial"/>
                <a:cs typeface="Arial"/>
              </a:defRPr>
            </a:lvl1pPr>
            <a:lvl2pPr>
              <a:defRPr sz="3000" b="1">
                <a:solidFill>
                  <a:srgbClr val="132D46"/>
                </a:solidFill>
                <a:latin typeface="Arial"/>
                <a:ea typeface="Arial"/>
                <a:cs typeface="Arial"/>
              </a:defRPr>
            </a:lvl2pPr>
            <a:lvl3pPr>
              <a:defRPr sz="3000" b="1">
                <a:solidFill>
                  <a:srgbClr val="132D46"/>
                </a:solidFill>
                <a:latin typeface="Arial"/>
                <a:ea typeface="Arial"/>
                <a:cs typeface="Arial"/>
              </a:defRPr>
            </a:lvl3pPr>
            <a:lvl4pPr>
              <a:defRPr sz="3000" b="1">
                <a:solidFill>
                  <a:srgbClr val="132D46"/>
                </a:solidFill>
                <a:latin typeface="Arial"/>
                <a:ea typeface="Arial"/>
                <a:cs typeface="Arial"/>
              </a:defRPr>
            </a:lvl4pPr>
            <a:lvl5pPr>
              <a:defRPr sz="3000" b="1">
                <a:solidFill>
                  <a:srgbClr val="132D46"/>
                </a:solidFill>
                <a:latin typeface="Arial"/>
                <a:ea typeface="Arial"/>
                <a:cs typeface="Arial"/>
              </a:defRPr>
            </a:lvl5pPr>
            <a:lvl6pPr>
              <a:defRPr sz="3000" b="1">
                <a:solidFill>
                  <a:srgbClr val="132D46"/>
                </a:solidFill>
                <a:latin typeface="Arial"/>
                <a:ea typeface="Arial"/>
                <a:cs typeface="Arial"/>
              </a:defRPr>
            </a:lvl6pPr>
            <a:lvl7pPr>
              <a:defRPr sz="3000" b="1">
                <a:solidFill>
                  <a:srgbClr val="132D46"/>
                </a:solidFill>
                <a:latin typeface="Arial"/>
                <a:ea typeface="Arial"/>
                <a:cs typeface="Arial"/>
              </a:defRPr>
            </a:lvl7pPr>
            <a:lvl8pPr>
              <a:defRPr sz="3000" b="1">
                <a:solidFill>
                  <a:srgbClr val="132D46"/>
                </a:solidFill>
                <a:latin typeface="Arial"/>
                <a:ea typeface="Arial"/>
                <a:cs typeface="Arial"/>
              </a:defRPr>
            </a:lvl8pPr>
            <a:lvl9pPr>
              <a:defRPr sz="3000" b="1">
                <a:solidFill>
                  <a:srgbClr val="132D46"/>
                </a:solidFill>
                <a:latin typeface="Arial"/>
                <a:ea typeface="Arial"/>
                <a:cs typeface="Arial"/>
              </a:defRPr>
            </a:lvl9pPr>
          </a:lstStyle>
          <a:p xmlns:a="http://schemas.openxmlformats.org/drawingml/2006/main">
            <a:pPr>
              <a:defRPr sz="3000" b="1">
                <a:solidFill>
                  <a:srgbClr val="132D46"/>
                </a:solidFill>
                <a:latin typeface="Arial"/>
                <a:ea typeface="Arial"/>
                <a:cs typeface="Arial"/>
              </a:defRPr>
            </a:pPr>
            <a:r>
              <a:rPr sz="3000" b="1">
                <a:solidFill>
                  <a:srgbClr val="132D46"/>
                </a:solidFill>
                <a:latin typeface="Arial"/>
                <a:ea typeface="Arial"/>
                <a:cs typeface="Arial"/>
              </a:rPr>
              <a:t>Three questions define the evaluation</a:t>
            </a:r>
          </a:p>
        </p:txBody>
      </p:sp>
      <p:sp>
        <p:nvSpPr>
          <p:cNvPr id="2" name="">
            <a:extLst xmlns:a="http://schemas.openxmlformats.org/drawingml/2006/main">
              <a:ext uri="{FF2B5EF4-FFF2-40B4-BE49-F238E27FC236}">
                <a16:creationId xmlns:a16="http://schemas.microsoft.com/office/drawing/2014/main" id="{A9D4C704-6808-42D6-8129-8615D23C6136}"/>
              </a:ext>
            </a:extLst>
          </p:cNvPr>
          <p:cNvSpPr>
            <a:spLocks xmlns:a="http://schemas.openxmlformats.org/drawingml/2006/main" noGrp="1"/>
          </p:cNvSpPr>
          <p:nvPr/>
        </p:nvSpPr>
        <p:spPr>
          <a:xfrm xmlns:a="http://schemas.openxmlformats.org/drawingml/2006/main">
            <a:off x="685800" y="1485900"/>
            <a:ext cx="800100" cy="476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4241BBA-8E9D-4860-929B-3A55EB18B89E}"/>
              </a:ext>
            </a:extLst>
          </p:cNvPr>
          <p:cNvSpPr>
            <a:spLocks xmlns:a="http://schemas.openxmlformats.org/drawingml/2006/main" noGrp="1"/>
          </p:cNvSpPr>
          <p:nvPr/>
        </p:nvSpPr>
        <p:spPr>
          <a:xfrm xmlns:a="http://schemas.openxmlformats.org/drawingml/2006/main">
            <a:off x="11191875" y="6334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4"/>
                </a:solidFill>
                <a:latin typeface="Arial"/>
                <a:ea typeface="Arial"/>
                <a:cs typeface="Arial"/>
              </a:defRPr>
            </a:defPPr>
            <a:lvl1pPr>
              <a:defRPr sz="1200" b="0">
                <a:solidFill>
                  <a:srgbClr val="526574"/>
                </a:solidFill>
                <a:latin typeface="Arial"/>
                <a:ea typeface="Arial"/>
                <a:cs typeface="Arial"/>
              </a:defRPr>
            </a:lvl1pPr>
            <a:lvl2pPr>
              <a:defRPr sz="1200" b="0">
                <a:solidFill>
                  <a:srgbClr val="526574"/>
                </a:solidFill>
                <a:latin typeface="Arial"/>
                <a:ea typeface="Arial"/>
                <a:cs typeface="Arial"/>
              </a:defRPr>
            </a:lvl2pPr>
            <a:lvl3pPr>
              <a:defRPr sz="1200" b="0">
                <a:solidFill>
                  <a:srgbClr val="526574"/>
                </a:solidFill>
                <a:latin typeface="Arial"/>
                <a:ea typeface="Arial"/>
                <a:cs typeface="Arial"/>
              </a:defRPr>
            </a:lvl3pPr>
            <a:lvl4pPr>
              <a:defRPr sz="1200" b="0">
                <a:solidFill>
                  <a:srgbClr val="526574"/>
                </a:solidFill>
                <a:latin typeface="Arial"/>
                <a:ea typeface="Arial"/>
                <a:cs typeface="Arial"/>
              </a:defRPr>
            </a:lvl4pPr>
            <a:lvl5pPr>
              <a:defRPr sz="1200" b="0">
                <a:solidFill>
                  <a:srgbClr val="526574"/>
                </a:solidFill>
                <a:latin typeface="Arial"/>
                <a:ea typeface="Arial"/>
                <a:cs typeface="Arial"/>
              </a:defRPr>
            </a:lvl5pPr>
            <a:lvl6pPr>
              <a:defRPr sz="1200" b="0">
                <a:solidFill>
                  <a:srgbClr val="526574"/>
                </a:solidFill>
                <a:latin typeface="Arial"/>
                <a:ea typeface="Arial"/>
                <a:cs typeface="Arial"/>
              </a:defRPr>
            </a:lvl6pPr>
            <a:lvl7pPr>
              <a:defRPr sz="1200" b="0">
                <a:solidFill>
                  <a:srgbClr val="526574"/>
                </a:solidFill>
                <a:latin typeface="Arial"/>
                <a:ea typeface="Arial"/>
                <a:cs typeface="Arial"/>
              </a:defRPr>
            </a:lvl7pPr>
            <a:lvl8pPr>
              <a:defRPr sz="1200" b="0">
                <a:solidFill>
                  <a:srgbClr val="526574"/>
                </a:solidFill>
                <a:latin typeface="Arial"/>
                <a:ea typeface="Arial"/>
                <a:cs typeface="Arial"/>
              </a:defRPr>
            </a:lvl8pPr>
            <a:lvl9pPr>
              <a:defRPr sz="1200" b="0">
                <a:solidFill>
                  <a:srgbClr val="526574"/>
                </a:solidFill>
                <a:latin typeface="Arial"/>
                <a:ea typeface="Arial"/>
                <a:cs typeface="Arial"/>
              </a:defRPr>
            </a:lvl9pPr>
          </a:lstStyle>
          <a:p xmlns:a="http://schemas.openxmlformats.org/drawingml/2006/main">
            <a:pPr>
              <a:defRPr sz="1200" b="0">
                <a:solidFill>
                  <a:srgbClr val="526574"/>
                </a:solidFill>
                <a:latin typeface="Arial"/>
                <a:ea typeface="Arial"/>
                <a:cs typeface="Arial"/>
              </a:defRPr>
            </a:pPr>
            <a:r>
              <a:rPr sz="1200" b="0">
                <a:solidFill>
                  <a:srgbClr val="526574"/>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D7E28B64-A176-4020-B3C4-23EF00F68B11}"/>
              </a:ext>
            </a:extLst>
          </p:cNvPr>
          <p:cNvSpPr>
            <a:spLocks xmlns:a="http://schemas.openxmlformats.org/drawingml/2006/main" noGrp="1"/>
          </p:cNvSpPr>
          <p:nvPr/>
        </p:nvSpPr>
        <p:spPr>
          <a:xfrm xmlns:a="http://schemas.openxmlformats.org/drawingml/2006/main">
            <a:off x="685800" y="2143125"/>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122638"/>
                </a:solidFill>
                <a:latin typeface="Arial"/>
                <a:ea typeface="Arial"/>
                <a:cs typeface="Arial"/>
              </a:defRPr>
            </a:defPPr>
            <a:lvl1pPr>
              <a:defRPr sz="2325" b="0">
                <a:solidFill>
                  <a:srgbClr val="122638"/>
                </a:solidFill>
                <a:latin typeface="Arial"/>
                <a:ea typeface="Arial"/>
                <a:cs typeface="Arial"/>
              </a:defRPr>
            </a:lvl1pPr>
            <a:lvl2pPr>
              <a:defRPr sz="2325" b="0">
                <a:solidFill>
                  <a:srgbClr val="122638"/>
                </a:solidFill>
                <a:latin typeface="Arial"/>
                <a:ea typeface="Arial"/>
                <a:cs typeface="Arial"/>
              </a:defRPr>
            </a:lvl2pPr>
            <a:lvl3pPr>
              <a:defRPr sz="2325" b="0">
                <a:solidFill>
                  <a:srgbClr val="122638"/>
                </a:solidFill>
                <a:latin typeface="Arial"/>
                <a:ea typeface="Arial"/>
                <a:cs typeface="Arial"/>
              </a:defRPr>
            </a:lvl3pPr>
            <a:lvl4pPr>
              <a:defRPr sz="2325" b="0">
                <a:solidFill>
                  <a:srgbClr val="122638"/>
                </a:solidFill>
                <a:latin typeface="Arial"/>
                <a:ea typeface="Arial"/>
                <a:cs typeface="Arial"/>
              </a:defRPr>
            </a:lvl4pPr>
            <a:lvl5pPr>
              <a:defRPr sz="2325" b="0">
                <a:solidFill>
                  <a:srgbClr val="122638"/>
                </a:solidFill>
                <a:latin typeface="Arial"/>
                <a:ea typeface="Arial"/>
                <a:cs typeface="Arial"/>
              </a:defRPr>
            </a:lvl5pPr>
            <a:lvl6pPr>
              <a:defRPr sz="2325" b="0">
                <a:solidFill>
                  <a:srgbClr val="122638"/>
                </a:solidFill>
                <a:latin typeface="Arial"/>
                <a:ea typeface="Arial"/>
                <a:cs typeface="Arial"/>
              </a:defRPr>
            </a:lvl6pPr>
            <a:lvl7pPr>
              <a:defRPr sz="2325" b="0">
                <a:solidFill>
                  <a:srgbClr val="122638"/>
                </a:solidFill>
                <a:latin typeface="Arial"/>
                <a:ea typeface="Arial"/>
                <a:cs typeface="Arial"/>
              </a:defRPr>
            </a:lvl7pPr>
            <a:lvl8pPr>
              <a:defRPr sz="2325" b="0">
                <a:solidFill>
                  <a:srgbClr val="122638"/>
                </a:solidFill>
                <a:latin typeface="Arial"/>
                <a:ea typeface="Arial"/>
                <a:cs typeface="Arial"/>
              </a:defRPr>
            </a:lvl8pPr>
            <a:lvl9pPr>
              <a:defRPr sz="2325" b="0">
                <a:solidFill>
                  <a:srgbClr val="122638"/>
                </a:solidFill>
                <a:latin typeface="Arial"/>
                <a:ea typeface="Arial"/>
                <a:cs typeface="Arial"/>
              </a:defRPr>
            </a:lvl9pPr>
          </a:lstStyle>
          <a:p xmlns:a="http://schemas.openxmlformats.org/drawingml/2006/main">
            <a:pPr>
              <a:defRPr sz="2325" b="0">
                <a:solidFill>
                  <a:srgbClr val="122638"/>
                </a:solidFill>
                <a:latin typeface="Arial"/>
                <a:ea typeface="Arial"/>
                <a:cs typeface="Arial"/>
              </a:defRPr>
            </a:pPr>
            <a:r>
              <a:rPr sz="2325" b="0">
                <a:solidFill>
                  <a:srgbClr val="122638"/>
                </a:solidFill>
                <a:latin typeface="Arial"/>
                <a:ea typeface="Arial"/>
                <a:cs typeface="Arial"/>
              </a:rPr>
              <a:t>RQ1   Detect attacks and preserve legitimate instructions?</a:t>
            </a:r>
          </a:p>
        </p:txBody>
      </p:sp>
      <p:sp>
        <p:nvSpPr>
          <p:cNvPr id="5" name="">
            <a:extLst xmlns:a="http://schemas.openxmlformats.org/drawingml/2006/main">
              <a:ext uri="{FF2B5EF4-FFF2-40B4-BE49-F238E27FC236}">
                <a16:creationId xmlns:a16="http://schemas.microsoft.com/office/drawing/2014/main" id="{2467AFFE-8BA0-4CFE-A9D7-63C1186A063E}"/>
              </a:ext>
            </a:extLst>
          </p:cNvPr>
          <p:cNvSpPr>
            <a:spLocks xmlns:a="http://schemas.openxmlformats.org/drawingml/2006/main" noGrp="1"/>
          </p:cNvSpPr>
          <p:nvPr/>
        </p:nvSpPr>
        <p:spPr>
          <a:xfrm xmlns:a="http://schemas.openxmlformats.org/drawingml/2006/main">
            <a:off x="685800" y="3190875"/>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122638"/>
                </a:solidFill>
                <a:latin typeface="Arial"/>
                <a:ea typeface="Arial"/>
                <a:cs typeface="Arial"/>
              </a:defRPr>
            </a:defPPr>
            <a:lvl1pPr>
              <a:defRPr sz="2325" b="0">
                <a:solidFill>
                  <a:srgbClr val="122638"/>
                </a:solidFill>
                <a:latin typeface="Arial"/>
                <a:ea typeface="Arial"/>
                <a:cs typeface="Arial"/>
              </a:defRPr>
            </a:lvl1pPr>
            <a:lvl2pPr>
              <a:defRPr sz="2325" b="0">
                <a:solidFill>
                  <a:srgbClr val="122638"/>
                </a:solidFill>
                <a:latin typeface="Arial"/>
                <a:ea typeface="Arial"/>
                <a:cs typeface="Arial"/>
              </a:defRPr>
            </a:lvl2pPr>
            <a:lvl3pPr>
              <a:defRPr sz="2325" b="0">
                <a:solidFill>
                  <a:srgbClr val="122638"/>
                </a:solidFill>
                <a:latin typeface="Arial"/>
                <a:ea typeface="Arial"/>
                <a:cs typeface="Arial"/>
              </a:defRPr>
            </a:lvl3pPr>
            <a:lvl4pPr>
              <a:defRPr sz="2325" b="0">
                <a:solidFill>
                  <a:srgbClr val="122638"/>
                </a:solidFill>
                <a:latin typeface="Arial"/>
                <a:ea typeface="Arial"/>
                <a:cs typeface="Arial"/>
              </a:defRPr>
            </a:lvl4pPr>
            <a:lvl5pPr>
              <a:defRPr sz="2325" b="0">
                <a:solidFill>
                  <a:srgbClr val="122638"/>
                </a:solidFill>
                <a:latin typeface="Arial"/>
                <a:ea typeface="Arial"/>
                <a:cs typeface="Arial"/>
              </a:defRPr>
            </a:lvl5pPr>
            <a:lvl6pPr>
              <a:defRPr sz="2325" b="0">
                <a:solidFill>
                  <a:srgbClr val="122638"/>
                </a:solidFill>
                <a:latin typeface="Arial"/>
                <a:ea typeface="Arial"/>
                <a:cs typeface="Arial"/>
              </a:defRPr>
            </a:lvl6pPr>
            <a:lvl7pPr>
              <a:defRPr sz="2325" b="0">
                <a:solidFill>
                  <a:srgbClr val="122638"/>
                </a:solidFill>
                <a:latin typeface="Arial"/>
                <a:ea typeface="Arial"/>
                <a:cs typeface="Arial"/>
              </a:defRPr>
            </a:lvl7pPr>
            <a:lvl8pPr>
              <a:defRPr sz="2325" b="0">
                <a:solidFill>
                  <a:srgbClr val="122638"/>
                </a:solidFill>
                <a:latin typeface="Arial"/>
                <a:ea typeface="Arial"/>
                <a:cs typeface="Arial"/>
              </a:defRPr>
            </a:lvl8pPr>
            <a:lvl9pPr>
              <a:defRPr sz="2325" b="0">
                <a:solidFill>
                  <a:srgbClr val="122638"/>
                </a:solidFill>
                <a:latin typeface="Arial"/>
                <a:ea typeface="Arial"/>
                <a:cs typeface="Arial"/>
              </a:defRPr>
            </a:lvl9pPr>
          </a:lstStyle>
          <a:p xmlns:a="http://schemas.openxmlformats.org/drawingml/2006/main">
            <a:pPr>
              <a:defRPr sz="2325" b="0">
                <a:solidFill>
                  <a:srgbClr val="122638"/>
                </a:solidFill>
                <a:latin typeface="Arial"/>
                <a:ea typeface="Arial"/>
                <a:cs typeface="Arial"/>
              </a:defRPr>
            </a:pPr>
            <a:r>
              <a:rPr sz="2325" b="0">
                <a:solidFill>
                  <a:srgbClr val="122638"/>
                </a:solidFill>
                <a:latin typeface="Arial"/>
                <a:ea typeface="Arial"/>
                <a:cs typeface="Arial"/>
              </a:rPr>
              <a:t>RQ2   Do two signals add value over components and a public detector?</a:t>
            </a:r>
          </a:p>
        </p:txBody>
      </p:sp>
      <p:sp>
        <p:nvSpPr>
          <p:cNvPr id="6" name="">
            <a:extLst xmlns:a="http://schemas.openxmlformats.org/drawingml/2006/main">
              <a:ext uri="{FF2B5EF4-FFF2-40B4-BE49-F238E27FC236}">
                <a16:creationId xmlns:a16="http://schemas.microsoft.com/office/drawing/2014/main" id="{F8C19710-81C7-462F-8577-8340D2F4AF82}"/>
              </a:ext>
            </a:extLst>
          </p:cNvPr>
          <p:cNvSpPr>
            <a:spLocks xmlns:a="http://schemas.openxmlformats.org/drawingml/2006/main" noGrp="1"/>
          </p:cNvSpPr>
          <p:nvPr/>
        </p:nvSpPr>
        <p:spPr>
          <a:xfrm xmlns:a="http://schemas.openxmlformats.org/drawingml/2006/main">
            <a:off x="685800" y="4429125"/>
            <a:ext cx="106680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122638"/>
                </a:solidFill>
                <a:latin typeface="Arial"/>
                <a:ea typeface="Arial"/>
                <a:cs typeface="Arial"/>
              </a:defRPr>
            </a:defPPr>
            <a:lvl1pPr>
              <a:defRPr sz="2325" b="0">
                <a:solidFill>
                  <a:srgbClr val="122638"/>
                </a:solidFill>
                <a:latin typeface="Arial"/>
                <a:ea typeface="Arial"/>
                <a:cs typeface="Arial"/>
              </a:defRPr>
            </a:lvl1pPr>
            <a:lvl2pPr>
              <a:defRPr sz="2325" b="0">
                <a:solidFill>
                  <a:srgbClr val="122638"/>
                </a:solidFill>
                <a:latin typeface="Arial"/>
                <a:ea typeface="Arial"/>
                <a:cs typeface="Arial"/>
              </a:defRPr>
            </a:lvl2pPr>
            <a:lvl3pPr>
              <a:defRPr sz="2325" b="0">
                <a:solidFill>
                  <a:srgbClr val="122638"/>
                </a:solidFill>
                <a:latin typeface="Arial"/>
                <a:ea typeface="Arial"/>
                <a:cs typeface="Arial"/>
              </a:defRPr>
            </a:lvl3pPr>
            <a:lvl4pPr>
              <a:defRPr sz="2325" b="0">
                <a:solidFill>
                  <a:srgbClr val="122638"/>
                </a:solidFill>
                <a:latin typeface="Arial"/>
                <a:ea typeface="Arial"/>
                <a:cs typeface="Arial"/>
              </a:defRPr>
            </a:lvl4pPr>
            <a:lvl5pPr>
              <a:defRPr sz="2325" b="0">
                <a:solidFill>
                  <a:srgbClr val="122638"/>
                </a:solidFill>
                <a:latin typeface="Arial"/>
                <a:ea typeface="Arial"/>
                <a:cs typeface="Arial"/>
              </a:defRPr>
            </a:lvl5pPr>
            <a:lvl6pPr>
              <a:defRPr sz="2325" b="0">
                <a:solidFill>
                  <a:srgbClr val="122638"/>
                </a:solidFill>
                <a:latin typeface="Arial"/>
                <a:ea typeface="Arial"/>
                <a:cs typeface="Arial"/>
              </a:defRPr>
            </a:lvl6pPr>
            <a:lvl7pPr>
              <a:defRPr sz="2325" b="0">
                <a:solidFill>
                  <a:srgbClr val="122638"/>
                </a:solidFill>
                <a:latin typeface="Arial"/>
                <a:ea typeface="Arial"/>
                <a:cs typeface="Arial"/>
              </a:defRPr>
            </a:lvl7pPr>
            <a:lvl8pPr>
              <a:defRPr sz="2325" b="0">
                <a:solidFill>
                  <a:srgbClr val="122638"/>
                </a:solidFill>
                <a:latin typeface="Arial"/>
                <a:ea typeface="Arial"/>
                <a:cs typeface="Arial"/>
              </a:defRPr>
            </a:lvl8pPr>
            <a:lvl9pPr>
              <a:defRPr sz="2325" b="0">
                <a:solidFill>
                  <a:srgbClr val="122638"/>
                </a:solidFill>
                <a:latin typeface="Arial"/>
                <a:ea typeface="Arial"/>
                <a:cs typeface="Arial"/>
              </a:defRPr>
            </a:lvl9pPr>
          </a:lstStyle>
          <a:p xmlns:a="http://schemas.openxmlformats.org/drawingml/2006/main">
            <a:pPr>
              <a:defRPr sz="2325" b="0">
                <a:solidFill>
                  <a:srgbClr val="122638"/>
                </a:solidFill>
                <a:latin typeface="Arial"/>
                <a:ea typeface="Arial"/>
                <a:cs typeface="Arial"/>
              </a:defRPr>
            </a:pPr>
            <a:r>
              <a:rPr sz="2325" b="0">
                <a:solidFill>
                  <a:srgbClr val="122638"/>
                </a:solidFill>
                <a:latin typeface="Arial"/>
                <a:ea typeface="Arial"/>
                <a:cs typeface="Arial"/>
              </a:rPr>
              <a:t>RQ3   Do gate decisions improve answers at a reasonable cost?</a:t>
            </a:r>
          </a:p>
        </p:txBody>
      </p:sp>
      <p:sp>
        <p:nvSpPr>
          <p:cNvPr id="7" name="">
            <a:extLst xmlns:a="http://schemas.openxmlformats.org/drawingml/2006/main">
              <a:ext uri="{FF2B5EF4-FFF2-40B4-BE49-F238E27FC236}">
                <a16:creationId xmlns:a16="http://schemas.microsoft.com/office/drawing/2014/main" id="{31BAB179-ABBA-4AC3-B940-4CD3C3B7DC4B}"/>
              </a:ext>
            </a:extLst>
          </p:cNvPr>
          <p:cNvSpPr>
            <a:spLocks xmlns:a="http://schemas.openxmlformats.org/drawingml/2006/main" noGrp="1"/>
          </p:cNvSpPr>
          <p:nvPr/>
        </p:nvSpPr>
        <p:spPr>
          <a:xfrm xmlns:a="http://schemas.openxmlformats.org/drawingml/2006/main">
            <a:off x="685800" y="5619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087F8C"/>
                </a:solidFill>
                <a:latin typeface="Arial"/>
                <a:ea typeface="Arial"/>
                <a:cs typeface="Arial"/>
              </a:defRPr>
            </a:defPPr>
            <a:lvl1pPr>
              <a:defRPr sz="1875" b="1">
                <a:solidFill>
                  <a:srgbClr val="087F8C"/>
                </a:solidFill>
                <a:latin typeface="Arial"/>
                <a:ea typeface="Arial"/>
                <a:cs typeface="Arial"/>
              </a:defRPr>
            </a:lvl1pPr>
            <a:lvl2pPr>
              <a:defRPr sz="1875" b="1">
                <a:solidFill>
                  <a:srgbClr val="087F8C"/>
                </a:solidFill>
                <a:latin typeface="Arial"/>
                <a:ea typeface="Arial"/>
                <a:cs typeface="Arial"/>
              </a:defRPr>
            </a:lvl2pPr>
            <a:lvl3pPr>
              <a:defRPr sz="1875" b="1">
                <a:solidFill>
                  <a:srgbClr val="087F8C"/>
                </a:solidFill>
                <a:latin typeface="Arial"/>
                <a:ea typeface="Arial"/>
                <a:cs typeface="Arial"/>
              </a:defRPr>
            </a:lvl3pPr>
            <a:lvl4pPr>
              <a:defRPr sz="1875" b="1">
                <a:solidFill>
                  <a:srgbClr val="087F8C"/>
                </a:solidFill>
                <a:latin typeface="Arial"/>
                <a:ea typeface="Arial"/>
                <a:cs typeface="Arial"/>
              </a:defRPr>
            </a:lvl4pPr>
            <a:lvl5pPr>
              <a:defRPr sz="1875" b="1">
                <a:solidFill>
                  <a:srgbClr val="087F8C"/>
                </a:solidFill>
                <a:latin typeface="Arial"/>
                <a:ea typeface="Arial"/>
                <a:cs typeface="Arial"/>
              </a:defRPr>
            </a:lvl5pPr>
            <a:lvl6pPr>
              <a:defRPr sz="1875" b="1">
                <a:solidFill>
                  <a:srgbClr val="087F8C"/>
                </a:solidFill>
                <a:latin typeface="Arial"/>
                <a:ea typeface="Arial"/>
                <a:cs typeface="Arial"/>
              </a:defRPr>
            </a:lvl6pPr>
            <a:lvl7pPr>
              <a:defRPr sz="1875" b="1">
                <a:solidFill>
                  <a:srgbClr val="087F8C"/>
                </a:solidFill>
                <a:latin typeface="Arial"/>
                <a:ea typeface="Arial"/>
                <a:cs typeface="Arial"/>
              </a:defRPr>
            </a:lvl7pPr>
            <a:lvl8pPr>
              <a:defRPr sz="1875" b="1">
                <a:solidFill>
                  <a:srgbClr val="087F8C"/>
                </a:solidFill>
                <a:latin typeface="Arial"/>
                <a:ea typeface="Arial"/>
                <a:cs typeface="Arial"/>
              </a:defRPr>
            </a:lvl8pPr>
            <a:lvl9pPr>
              <a:defRPr sz="1875" b="1">
                <a:solidFill>
                  <a:srgbClr val="087F8C"/>
                </a:solidFill>
                <a:latin typeface="Arial"/>
                <a:ea typeface="Arial"/>
                <a:cs typeface="Arial"/>
              </a:defRPr>
            </a:lvl9pPr>
          </a:lstStyle>
          <a:p xmlns:a="http://schemas.openxmlformats.org/drawingml/2006/main">
            <a:pPr>
              <a:defRPr sz="1875" b="1">
                <a:solidFill>
                  <a:srgbClr val="087F8C"/>
                </a:solidFill>
                <a:latin typeface="Arial"/>
                <a:ea typeface="Arial"/>
                <a:cs typeface="Arial"/>
              </a:defRPr>
            </a:pPr>
            <a:r>
              <a:rPr sz="1875" b="1">
                <a:solidFill>
                  <a:srgbClr val="087F8C"/>
                </a:solidFill>
                <a:latin typeface="Arial"/>
                <a:ea typeface="Arial"/>
                <a:cs typeface="Arial"/>
              </a:rPr>
              <a:t>H1: complementary attack coverage; utility must be measured separately</a:t>
            </a:r>
          </a:p>
        </p:txBody>
      </p:sp>
    </p:spTree>
    <p:extLst>
      <p:ext uri="{BB962C8B-B14F-4D97-AF65-F5344CB8AC3E}">
        <p14:creationId xmlns:p14="http://schemas.microsoft.com/office/powerpoint/2010/main" val="631240658"/>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F50553-177E-4890-B80C-A449302BA532}"/>
              </a:ext>
            </a:extLst>
          </p:cNvPr>
          <p:cNvSpPr>
            <a:spLocks xmlns:a="http://schemas.openxmlformats.org/drawingml/2006/main" noGrp="1"/>
          </p:cNvSpPr>
          <p:nvPr/>
        </p:nvSpPr>
        <p:spPr>
          <a:xfrm xmlns:a="http://schemas.openxmlformats.org/drawingml/2006/main">
            <a:off x="685800" y="476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132D46"/>
                </a:solidFill>
                <a:latin typeface="Arial"/>
                <a:ea typeface="Arial"/>
                <a:cs typeface="Arial"/>
              </a:defRPr>
            </a:defPPr>
            <a:lvl1pPr>
              <a:defRPr sz="3000" b="1">
                <a:solidFill>
                  <a:srgbClr val="132D46"/>
                </a:solidFill>
                <a:latin typeface="Arial"/>
                <a:ea typeface="Arial"/>
                <a:cs typeface="Arial"/>
              </a:defRPr>
            </a:lvl1pPr>
            <a:lvl2pPr>
              <a:defRPr sz="3000" b="1">
                <a:solidFill>
                  <a:srgbClr val="132D46"/>
                </a:solidFill>
                <a:latin typeface="Arial"/>
                <a:ea typeface="Arial"/>
                <a:cs typeface="Arial"/>
              </a:defRPr>
            </a:lvl2pPr>
            <a:lvl3pPr>
              <a:defRPr sz="3000" b="1">
                <a:solidFill>
                  <a:srgbClr val="132D46"/>
                </a:solidFill>
                <a:latin typeface="Arial"/>
                <a:ea typeface="Arial"/>
                <a:cs typeface="Arial"/>
              </a:defRPr>
            </a:lvl3pPr>
            <a:lvl4pPr>
              <a:defRPr sz="3000" b="1">
                <a:solidFill>
                  <a:srgbClr val="132D46"/>
                </a:solidFill>
                <a:latin typeface="Arial"/>
                <a:ea typeface="Arial"/>
                <a:cs typeface="Arial"/>
              </a:defRPr>
            </a:lvl4pPr>
            <a:lvl5pPr>
              <a:defRPr sz="3000" b="1">
                <a:solidFill>
                  <a:srgbClr val="132D46"/>
                </a:solidFill>
                <a:latin typeface="Arial"/>
                <a:ea typeface="Arial"/>
                <a:cs typeface="Arial"/>
              </a:defRPr>
            </a:lvl5pPr>
            <a:lvl6pPr>
              <a:defRPr sz="3000" b="1">
                <a:solidFill>
                  <a:srgbClr val="132D46"/>
                </a:solidFill>
                <a:latin typeface="Arial"/>
                <a:ea typeface="Arial"/>
                <a:cs typeface="Arial"/>
              </a:defRPr>
            </a:lvl6pPr>
            <a:lvl7pPr>
              <a:defRPr sz="3000" b="1">
                <a:solidFill>
                  <a:srgbClr val="132D46"/>
                </a:solidFill>
                <a:latin typeface="Arial"/>
                <a:ea typeface="Arial"/>
                <a:cs typeface="Arial"/>
              </a:defRPr>
            </a:lvl7pPr>
            <a:lvl8pPr>
              <a:defRPr sz="3000" b="1">
                <a:solidFill>
                  <a:srgbClr val="132D46"/>
                </a:solidFill>
                <a:latin typeface="Arial"/>
                <a:ea typeface="Arial"/>
                <a:cs typeface="Arial"/>
              </a:defRPr>
            </a:lvl8pPr>
            <a:lvl9pPr>
              <a:defRPr sz="3000" b="1">
                <a:solidFill>
                  <a:srgbClr val="132D46"/>
                </a:solidFill>
                <a:latin typeface="Arial"/>
                <a:ea typeface="Arial"/>
                <a:cs typeface="Arial"/>
              </a:defRPr>
            </a:lvl9pPr>
          </a:lstStyle>
          <a:p xmlns:a="http://schemas.openxmlformats.org/drawingml/2006/main">
            <a:pPr>
              <a:defRPr sz="3000" b="1">
                <a:solidFill>
                  <a:srgbClr val="132D46"/>
                </a:solidFill>
                <a:latin typeface="Arial"/>
                <a:ea typeface="Arial"/>
                <a:cs typeface="Arial"/>
              </a:defRPr>
            </a:pPr>
            <a:r>
              <a:rPr sz="3000" b="1">
                <a:solidFill>
                  <a:srgbClr val="132D46"/>
                </a:solidFill>
                <a:latin typeface="Arial"/>
                <a:ea typeface="Arial"/>
                <a:cs typeface="Arial"/>
              </a:rPr>
              <a:t>The gap is the joint security and utility trade-off</a:t>
            </a:r>
          </a:p>
        </p:txBody>
      </p:sp>
      <p:sp>
        <p:nvSpPr>
          <p:cNvPr id="2" name="">
            <a:extLst xmlns:a="http://schemas.openxmlformats.org/drawingml/2006/main">
              <a:ext uri="{FF2B5EF4-FFF2-40B4-BE49-F238E27FC236}">
                <a16:creationId xmlns:a16="http://schemas.microsoft.com/office/drawing/2014/main" id="{6CB85753-02A4-4F66-95B3-1AD4B2CE35F3}"/>
              </a:ext>
            </a:extLst>
          </p:cNvPr>
          <p:cNvSpPr>
            <a:spLocks xmlns:a="http://schemas.openxmlformats.org/drawingml/2006/main" noGrp="1"/>
          </p:cNvSpPr>
          <p:nvPr/>
        </p:nvSpPr>
        <p:spPr>
          <a:xfrm xmlns:a="http://schemas.openxmlformats.org/drawingml/2006/main">
            <a:off x="685800" y="1485900"/>
            <a:ext cx="800100" cy="476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2C950C6-CACC-410B-9757-50D800253DBC}"/>
              </a:ext>
            </a:extLst>
          </p:cNvPr>
          <p:cNvSpPr>
            <a:spLocks xmlns:a="http://schemas.openxmlformats.org/drawingml/2006/main" noGrp="1"/>
          </p:cNvSpPr>
          <p:nvPr/>
        </p:nvSpPr>
        <p:spPr>
          <a:xfrm xmlns:a="http://schemas.openxmlformats.org/drawingml/2006/main">
            <a:off x="11191875" y="6334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4"/>
                </a:solidFill>
                <a:latin typeface="Arial"/>
                <a:ea typeface="Arial"/>
                <a:cs typeface="Arial"/>
              </a:defRPr>
            </a:defPPr>
            <a:lvl1pPr>
              <a:defRPr sz="1200" b="0">
                <a:solidFill>
                  <a:srgbClr val="526574"/>
                </a:solidFill>
                <a:latin typeface="Arial"/>
                <a:ea typeface="Arial"/>
                <a:cs typeface="Arial"/>
              </a:defRPr>
            </a:lvl1pPr>
            <a:lvl2pPr>
              <a:defRPr sz="1200" b="0">
                <a:solidFill>
                  <a:srgbClr val="526574"/>
                </a:solidFill>
                <a:latin typeface="Arial"/>
                <a:ea typeface="Arial"/>
                <a:cs typeface="Arial"/>
              </a:defRPr>
            </a:lvl2pPr>
            <a:lvl3pPr>
              <a:defRPr sz="1200" b="0">
                <a:solidFill>
                  <a:srgbClr val="526574"/>
                </a:solidFill>
                <a:latin typeface="Arial"/>
                <a:ea typeface="Arial"/>
                <a:cs typeface="Arial"/>
              </a:defRPr>
            </a:lvl3pPr>
            <a:lvl4pPr>
              <a:defRPr sz="1200" b="0">
                <a:solidFill>
                  <a:srgbClr val="526574"/>
                </a:solidFill>
                <a:latin typeface="Arial"/>
                <a:ea typeface="Arial"/>
                <a:cs typeface="Arial"/>
              </a:defRPr>
            </a:lvl4pPr>
            <a:lvl5pPr>
              <a:defRPr sz="1200" b="0">
                <a:solidFill>
                  <a:srgbClr val="526574"/>
                </a:solidFill>
                <a:latin typeface="Arial"/>
                <a:ea typeface="Arial"/>
                <a:cs typeface="Arial"/>
              </a:defRPr>
            </a:lvl5pPr>
            <a:lvl6pPr>
              <a:defRPr sz="1200" b="0">
                <a:solidFill>
                  <a:srgbClr val="526574"/>
                </a:solidFill>
                <a:latin typeface="Arial"/>
                <a:ea typeface="Arial"/>
                <a:cs typeface="Arial"/>
              </a:defRPr>
            </a:lvl6pPr>
            <a:lvl7pPr>
              <a:defRPr sz="1200" b="0">
                <a:solidFill>
                  <a:srgbClr val="526574"/>
                </a:solidFill>
                <a:latin typeface="Arial"/>
                <a:ea typeface="Arial"/>
                <a:cs typeface="Arial"/>
              </a:defRPr>
            </a:lvl7pPr>
            <a:lvl8pPr>
              <a:defRPr sz="1200" b="0">
                <a:solidFill>
                  <a:srgbClr val="526574"/>
                </a:solidFill>
                <a:latin typeface="Arial"/>
                <a:ea typeface="Arial"/>
                <a:cs typeface="Arial"/>
              </a:defRPr>
            </a:lvl8pPr>
            <a:lvl9pPr>
              <a:defRPr sz="1200" b="0">
                <a:solidFill>
                  <a:srgbClr val="526574"/>
                </a:solidFill>
                <a:latin typeface="Arial"/>
                <a:ea typeface="Arial"/>
                <a:cs typeface="Arial"/>
              </a:defRPr>
            </a:lvl9pPr>
          </a:lstStyle>
          <a:p xmlns:a="http://schemas.openxmlformats.org/drawingml/2006/main">
            <a:pPr>
              <a:defRPr sz="1200" b="0">
                <a:solidFill>
                  <a:srgbClr val="526574"/>
                </a:solidFill>
                <a:latin typeface="Arial"/>
                <a:ea typeface="Arial"/>
                <a:cs typeface="Arial"/>
              </a:defRPr>
            </a:pPr>
            <a:r>
              <a:rPr sz="1200" b="0">
                <a:solidFill>
                  <a:srgbClr val="526574"/>
                </a:solidFill>
                <a:latin typeface="Arial"/>
                <a:ea typeface="Arial"/>
                <a:cs typeface="Arial"/>
              </a:rPr>
              <a:t>03</a:t>
            </a:r>
          </a:p>
        </p:txBody>
      </p:sp>
      <p:graphicFrame>
        <p:nvGraphicFramePr>
          <p:cNvPr id="4" name="">
            <a:extLst xmlns:a="http://schemas.openxmlformats.org/drawingml/2006/main">
              <a:ext uri="{FF2B5EF4-FFF2-40B4-BE49-F238E27FC236}">
                <a16:creationId xmlns:a16="http://schemas.microsoft.com/office/drawing/2014/main" id="{B69281E1-E332-4D78-9BCC-1438EC0539CF}"/>
              </a:ext>
            </a:extLst>
          </p:cNvPr>
          <p:cNvGraphicFramePr/>
          <p:nvPr/>
        </p:nvGraphicFramePr>
        <p:xfrm>
          <a:off xmlns:a="http://schemas.openxmlformats.org/drawingml/2006/main" x="685800" y="1952625"/>
          <a:ext xmlns:a="http://schemas.openxmlformats.org/drawingml/2006/main" cx="10668000" cy="3190875"/>
        </p:xfrm>
        <a:graphic xmlns:a="http://schemas.openxmlformats.org/drawingml/2006/main">
          <a:graphicData uri="http://schemas.openxmlformats.org/drawingml/2006/table">
            <a:tbl>
              <a:tblPr/>
              <a:tblGrid>
                <a:gridCol w="3627120"/>
                <a:gridCol w="7040880"/>
              </a:tblGrid>
              <a:tr h="638175">
                <a:tc>
                  <a:txBody>
                    <a:bodyPr/>
                    <a:lstStyle/>
                    <a:p>
                      <a:r>
                        <a:rPr sz="1650" b="1">
                          <a:solidFill>
                            <a:srgbClr val="FFFFFF"/>
                          </a:solidFill>
                          <a:latin typeface="Arial"/>
                          <a:ea typeface="Arial"/>
                          <a:cs typeface="Arial"/>
                        </a:rPr>
                        <a:t>Approach</a:t>
                      </a:r>
                    </a:p>
                  </a:txBody>
                  <a:tcPr marL="91440" marR="91440" marT="45720" marB="45720">
                    <a:lnL w="9525">
                      <a:solidFill>
                        <a:srgbClr val="CBD5DF"/>
                      </a:solidFill>
                      <a:prstDash val="solid"/>
                    </a:lnL>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c>
                  <a:txBody>
                    <a:bodyPr/>
                    <a:lstStyle/>
                    <a:p>
                      <a:r>
                        <a:rPr sz="1650" b="1">
                          <a:solidFill>
                            <a:srgbClr val="FFFFFF"/>
                          </a:solidFill>
                          <a:latin typeface="Arial"/>
                          <a:ea typeface="Arial"/>
                          <a:cs typeface="Arial"/>
                        </a:rPr>
                        <a:t>Intervention</a:t>
                      </a:r>
                    </a:p>
                  </a:txBody>
                  <a:tcPr marL="91440" marR="91440" marT="45720" marB="45720">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r>
              <a:tr h="638175">
                <a:tc>
                  <a:txBody>
                    <a:bodyPr/>
                    <a:lstStyle/>
                    <a:p>
                      <a:r>
                        <a:rPr sz="1650" b="0">
                          <a:solidFill>
                            <a:srgbClr val="122638"/>
                          </a:solidFill>
                          <a:latin typeface="Arial"/>
                          <a:ea typeface="Arial"/>
                          <a:cs typeface="Arial"/>
                        </a:rPr>
                        <a:t>StruQ / spotlighting</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Separate authority or signal evidence provenance</a:t>
                      </a:r>
                    </a:p>
                  </a:txBody>
                  <a:tcPr marL="91440" marR="91440" marT="45720" marB="45720">
                    <a:lnR w="9525">
                      <a:solidFill>
                        <a:srgbClr val="CBD5DF"/>
                      </a:solidFill>
                      <a:prstDash val="solid"/>
                    </a:lnR>
                    <a:lnB w="9525">
                      <a:solidFill>
                        <a:srgbClr val="CBD5DF"/>
                      </a:solidFill>
                      <a:prstDash val="solid"/>
                    </a:lnB>
                    <a:solidFill>
                      <a:srgbClr val="FFFFFF"/>
                    </a:solidFill>
                  </a:tcPr>
                </a:tc>
              </a:tr>
              <a:tr h="638175">
                <a:tc>
                  <a:txBody>
                    <a:bodyPr/>
                    <a:lstStyle/>
                    <a:p>
                      <a:r>
                        <a:rPr sz="1650" b="0">
                          <a:solidFill>
                            <a:srgbClr val="122638"/>
                          </a:solidFill>
                          <a:latin typeface="Arial"/>
                          <a:ea typeface="Arial"/>
                          <a:cs typeface="Arial"/>
                        </a:rPr>
                        <a:t>Detection and removal</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Inspect contaminated text and remove suspect content</a:t>
                      </a:r>
                    </a:p>
                  </a:txBody>
                  <a:tcPr marL="91440" marR="91440" marT="45720" marB="45720">
                    <a:lnR w="9525">
                      <a:solidFill>
                        <a:srgbClr val="CBD5DF"/>
                      </a:solidFill>
                      <a:prstDash val="solid"/>
                    </a:lnR>
                    <a:lnB w="9525">
                      <a:solidFill>
                        <a:srgbClr val="CBD5DF"/>
                      </a:solidFill>
                      <a:prstDash val="solid"/>
                    </a:lnB>
                    <a:solidFill>
                      <a:srgbClr val="EAF0F4"/>
                    </a:solidFill>
                  </a:tcPr>
                </a:tc>
              </a:tr>
              <a:tr h="638175">
                <a:tc>
                  <a:txBody>
                    <a:bodyPr/>
                    <a:lstStyle/>
                    <a:p>
                      <a:r>
                        <a:rPr sz="1650" b="0">
                          <a:solidFill>
                            <a:srgbClr val="122638"/>
                          </a:solidFill>
                          <a:latin typeface="Arial"/>
                          <a:ea typeface="Arial"/>
                          <a:cs typeface="Arial"/>
                        </a:rPr>
                        <a:t>RobustRAG</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Isolate evidence and aggregate generated answers</a:t>
                      </a:r>
                    </a:p>
                  </a:txBody>
                  <a:tcPr marL="91440" marR="91440" marT="45720" marB="45720">
                    <a:lnR w="9525">
                      <a:solidFill>
                        <a:srgbClr val="CBD5DF"/>
                      </a:solidFill>
                      <a:prstDash val="solid"/>
                    </a:lnR>
                    <a:lnB w="9525">
                      <a:solidFill>
                        <a:srgbClr val="CBD5DF"/>
                      </a:solidFill>
                      <a:prstDash val="solid"/>
                    </a:lnB>
                    <a:solidFill>
                      <a:srgbClr val="FFFFFF"/>
                    </a:solidFill>
                  </a:tcPr>
                </a:tc>
              </a:tr>
              <a:tr h="638175">
                <a:tc>
                  <a:txBody>
                    <a:bodyPr/>
                    <a:lstStyle/>
                    <a:p>
                      <a:r>
                        <a:rPr sz="1650" b="0">
                          <a:solidFill>
                            <a:srgbClr val="122638"/>
                          </a:solidFill>
                          <a:latin typeface="Arial"/>
                          <a:ea typeface="Arial"/>
                          <a:cs typeface="Arial"/>
                        </a:rPr>
                        <a:t>This project</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Inspect gate decisions, actual answers, false positives and cost</a:t>
                      </a:r>
                    </a:p>
                  </a:txBody>
                  <a:tcPr marL="91440" marR="91440" marT="45720" marB="45720">
                    <a:lnR w="9525">
                      <a:solidFill>
                        <a:srgbClr val="CBD5DF"/>
                      </a:solidFill>
                      <a:prstDash val="solid"/>
                    </a:lnR>
                    <a:lnB w="9525">
                      <a:solidFill>
                        <a:srgbClr val="CBD5DF"/>
                      </a:solidFill>
                      <a:prstDash val="solid"/>
                    </a:lnB>
                    <a:solidFill>
                      <a:srgbClr val="EAF0F4"/>
                    </a:solidFill>
                  </a:tcPr>
                </a:tc>
              </a:tr>
            </a:tbl>
          </a:graphicData>
        </a:graphic>
      </p:graphicFrame>
      <p:sp>
        <p:nvSpPr>
          <p:cNvPr id="5" name="">
            <a:extLst xmlns:a="http://schemas.openxmlformats.org/drawingml/2006/main">
              <a:ext uri="{FF2B5EF4-FFF2-40B4-BE49-F238E27FC236}">
                <a16:creationId xmlns:a16="http://schemas.microsoft.com/office/drawing/2014/main" id="{10064074-DD69-4D1D-A5D9-E4CFD0CA7FD8}"/>
              </a:ext>
            </a:extLst>
          </p:cNvPr>
          <p:cNvSpPr>
            <a:spLocks xmlns:a="http://schemas.openxmlformats.org/drawingml/2006/main" noGrp="1"/>
          </p:cNvSpPr>
          <p:nvPr/>
        </p:nvSpPr>
        <p:spPr>
          <a:xfrm xmlns:a="http://schemas.openxmlformats.org/drawingml/2006/main">
            <a:off x="685800" y="55721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087F8C"/>
                </a:solidFill>
                <a:latin typeface="Arial"/>
                <a:ea typeface="Arial"/>
                <a:cs typeface="Arial"/>
              </a:defRPr>
            </a:defPPr>
            <a:lvl1pPr>
              <a:defRPr sz="1950" b="1">
                <a:solidFill>
                  <a:srgbClr val="087F8C"/>
                </a:solidFill>
                <a:latin typeface="Arial"/>
                <a:ea typeface="Arial"/>
                <a:cs typeface="Arial"/>
              </a:defRPr>
            </a:lvl1pPr>
            <a:lvl2pPr>
              <a:defRPr sz="1950" b="1">
                <a:solidFill>
                  <a:srgbClr val="087F8C"/>
                </a:solidFill>
                <a:latin typeface="Arial"/>
                <a:ea typeface="Arial"/>
                <a:cs typeface="Arial"/>
              </a:defRPr>
            </a:lvl2pPr>
            <a:lvl3pPr>
              <a:defRPr sz="1950" b="1">
                <a:solidFill>
                  <a:srgbClr val="087F8C"/>
                </a:solidFill>
                <a:latin typeface="Arial"/>
                <a:ea typeface="Arial"/>
                <a:cs typeface="Arial"/>
              </a:defRPr>
            </a:lvl3pPr>
            <a:lvl4pPr>
              <a:defRPr sz="1950" b="1">
                <a:solidFill>
                  <a:srgbClr val="087F8C"/>
                </a:solidFill>
                <a:latin typeface="Arial"/>
                <a:ea typeface="Arial"/>
                <a:cs typeface="Arial"/>
              </a:defRPr>
            </a:lvl4pPr>
            <a:lvl5pPr>
              <a:defRPr sz="1950" b="1">
                <a:solidFill>
                  <a:srgbClr val="087F8C"/>
                </a:solidFill>
                <a:latin typeface="Arial"/>
                <a:ea typeface="Arial"/>
                <a:cs typeface="Arial"/>
              </a:defRPr>
            </a:lvl5pPr>
            <a:lvl6pPr>
              <a:defRPr sz="1950" b="1">
                <a:solidFill>
                  <a:srgbClr val="087F8C"/>
                </a:solidFill>
                <a:latin typeface="Arial"/>
                <a:ea typeface="Arial"/>
                <a:cs typeface="Arial"/>
              </a:defRPr>
            </a:lvl6pPr>
            <a:lvl7pPr>
              <a:defRPr sz="1950" b="1">
                <a:solidFill>
                  <a:srgbClr val="087F8C"/>
                </a:solidFill>
                <a:latin typeface="Arial"/>
                <a:ea typeface="Arial"/>
                <a:cs typeface="Arial"/>
              </a:defRPr>
            </a:lvl7pPr>
            <a:lvl8pPr>
              <a:defRPr sz="1950" b="1">
                <a:solidFill>
                  <a:srgbClr val="087F8C"/>
                </a:solidFill>
                <a:latin typeface="Arial"/>
                <a:ea typeface="Arial"/>
                <a:cs typeface="Arial"/>
              </a:defRPr>
            </a:lvl8pPr>
            <a:lvl9pPr>
              <a:defRPr sz="1950" b="1">
                <a:solidFill>
                  <a:srgbClr val="087F8C"/>
                </a:solidFill>
                <a:latin typeface="Arial"/>
                <a:ea typeface="Arial"/>
                <a:cs typeface="Arial"/>
              </a:defRPr>
            </a:lvl9pPr>
          </a:lstStyle>
          <a:p xmlns:a="http://schemas.openxmlformats.org/drawingml/2006/main">
            <a:pPr>
              <a:defRPr sz="1950" b="1">
                <a:solidFill>
                  <a:srgbClr val="087F8C"/>
                </a:solidFill>
                <a:latin typeface="Arial"/>
                <a:ea typeface="Arial"/>
                <a:cs typeface="Arial"/>
              </a:defRPr>
            </a:pPr>
            <a:r>
              <a:rPr sz="1950" b="1">
                <a:solidFill>
                  <a:srgbClr val="087F8C"/>
                </a:solidFill>
                <a:latin typeface="Arial"/>
                <a:ea typeface="Arial"/>
                <a:cs typeface="Arial"/>
              </a:rPr>
              <a:t>BIPIA supplies public data; the RAG adapter is locally implemented</a:t>
            </a:r>
          </a:p>
        </p:txBody>
      </p:sp>
    </p:spTree>
    <p:extLst>
      <p:ext uri="{BB962C8B-B14F-4D97-AF65-F5344CB8AC3E}">
        <p14:creationId xmlns:p14="http://schemas.microsoft.com/office/powerpoint/2010/main" val="1599282399"/>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00236AD-DEBF-411E-B1B8-1E4C0662EF2C}"/>
              </a:ext>
            </a:extLst>
          </p:cNvPr>
          <p:cNvSpPr>
            <a:spLocks xmlns:a="http://schemas.openxmlformats.org/drawingml/2006/main" noGrp="1"/>
          </p:cNvSpPr>
          <p:nvPr/>
        </p:nvSpPr>
        <p:spPr>
          <a:xfrm xmlns:a="http://schemas.openxmlformats.org/drawingml/2006/main">
            <a:off x="685800" y="476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132D46"/>
                </a:solidFill>
                <a:latin typeface="Arial"/>
                <a:ea typeface="Arial"/>
                <a:cs typeface="Arial"/>
              </a:defRPr>
            </a:defPPr>
            <a:lvl1pPr>
              <a:defRPr sz="3000" b="1">
                <a:solidFill>
                  <a:srgbClr val="132D46"/>
                </a:solidFill>
                <a:latin typeface="Arial"/>
                <a:ea typeface="Arial"/>
                <a:cs typeface="Arial"/>
              </a:defRPr>
            </a:lvl1pPr>
            <a:lvl2pPr>
              <a:defRPr sz="3000" b="1">
                <a:solidFill>
                  <a:srgbClr val="132D46"/>
                </a:solidFill>
                <a:latin typeface="Arial"/>
                <a:ea typeface="Arial"/>
                <a:cs typeface="Arial"/>
              </a:defRPr>
            </a:lvl2pPr>
            <a:lvl3pPr>
              <a:defRPr sz="3000" b="1">
                <a:solidFill>
                  <a:srgbClr val="132D46"/>
                </a:solidFill>
                <a:latin typeface="Arial"/>
                <a:ea typeface="Arial"/>
                <a:cs typeface="Arial"/>
              </a:defRPr>
            </a:lvl3pPr>
            <a:lvl4pPr>
              <a:defRPr sz="3000" b="1">
                <a:solidFill>
                  <a:srgbClr val="132D46"/>
                </a:solidFill>
                <a:latin typeface="Arial"/>
                <a:ea typeface="Arial"/>
                <a:cs typeface="Arial"/>
              </a:defRPr>
            </a:lvl4pPr>
            <a:lvl5pPr>
              <a:defRPr sz="3000" b="1">
                <a:solidFill>
                  <a:srgbClr val="132D46"/>
                </a:solidFill>
                <a:latin typeface="Arial"/>
                <a:ea typeface="Arial"/>
                <a:cs typeface="Arial"/>
              </a:defRPr>
            </a:lvl5pPr>
            <a:lvl6pPr>
              <a:defRPr sz="3000" b="1">
                <a:solidFill>
                  <a:srgbClr val="132D46"/>
                </a:solidFill>
                <a:latin typeface="Arial"/>
                <a:ea typeface="Arial"/>
                <a:cs typeface="Arial"/>
              </a:defRPr>
            </a:lvl6pPr>
            <a:lvl7pPr>
              <a:defRPr sz="3000" b="1">
                <a:solidFill>
                  <a:srgbClr val="132D46"/>
                </a:solidFill>
                <a:latin typeface="Arial"/>
                <a:ea typeface="Arial"/>
                <a:cs typeface="Arial"/>
              </a:defRPr>
            </a:lvl7pPr>
            <a:lvl8pPr>
              <a:defRPr sz="3000" b="1">
                <a:solidFill>
                  <a:srgbClr val="132D46"/>
                </a:solidFill>
                <a:latin typeface="Arial"/>
                <a:ea typeface="Arial"/>
                <a:cs typeface="Arial"/>
              </a:defRPr>
            </a:lvl8pPr>
            <a:lvl9pPr>
              <a:defRPr sz="3000" b="1">
                <a:solidFill>
                  <a:srgbClr val="132D46"/>
                </a:solidFill>
                <a:latin typeface="Arial"/>
                <a:ea typeface="Arial"/>
                <a:cs typeface="Arial"/>
              </a:defRPr>
            </a:lvl9pPr>
          </a:lstStyle>
          <a:p xmlns:a="http://schemas.openxmlformats.org/drawingml/2006/main">
            <a:pPr>
              <a:defRPr sz="3000" b="1">
                <a:solidFill>
                  <a:srgbClr val="132D46"/>
                </a:solidFill>
                <a:latin typeface="Arial"/>
                <a:ea typeface="Arial"/>
                <a:cs typeface="Arial"/>
              </a:defRPr>
            </a:pPr>
            <a:r>
              <a:rPr sz="3000" b="1">
                <a:solidFill>
                  <a:srgbClr val="132D46"/>
                </a:solidFill>
                <a:latin typeface="Arial"/>
                <a:ea typeface="Arial"/>
                <a:cs typeface="Arial"/>
              </a:rPr>
              <a:t>The gate filters retrieved chunks before generation</a:t>
            </a:r>
          </a:p>
        </p:txBody>
      </p:sp>
      <p:sp>
        <p:nvSpPr>
          <p:cNvPr id="2" name="">
            <a:extLst xmlns:a="http://schemas.openxmlformats.org/drawingml/2006/main">
              <a:ext uri="{FF2B5EF4-FFF2-40B4-BE49-F238E27FC236}">
                <a16:creationId xmlns:a16="http://schemas.microsoft.com/office/drawing/2014/main" id="{20A5A13C-E4BC-47EC-B41B-F1F2971A1306}"/>
              </a:ext>
            </a:extLst>
          </p:cNvPr>
          <p:cNvSpPr>
            <a:spLocks xmlns:a="http://schemas.openxmlformats.org/drawingml/2006/main" noGrp="1"/>
          </p:cNvSpPr>
          <p:nvPr/>
        </p:nvSpPr>
        <p:spPr>
          <a:xfrm xmlns:a="http://schemas.openxmlformats.org/drawingml/2006/main">
            <a:off x="685800" y="1485900"/>
            <a:ext cx="800100" cy="476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7A4196E-F433-4F66-B6FD-FC698A387869}"/>
              </a:ext>
            </a:extLst>
          </p:cNvPr>
          <p:cNvSpPr>
            <a:spLocks xmlns:a="http://schemas.openxmlformats.org/drawingml/2006/main" noGrp="1"/>
          </p:cNvSpPr>
          <p:nvPr/>
        </p:nvSpPr>
        <p:spPr>
          <a:xfrm xmlns:a="http://schemas.openxmlformats.org/drawingml/2006/main">
            <a:off x="11191875" y="6334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4"/>
                </a:solidFill>
                <a:latin typeface="Arial"/>
                <a:ea typeface="Arial"/>
                <a:cs typeface="Arial"/>
              </a:defRPr>
            </a:defPPr>
            <a:lvl1pPr>
              <a:defRPr sz="1200" b="0">
                <a:solidFill>
                  <a:srgbClr val="526574"/>
                </a:solidFill>
                <a:latin typeface="Arial"/>
                <a:ea typeface="Arial"/>
                <a:cs typeface="Arial"/>
              </a:defRPr>
            </a:lvl1pPr>
            <a:lvl2pPr>
              <a:defRPr sz="1200" b="0">
                <a:solidFill>
                  <a:srgbClr val="526574"/>
                </a:solidFill>
                <a:latin typeface="Arial"/>
                <a:ea typeface="Arial"/>
                <a:cs typeface="Arial"/>
              </a:defRPr>
            </a:lvl2pPr>
            <a:lvl3pPr>
              <a:defRPr sz="1200" b="0">
                <a:solidFill>
                  <a:srgbClr val="526574"/>
                </a:solidFill>
                <a:latin typeface="Arial"/>
                <a:ea typeface="Arial"/>
                <a:cs typeface="Arial"/>
              </a:defRPr>
            </a:lvl3pPr>
            <a:lvl4pPr>
              <a:defRPr sz="1200" b="0">
                <a:solidFill>
                  <a:srgbClr val="526574"/>
                </a:solidFill>
                <a:latin typeface="Arial"/>
                <a:ea typeface="Arial"/>
                <a:cs typeface="Arial"/>
              </a:defRPr>
            </a:lvl4pPr>
            <a:lvl5pPr>
              <a:defRPr sz="1200" b="0">
                <a:solidFill>
                  <a:srgbClr val="526574"/>
                </a:solidFill>
                <a:latin typeface="Arial"/>
                <a:ea typeface="Arial"/>
                <a:cs typeface="Arial"/>
              </a:defRPr>
            </a:lvl5pPr>
            <a:lvl6pPr>
              <a:defRPr sz="1200" b="0">
                <a:solidFill>
                  <a:srgbClr val="526574"/>
                </a:solidFill>
                <a:latin typeface="Arial"/>
                <a:ea typeface="Arial"/>
                <a:cs typeface="Arial"/>
              </a:defRPr>
            </a:lvl6pPr>
            <a:lvl7pPr>
              <a:defRPr sz="1200" b="0">
                <a:solidFill>
                  <a:srgbClr val="526574"/>
                </a:solidFill>
                <a:latin typeface="Arial"/>
                <a:ea typeface="Arial"/>
                <a:cs typeface="Arial"/>
              </a:defRPr>
            </a:lvl7pPr>
            <a:lvl8pPr>
              <a:defRPr sz="1200" b="0">
                <a:solidFill>
                  <a:srgbClr val="526574"/>
                </a:solidFill>
                <a:latin typeface="Arial"/>
                <a:ea typeface="Arial"/>
                <a:cs typeface="Arial"/>
              </a:defRPr>
            </a:lvl8pPr>
            <a:lvl9pPr>
              <a:defRPr sz="1200" b="0">
                <a:solidFill>
                  <a:srgbClr val="526574"/>
                </a:solidFill>
                <a:latin typeface="Arial"/>
                <a:ea typeface="Arial"/>
                <a:cs typeface="Arial"/>
              </a:defRPr>
            </a:lvl9pPr>
          </a:lstStyle>
          <a:p xmlns:a="http://schemas.openxmlformats.org/drawingml/2006/main">
            <a:pPr>
              <a:defRPr sz="1200" b="0">
                <a:solidFill>
                  <a:srgbClr val="526574"/>
                </a:solidFill>
                <a:latin typeface="Arial"/>
                <a:ea typeface="Arial"/>
                <a:cs typeface="Arial"/>
              </a:defRPr>
            </a:pPr>
            <a:r>
              <a:rPr sz="1200" b="0">
                <a:solidFill>
                  <a:srgbClr val="526574"/>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271523E0-0ABB-4C04-BE19-BD6867470D1A}"/>
              </a:ext>
            </a:extLst>
          </p:cNvPr>
          <p:cNvSpPr>
            <a:spLocks xmlns:a="http://schemas.openxmlformats.org/drawingml/2006/main" noGrp="1"/>
          </p:cNvSpPr>
          <p:nvPr/>
        </p:nvSpPr>
        <p:spPr>
          <a:xfrm xmlns:a="http://schemas.openxmlformats.org/drawingml/2006/main">
            <a:off x="685800" y="2286000"/>
            <a:ext cx="2381250" cy="1000125"/>
          </a:xfrm>
          <a:prstGeom xmlns:a="http://schemas.openxmlformats.org/drawingml/2006/main" prst="rect">
            <a:avLst/>
          </a:prstGeom>
          <a:solidFill xmlns:a="http://schemas.openxmlformats.org/drawingml/2006/main">
            <a:srgbClr val="E5EDF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F7A0627-4321-4199-AAE7-382AE73199A6}"/>
              </a:ext>
            </a:extLst>
          </p:cNvPr>
          <p:cNvSpPr>
            <a:spLocks xmlns:a="http://schemas.openxmlformats.org/drawingml/2006/main" noGrp="1"/>
          </p:cNvSpPr>
          <p:nvPr/>
        </p:nvSpPr>
        <p:spPr>
          <a:xfrm xmlns:a="http://schemas.openxmlformats.org/drawingml/2006/main">
            <a:off x="828675" y="251460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22638"/>
                </a:solidFill>
                <a:latin typeface="Arial"/>
                <a:ea typeface="Arial"/>
                <a:cs typeface="Arial"/>
              </a:defRPr>
            </a:defPPr>
            <a:lvl1pPr>
              <a:defRPr sz="1950" b="1">
                <a:solidFill>
                  <a:srgbClr val="122638"/>
                </a:solidFill>
                <a:latin typeface="Arial"/>
                <a:ea typeface="Arial"/>
                <a:cs typeface="Arial"/>
              </a:defRPr>
            </a:lvl1pPr>
            <a:lvl2pPr>
              <a:defRPr sz="1950" b="1">
                <a:solidFill>
                  <a:srgbClr val="122638"/>
                </a:solidFill>
                <a:latin typeface="Arial"/>
                <a:ea typeface="Arial"/>
                <a:cs typeface="Arial"/>
              </a:defRPr>
            </a:lvl2pPr>
            <a:lvl3pPr>
              <a:defRPr sz="1950" b="1">
                <a:solidFill>
                  <a:srgbClr val="122638"/>
                </a:solidFill>
                <a:latin typeface="Arial"/>
                <a:ea typeface="Arial"/>
                <a:cs typeface="Arial"/>
              </a:defRPr>
            </a:lvl3pPr>
            <a:lvl4pPr>
              <a:defRPr sz="1950" b="1">
                <a:solidFill>
                  <a:srgbClr val="122638"/>
                </a:solidFill>
                <a:latin typeface="Arial"/>
                <a:ea typeface="Arial"/>
                <a:cs typeface="Arial"/>
              </a:defRPr>
            </a:lvl4pPr>
            <a:lvl5pPr>
              <a:defRPr sz="1950" b="1">
                <a:solidFill>
                  <a:srgbClr val="122638"/>
                </a:solidFill>
                <a:latin typeface="Arial"/>
                <a:ea typeface="Arial"/>
                <a:cs typeface="Arial"/>
              </a:defRPr>
            </a:lvl5pPr>
            <a:lvl6pPr>
              <a:defRPr sz="1950" b="1">
                <a:solidFill>
                  <a:srgbClr val="122638"/>
                </a:solidFill>
                <a:latin typeface="Arial"/>
                <a:ea typeface="Arial"/>
                <a:cs typeface="Arial"/>
              </a:defRPr>
            </a:lvl6pPr>
            <a:lvl7pPr>
              <a:defRPr sz="1950" b="1">
                <a:solidFill>
                  <a:srgbClr val="122638"/>
                </a:solidFill>
                <a:latin typeface="Arial"/>
                <a:ea typeface="Arial"/>
                <a:cs typeface="Arial"/>
              </a:defRPr>
            </a:lvl7pPr>
            <a:lvl8pPr>
              <a:defRPr sz="1950" b="1">
                <a:solidFill>
                  <a:srgbClr val="122638"/>
                </a:solidFill>
                <a:latin typeface="Arial"/>
                <a:ea typeface="Arial"/>
                <a:cs typeface="Arial"/>
              </a:defRPr>
            </a:lvl8pPr>
            <a:lvl9pPr>
              <a:defRPr sz="1950" b="1">
                <a:solidFill>
                  <a:srgbClr val="122638"/>
                </a:solidFill>
                <a:latin typeface="Arial"/>
                <a:ea typeface="Arial"/>
                <a:cs typeface="Arial"/>
              </a:defRPr>
            </a:lvl9pPr>
          </a:lstStyle>
          <a:p xmlns:a="http://schemas.openxmlformats.org/drawingml/2006/main">
            <a:pPr>
              <a:defRPr sz="1950" b="1">
                <a:solidFill>
                  <a:srgbClr val="122638"/>
                </a:solidFill>
                <a:latin typeface="Arial"/>
                <a:ea typeface="Arial"/>
                <a:cs typeface="Arial"/>
              </a:defRPr>
            </a:pPr>
            <a:r>
              <a:rPr sz="1950" b="1">
                <a:solidFill>
                  <a:srgbClr val="122638"/>
                </a:solidFill>
                <a:latin typeface="Arial"/>
                <a:ea typeface="Arial"/>
                <a:cs typeface="Arial"/>
              </a:rPr>
              <a:t>Source + attack</a:t>
            </a:r>
          </a:p>
        </p:txBody>
      </p:sp>
      <p:sp>
        <p:nvSpPr>
          <p:cNvPr id="6" name="">
            <a:extLst xmlns:a="http://schemas.openxmlformats.org/drawingml/2006/main">
              <a:ext uri="{FF2B5EF4-FFF2-40B4-BE49-F238E27FC236}">
                <a16:creationId xmlns:a16="http://schemas.microsoft.com/office/drawing/2014/main" id="{7A755DA9-E46E-4640-B391-5D333E693A33}"/>
              </a:ext>
            </a:extLst>
          </p:cNvPr>
          <p:cNvSpPr>
            <a:spLocks xmlns:a="http://schemas.openxmlformats.org/drawingml/2006/main" noGrp="1"/>
          </p:cNvSpPr>
          <p:nvPr/>
        </p:nvSpPr>
        <p:spPr>
          <a:xfrm xmlns:a="http://schemas.openxmlformats.org/drawingml/2006/main">
            <a:off x="3133725" y="2600325"/>
            <a:ext cx="333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B0EC74E7-293E-417E-9A57-40D4DF94AD33}"/>
              </a:ext>
            </a:extLst>
          </p:cNvPr>
          <p:cNvSpPr>
            <a:spLocks xmlns:a="http://schemas.openxmlformats.org/drawingml/2006/main" noGrp="1"/>
          </p:cNvSpPr>
          <p:nvPr/>
        </p:nvSpPr>
        <p:spPr>
          <a:xfrm xmlns:a="http://schemas.openxmlformats.org/drawingml/2006/main">
            <a:off x="3400425" y="2286000"/>
            <a:ext cx="2381250" cy="1000125"/>
          </a:xfrm>
          <a:prstGeom xmlns:a="http://schemas.openxmlformats.org/drawingml/2006/main" prst="rect">
            <a:avLst/>
          </a:prstGeom>
          <a:solidFill xmlns:a="http://schemas.openxmlformats.org/drawingml/2006/main">
            <a:srgbClr val="E5ED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6836610-D2FE-40C2-933E-94D67BF441EE}"/>
              </a:ext>
            </a:extLst>
          </p:cNvPr>
          <p:cNvSpPr>
            <a:spLocks xmlns:a="http://schemas.openxmlformats.org/drawingml/2006/main" noGrp="1"/>
          </p:cNvSpPr>
          <p:nvPr/>
        </p:nvSpPr>
        <p:spPr>
          <a:xfrm xmlns:a="http://schemas.openxmlformats.org/drawingml/2006/main">
            <a:off x="3543300" y="251460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22638"/>
                </a:solidFill>
                <a:latin typeface="Arial"/>
                <a:ea typeface="Arial"/>
                <a:cs typeface="Arial"/>
              </a:defRPr>
            </a:defPPr>
            <a:lvl1pPr>
              <a:defRPr sz="1950" b="1">
                <a:solidFill>
                  <a:srgbClr val="122638"/>
                </a:solidFill>
                <a:latin typeface="Arial"/>
                <a:ea typeface="Arial"/>
                <a:cs typeface="Arial"/>
              </a:defRPr>
            </a:lvl1pPr>
            <a:lvl2pPr>
              <a:defRPr sz="1950" b="1">
                <a:solidFill>
                  <a:srgbClr val="122638"/>
                </a:solidFill>
                <a:latin typeface="Arial"/>
                <a:ea typeface="Arial"/>
                <a:cs typeface="Arial"/>
              </a:defRPr>
            </a:lvl2pPr>
            <a:lvl3pPr>
              <a:defRPr sz="1950" b="1">
                <a:solidFill>
                  <a:srgbClr val="122638"/>
                </a:solidFill>
                <a:latin typeface="Arial"/>
                <a:ea typeface="Arial"/>
                <a:cs typeface="Arial"/>
              </a:defRPr>
            </a:lvl3pPr>
            <a:lvl4pPr>
              <a:defRPr sz="1950" b="1">
                <a:solidFill>
                  <a:srgbClr val="122638"/>
                </a:solidFill>
                <a:latin typeface="Arial"/>
                <a:ea typeface="Arial"/>
                <a:cs typeface="Arial"/>
              </a:defRPr>
            </a:lvl4pPr>
            <a:lvl5pPr>
              <a:defRPr sz="1950" b="1">
                <a:solidFill>
                  <a:srgbClr val="122638"/>
                </a:solidFill>
                <a:latin typeface="Arial"/>
                <a:ea typeface="Arial"/>
                <a:cs typeface="Arial"/>
              </a:defRPr>
            </a:lvl5pPr>
            <a:lvl6pPr>
              <a:defRPr sz="1950" b="1">
                <a:solidFill>
                  <a:srgbClr val="122638"/>
                </a:solidFill>
                <a:latin typeface="Arial"/>
                <a:ea typeface="Arial"/>
                <a:cs typeface="Arial"/>
              </a:defRPr>
            </a:lvl6pPr>
            <a:lvl7pPr>
              <a:defRPr sz="1950" b="1">
                <a:solidFill>
                  <a:srgbClr val="122638"/>
                </a:solidFill>
                <a:latin typeface="Arial"/>
                <a:ea typeface="Arial"/>
                <a:cs typeface="Arial"/>
              </a:defRPr>
            </a:lvl7pPr>
            <a:lvl8pPr>
              <a:defRPr sz="1950" b="1">
                <a:solidFill>
                  <a:srgbClr val="122638"/>
                </a:solidFill>
                <a:latin typeface="Arial"/>
                <a:ea typeface="Arial"/>
                <a:cs typeface="Arial"/>
              </a:defRPr>
            </a:lvl8pPr>
            <a:lvl9pPr>
              <a:defRPr sz="1950" b="1">
                <a:solidFill>
                  <a:srgbClr val="122638"/>
                </a:solidFill>
                <a:latin typeface="Arial"/>
                <a:ea typeface="Arial"/>
                <a:cs typeface="Arial"/>
              </a:defRPr>
            </a:lvl9pPr>
          </a:lstStyle>
          <a:p xmlns:a="http://schemas.openxmlformats.org/drawingml/2006/main">
            <a:pPr>
              <a:defRPr sz="1950" b="1">
                <a:solidFill>
                  <a:srgbClr val="122638"/>
                </a:solidFill>
                <a:latin typeface="Arial"/>
                <a:ea typeface="Arial"/>
                <a:cs typeface="Arial"/>
              </a:defRPr>
            </a:pPr>
            <a:r>
              <a:rPr sz="1950" b="1">
                <a:solidFill>
                  <a:srgbClr val="122638"/>
                </a:solidFill>
                <a:latin typeface="Arial"/>
                <a:ea typeface="Arial"/>
                <a:cs typeface="Arial"/>
              </a:rPr>
              <a:t>TF-IDF retrieve</a:t>
            </a:r>
          </a:p>
        </p:txBody>
      </p:sp>
      <p:sp>
        <p:nvSpPr>
          <p:cNvPr id="9" name="">
            <a:extLst xmlns:a="http://schemas.openxmlformats.org/drawingml/2006/main">
              <a:ext uri="{FF2B5EF4-FFF2-40B4-BE49-F238E27FC236}">
                <a16:creationId xmlns:a16="http://schemas.microsoft.com/office/drawing/2014/main" id="{EC942799-64F2-4955-BA7D-E2755D5077A9}"/>
              </a:ext>
            </a:extLst>
          </p:cNvPr>
          <p:cNvSpPr>
            <a:spLocks xmlns:a="http://schemas.openxmlformats.org/drawingml/2006/main" noGrp="1"/>
          </p:cNvSpPr>
          <p:nvPr/>
        </p:nvSpPr>
        <p:spPr>
          <a:xfrm xmlns:a="http://schemas.openxmlformats.org/drawingml/2006/main">
            <a:off x="5848350" y="2600325"/>
            <a:ext cx="333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AF44FB46-6404-4B9A-828A-18A492D56872}"/>
              </a:ext>
            </a:extLst>
          </p:cNvPr>
          <p:cNvSpPr>
            <a:spLocks xmlns:a="http://schemas.openxmlformats.org/drawingml/2006/main" noGrp="1"/>
          </p:cNvSpPr>
          <p:nvPr/>
        </p:nvSpPr>
        <p:spPr>
          <a:xfrm xmlns:a="http://schemas.openxmlformats.org/drawingml/2006/main">
            <a:off x="6115050" y="2286000"/>
            <a:ext cx="2381250" cy="1000125"/>
          </a:xfrm>
          <a:prstGeom xmlns:a="http://schemas.openxmlformats.org/drawingml/2006/main" prst="rect">
            <a:avLst/>
          </a:prstGeom>
          <a:solidFill xmlns:a="http://schemas.openxmlformats.org/drawingml/2006/main">
            <a:srgbClr val="D6EEE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6DC9BB1-31C7-4F93-BD73-6018935F6E61}"/>
              </a:ext>
            </a:extLst>
          </p:cNvPr>
          <p:cNvSpPr>
            <a:spLocks xmlns:a="http://schemas.openxmlformats.org/drawingml/2006/main" noGrp="1"/>
          </p:cNvSpPr>
          <p:nvPr/>
        </p:nvSpPr>
        <p:spPr>
          <a:xfrm xmlns:a="http://schemas.openxmlformats.org/drawingml/2006/main">
            <a:off x="6257925" y="251460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22638"/>
                </a:solidFill>
                <a:latin typeface="Arial"/>
                <a:ea typeface="Arial"/>
                <a:cs typeface="Arial"/>
              </a:defRPr>
            </a:defPPr>
            <a:lvl1pPr>
              <a:defRPr sz="1950" b="1">
                <a:solidFill>
                  <a:srgbClr val="122638"/>
                </a:solidFill>
                <a:latin typeface="Arial"/>
                <a:ea typeface="Arial"/>
                <a:cs typeface="Arial"/>
              </a:defRPr>
            </a:lvl1pPr>
            <a:lvl2pPr>
              <a:defRPr sz="1950" b="1">
                <a:solidFill>
                  <a:srgbClr val="122638"/>
                </a:solidFill>
                <a:latin typeface="Arial"/>
                <a:ea typeface="Arial"/>
                <a:cs typeface="Arial"/>
              </a:defRPr>
            </a:lvl2pPr>
            <a:lvl3pPr>
              <a:defRPr sz="1950" b="1">
                <a:solidFill>
                  <a:srgbClr val="122638"/>
                </a:solidFill>
                <a:latin typeface="Arial"/>
                <a:ea typeface="Arial"/>
                <a:cs typeface="Arial"/>
              </a:defRPr>
            </a:lvl3pPr>
            <a:lvl4pPr>
              <a:defRPr sz="1950" b="1">
                <a:solidFill>
                  <a:srgbClr val="122638"/>
                </a:solidFill>
                <a:latin typeface="Arial"/>
                <a:ea typeface="Arial"/>
                <a:cs typeface="Arial"/>
              </a:defRPr>
            </a:lvl4pPr>
            <a:lvl5pPr>
              <a:defRPr sz="1950" b="1">
                <a:solidFill>
                  <a:srgbClr val="122638"/>
                </a:solidFill>
                <a:latin typeface="Arial"/>
                <a:ea typeface="Arial"/>
                <a:cs typeface="Arial"/>
              </a:defRPr>
            </a:lvl5pPr>
            <a:lvl6pPr>
              <a:defRPr sz="1950" b="1">
                <a:solidFill>
                  <a:srgbClr val="122638"/>
                </a:solidFill>
                <a:latin typeface="Arial"/>
                <a:ea typeface="Arial"/>
                <a:cs typeface="Arial"/>
              </a:defRPr>
            </a:lvl6pPr>
            <a:lvl7pPr>
              <a:defRPr sz="1950" b="1">
                <a:solidFill>
                  <a:srgbClr val="122638"/>
                </a:solidFill>
                <a:latin typeface="Arial"/>
                <a:ea typeface="Arial"/>
                <a:cs typeface="Arial"/>
              </a:defRPr>
            </a:lvl7pPr>
            <a:lvl8pPr>
              <a:defRPr sz="1950" b="1">
                <a:solidFill>
                  <a:srgbClr val="122638"/>
                </a:solidFill>
                <a:latin typeface="Arial"/>
                <a:ea typeface="Arial"/>
                <a:cs typeface="Arial"/>
              </a:defRPr>
            </a:lvl8pPr>
            <a:lvl9pPr>
              <a:defRPr sz="1950" b="1">
                <a:solidFill>
                  <a:srgbClr val="122638"/>
                </a:solidFill>
                <a:latin typeface="Arial"/>
                <a:ea typeface="Arial"/>
                <a:cs typeface="Arial"/>
              </a:defRPr>
            </a:lvl9pPr>
          </a:lstStyle>
          <a:p xmlns:a="http://schemas.openxmlformats.org/drawingml/2006/main">
            <a:pPr>
              <a:defRPr sz="1950" b="1">
                <a:solidFill>
                  <a:srgbClr val="122638"/>
                </a:solidFill>
                <a:latin typeface="Arial"/>
                <a:ea typeface="Arial"/>
                <a:cs typeface="Arial"/>
              </a:defRPr>
            </a:pPr>
            <a:r>
              <a:rPr sz="1950" b="1">
                <a:solidFill>
                  <a:srgbClr val="122638"/>
                </a:solidFill>
                <a:latin typeface="Arial"/>
                <a:ea typeface="Arial"/>
                <a:cs typeface="Arial"/>
              </a:rPr>
              <a:t>Probe + cue</a:t>
            </a:r>
          </a:p>
        </p:txBody>
      </p:sp>
      <p:sp>
        <p:nvSpPr>
          <p:cNvPr id="12" name="">
            <a:extLst xmlns:a="http://schemas.openxmlformats.org/drawingml/2006/main">
              <a:ext uri="{FF2B5EF4-FFF2-40B4-BE49-F238E27FC236}">
                <a16:creationId xmlns:a16="http://schemas.microsoft.com/office/drawing/2014/main" id="{50E16AC7-0C38-40CF-A80A-EE7FEF972013}"/>
              </a:ext>
            </a:extLst>
          </p:cNvPr>
          <p:cNvSpPr>
            <a:spLocks xmlns:a="http://schemas.openxmlformats.org/drawingml/2006/main" noGrp="1"/>
          </p:cNvSpPr>
          <p:nvPr/>
        </p:nvSpPr>
        <p:spPr>
          <a:xfrm xmlns:a="http://schemas.openxmlformats.org/drawingml/2006/main">
            <a:off x="8562975" y="2600325"/>
            <a:ext cx="3333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a:t>
            </a:r>
          </a:p>
        </p:txBody>
      </p:sp>
      <p:sp>
        <p:nvSpPr>
          <p:cNvPr id="13" name="">
            <a:extLst xmlns:a="http://schemas.openxmlformats.org/drawingml/2006/main">
              <a:ext uri="{FF2B5EF4-FFF2-40B4-BE49-F238E27FC236}">
                <a16:creationId xmlns:a16="http://schemas.microsoft.com/office/drawing/2014/main" id="{D9562357-0AF9-4130-859E-0DD03D1EE281}"/>
              </a:ext>
            </a:extLst>
          </p:cNvPr>
          <p:cNvSpPr>
            <a:spLocks xmlns:a="http://schemas.openxmlformats.org/drawingml/2006/main" noGrp="1"/>
          </p:cNvSpPr>
          <p:nvPr/>
        </p:nvSpPr>
        <p:spPr>
          <a:xfrm xmlns:a="http://schemas.openxmlformats.org/drawingml/2006/main">
            <a:off x="8829675" y="2286000"/>
            <a:ext cx="2381250" cy="1000125"/>
          </a:xfrm>
          <a:prstGeom xmlns:a="http://schemas.openxmlformats.org/drawingml/2006/main" prst="rect">
            <a:avLst/>
          </a:prstGeom>
          <a:solidFill xmlns:a="http://schemas.openxmlformats.org/drawingml/2006/main">
            <a:srgbClr val="E5EDF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70D0923-807C-4349-A20B-D0ACE10C4402}"/>
              </a:ext>
            </a:extLst>
          </p:cNvPr>
          <p:cNvSpPr>
            <a:spLocks xmlns:a="http://schemas.openxmlformats.org/drawingml/2006/main" noGrp="1"/>
          </p:cNvSpPr>
          <p:nvPr/>
        </p:nvSpPr>
        <p:spPr>
          <a:xfrm xmlns:a="http://schemas.openxmlformats.org/drawingml/2006/main">
            <a:off x="8972550" y="2514600"/>
            <a:ext cx="2095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1">
                <a:solidFill>
                  <a:srgbClr val="122638"/>
                </a:solidFill>
                <a:latin typeface="Arial"/>
                <a:ea typeface="Arial"/>
                <a:cs typeface="Arial"/>
              </a:defRPr>
            </a:defPPr>
            <a:lvl1pPr>
              <a:defRPr sz="1950" b="1">
                <a:solidFill>
                  <a:srgbClr val="122638"/>
                </a:solidFill>
                <a:latin typeface="Arial"/>
                <a:ea typeface="Arial"/>
                <a:cs typeface="Arial"/>
              </a:defRPr>
            </a:lvl1pPr>
            <a:lvl2pPr>
              <a:defRPr sz="1950" b="1">
                <a:solidFill>
                  <a:srgbClr val="122638"/>
                </a:solidFill>
                <a:latin typeface="Arial"/>
                <a:ea typeface="Arial"/>
                <a:cs typeface="Arial"/>
              </a:defRPr>
            </a:lvl2pPr>
            <a:lvl3pPr>
              <a:defRPr sz="1950" b="1">
                <a:solidFill>
                  <a:srgbClr val="122638"/>
                </a:solidFill>
                <a:latin typeface="Arial"/>
                <a:ea typeface="Arial"/>
                <a:cs typeface="Arial"/>
              </a:defRPr>
            </a:lvl3pPr>
            <a:lvl4pPr>
              <a:defRPr sz="1950" b="1">
                <a:solidFill>
                  <a:srgbClr val="122638"/>
                </a:solidFill>
                <a:latin typeface="Arial"/>
                <a:ea typeface="Arial"/>
                <a:cs typeface="Arial"/>
              </a:defRPr>
            </a:lvl4pPr>
            <a:lvl5pPr>
              <a:defRPr sz="1950" b="1">
                <a:solidFill>
                  <a:srgbClr val="122638"/>
                </a:solidFill>
                <a:latin typeface="Arial"/>
                <a:ea typeface="Arial"/>
                <a:cs typeface="Arial"/>
              </a:defRPr>
            </a:lvl5pPr>
            <a:lvl6pPr>
              <a:defRPr sz="1950" b="1">
                <a:solidFill>
                  <a:srgbClr val="122638"/>
                </a:solidFill>
                <a:latin typeface="Arial"/>
                <a:ea typeface="Arial"/>
                <a:cs typeface="Arial"/>
              </a:defRPr>
            </a:lvl6pPr>
            <a:lvl7pPr>
              <a:defRPr sz="1950" b="1">
                <a:solidFill>
                  <a:srgbClr val="122638"/>
                </a:solidFill>
                <a:latin typeface="Arial"/>
                <a:ea typeface="Arial"/>
                <a:cs typeface="Arial"/>
              </a:defRPr>
            </a:lvl7pPr>
            <a:lvl8pPr>
              <a:defRPr sz="1950" b="1">
                <a:solidFill>
                  <a:srgbClr val="122638"/>
                </a:solidFill>
                <a:latin typeface="Arial"/>
                <a:ea typeface="Arial"/>
                <a:cs typeface="Arial"/>
              </a:defRPr>
            </a:lvl8pPr>
            <a:lvl9pPr>
              <a:defRPr sz="1950" b="1">
                <a:solidFill>
                  <a:srgbClr val="122638"/>
                </a:solidFill>
                <a:latin typeface="Arial"/>
                <a:ea typeface="Arial"/>
                <a:cs typeface="Arial"/>
              </a:defRPr>
            </a:lvl9pPr>
          </a:lstStyle>
          <a:p xmlns:a="http://schemas.openxmlformats.org/drawingml/2006/main">
            <a:pPr>
              <a:defRPr sz="1950" b="1">
                <a:solidFill>
                  <a:srgbClr val="122638"/>
                </a:solidFill>
                <a:latin typeface="Arial"/>
                <a:ea typeface="Arial"/>
                <a:cs typeface="Arial"/>
              </a:defRPr>
            </a:pPr>
            <a:r>
              <a:rPr sz="1950" b="1">
                <a:solidFill>
                  <a:srgbClr val="122638"/>
                </a:solidFill>
                <a:latin typeface="Arial"/>
                <a:ea typeface="Arial"/>
                <a:cs typeface="Arial"/>
              </a:rPr>
              <a:t>Generate /</a:t>
            </a:r>
          </a:p>
          <a:p xmlns:a="http://schemas.openxmlformats.org/drawingml/2006/main">
            <a:pPr>
              <a:defRPr sz="1950" b="1">
                <a:solidFill>
                  <a:srgbClr val="122638"/>
                </a:solidFill>
                <a:latin typeface="Arial"/>
                <a:ea typeface="Arial"/>
                <a:cs typeface="Arial"/>
              </a:defRPr>
            </a:pPr>
            <a:r>
              <a:rPr sz="1950" b="1">
                <a:solidFill>
                  <a:srgbClr val="122638"/>
                </a:solidFill>
                <a:latin typeface="Arial"/>
                <a:ea typeface="Arial"/>
                <a:cs typeface="Arial"/>
              </a:rPr>
              <a:t>UNKNOWN</a:t>
            </a:r>
          </a:p>
        </p:txBody>
      </p:sp>
      <p:sp>
        <p:nvSpPr>
          <p:cNvPr id="15" name="">
            <a:extLst xmlns:a="http://schemas.openxmlformats.org/drawingml/2006/main">
              <a:ext uri="{FF2B5EF4-FFF2-40B4-BE49-F238E27FC236}">
                <a16:creationId xmlns:a16="http://schemas.microsoft.com/office/drawing/2014/main" id="{9B8BB65D-65AC-4AA5-B703-8FE1500D2D40}"/>
              </a:ext>
            </a:extLst>
          </p:cNvPr>
          <p:cNvSpPr>
            <a:spLocks xmlns:a="http://schemas.openxmlformats.org/drawingml/2006/main" noGrp="1"/>
          </p:cNvSpPr>
          <p:nvPr/>
        </p:nvSpPr>
        <p:spPr>
          <a:xfrm xmlns:a="http://schemas.openxmlformats.org/drawingml/2006/main">
            <a:off x="685800" y="3952875"/>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122638"/>
                </a:solidFill>
                <a:latin typeface="Arial"/>
                <a:ea typeface="Arial"/>
                <a:cs typeface="Arial"/>
              </a:defRPr>
            </a:defPPr>
            <a:lvl1pPr>
              <a:defRPr sz="2325" b="0">
                <a:solidFill>
                  <a:srgbClr val="122638"/>
                </a:solidFill>
                <a:latin typeface="Arial"/>
                <a:ea typeface="Arial"/>
                <a:cs typeface="Arial"/>
              </a:defRPr>
            </a:lvl1pPr>
            <a:lvl2pPr>
              <a:defRPr sz="2325" b="0">
                <a:solidFill>
                  <a:srgbClr val="122638"/>
                </a:solidFill>
                <a:latin typeface="Arial"/>
                <a:ea typeface="Arial"/>
                <a:cs typeface="Arial"/>
              </a:defRPr>
            </a:lvl2pPr>
            <a:lvl3pPr>
              <a:defRPr sz="2325" b="0">
                <a:solidFill>
                  <a:srgbClr val="122638"/>
                </a:solidFill>
                <a:latin typeface="Arial"/>
                <a:ea typeface="Arial"/>
                <a:cs typeface="Arial"/>
              </a:defRPr>
            </a:lvl3pPr>
            <a:lvl4pPr>
              <a:defRPr sz="2325" b="0">
                <a:solidFill>
                  <a:srgbClr val="122638"/>
                </a:solidFill>
                <a:latin typeface="Arial"/>
                <a:ea typeface="Arial"/>
                <a:cs typeface="Arial"/>
              </a:defRPr>
            </a:lvl4pPr>
            <a:lvl5pPr>
              <a:defRPr sz="2325" b="0">
                <a:solidFill>
                  <a:srgbClr val="122638"/>
                </a:solidFill>
                <a:latin typeface="Arial"/>
                <a:ea typeface="Arial"/>
                <a:cs typeface="Arial"/>
              </a:defRPr>
            </a:lvl5pPr>
            <a:lvl6pPr>
              <a:defRPr sz="2325" b="0">
                <a:solidFill>
                  <a:srgbClr val="122638"/>
                </a:solidFill>
                <a:latin typeface="Arial"/>
                <a:ea typeface="Arial"/>
                <a:cs typeface="Arial"/>
              </a:defRPr>
            </a:lvl6pPr>
            <a:lvl7pPr>
              <a:defRPr sz="2325" b="0">
                <a:solidFill>
                  <a:srgbClr val="122638"/>
                </a:solidFill>
                <a:latin typeface="Arial"/>
                <a:ea typeface="Arial"/>
                <a:cs typeface="Arial"/>
              </a:defRPr>
            </a:lvl7pPr>
            <a:lvl8pPr>
              <a:defRPr sz="2325" b="0">
                <a:solidFill>
                  <a:srgbClr val="122638"/>
                </a:solidFill>
                <a:latin typeface="Arial"/>
                <a:ea typeface="Arial"/>
                <a:cs typeface="Arial"/>
              </a:defRPr>
            </a:lvl8pPr>
            <a:lvl9pPr>
              <a:defRPr sz="2325" b="0">
                <a:solidFill>
                  <a:srgbClr val="122638"/>
                </a:solidFill>
                <a:latin typeface="Arial"/>
                <a:ea typeface="Arial"/>
                <a:cs typeface="Arial"/>
              </a:defRPr>
            </a:lvl9pPr>
          </a:lstStyle>
          <a:p xmlns:a="http://schemas.openxmlformats.org/drawingml/2006/main">
            <a:pPr>
              <a:defRPr sz="2325" b="0">
                <a:solidFill>
                  <a:srgbClr val="122638"/>
                </a:solidFill>
                <a:latin typeface="Arial"/>
                <a:ea typeface="Arial"/>
                <a:cs typeface="Arial"/>
              </a:defRPr>
            </a:pPr>
            <a:r>
              <a:rPr sz="2325" b="0">
                <a:solidFill>
                  <a:srgbClr val="122638"/>
                </a:solidFill>
                <a:latin typeface="Arial"/>
                <a:ea typeface="Arial"/>
                <a:cs typeface="Arial"/>
              </a:rPr>
              <a:t>p(d) = max window probe risk</a:t>
            </a:r>
          </a:p>
        </p:txBody>
      </p:sp>
      <p:sp>
        <p:nvSpPr>
          <p:cNvPr id="16" name="">
            <a:extLst xmlns:a="http://schemas.openxmlformats.org/drawingml/2006/main">
              <a:ext uri="{FF2B5EF4-FFF2-40B4-BE49-F238E27FC236}">
                <a16:creationId xmlns:a16="http://schemas.microsoft.com/office/drawing/2014/main" id="{1C57EE86-C761-419F-9CE6-32A7DD0536A1}"/>
              </a:ext>
            </a:extLst>
          </p:cNvPr>
          <p:cNvSpPr>
            <a:spLocks xmlns:a="http://schemas.openxmlformats.org/drawingml/2006/main" noGrp="1"/>
          </p:cNvSpPr>
          <p:nvPr/>
        </p:nvSpPr>
        <p:spPr>
          <a:xfrm xmlns:a="http://schemas.openxmlformats.org/drawingml/2006/main">
            <a:off x="685800" y="466725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F8C"/>
                </a:solidFill>
                <a:latin typeface="Arial"/>
                <a:ea typeface="Arial"/>
                <a:cs typeface="Arial"/>
              </a:defRPr>
            </a:defPPr>
            <a:lvl1pPr>
              <a:defRPr sz="2325" b="1">
                <a:solidFill>
                  <a:srgbClr val="087F8C"/>
                </a:solidFill>
                <a:latin typeface="Arial"/>
                <a:ea typeface="Arial"/>
                <a:cs typeface="Arial"/>
              </a:defRPr>
            </a:lvl1pPr>
            <a:lvl2pPr>
              <a:defRPr sz="2325" b="1">
                <a:solidFill>
                  <a:srgbClr val="087F8C"/>
                </a:solidFill>
                <a:latin typeface="Arial"/>
                <a:ea typeface="Arial"/>
                <a:cs typeface="Arial"/>
              </a:defRPr>
            </a:lvl2pPr>
            <a:lvl3pPr>
              <a:defRPr sz="2325" b="1">
                <a:solidFill>
                  <a:srgbClr val="087F8C"/>
                </a:solidFill>
                <a:latin typeface="Arial"/>
                <a:ea typeface="Arial"/>
                <a:cs typeface="Arial"/>
              </a:defRPr>
            </a:lvl3pPr>
            <a:lvl4pPr>
              <a:defRPr sz="2325" b="1">
                <a:solidFill>
                  <a:srgbClr val="087F8C"/>
                </a:solidFill>
                <a:latin typeface="Arial"/>
                <a:ea typeface="Arial"/>
                <a:cs typeface="Arial"/>
              </a:defRPr>
            </a:lvl4pPr>
            <a:lvl5pPr>
              <a:defRPr sz="2325" b="1">
                <a:solidFill>
                  <a:srgbClr val="087F8C"/>
                </a:solidFill>
                <a:latin typeface="Arial"/>
                <a:ea typeface="Arial"/>
                <a:cs typeface="Arial"/>
              </a:defRPr>
            </a:lvl5pPr>
            <a:lvl6pPr>
              <a:defRPr sz="2325" b="1">
                <a:solidFill>
                  <a:srgbClr val="087F8C"/>
                </a:solidFill>
                <a:latin typeface="Arial"/>
                <a:ea typeface="Arial"/>
                <a:cs typeface="Arial"/>
              </a:defRPr>
            </a:lvl6pPr>
            <a:lvl7pPr>
              <a:defRPr sz="2325" b="1">
                <a:solidFill>
                  <a:srgbClr val="087F8C"/>
                </a:solidFill>
                <a:latin typeface="Arial"/>
                <a:ea typeface="Arial"/>
                <a:cs typeface="Arial"/>
              </a:defRPr>
            </a:lvl7pPr>
            <a:lvl8pPr>
              <a:defRPr sz="2325" b="1">
                <a:solidFill>
                  <a:srgbClr val="087F8C"/>
                </a:solidFill>
                <a:latin typeface="Arial"/>
                <a:ea typeface="Arial"/>
                <a:cs typeface="Arial"/>
              </a:defRPr>
            </a:lvl8pPr>
            <a:lvl9pPr>
              <a:defRPr sz="2325" b="1">
                <a:solidFill>
                  <a:srgbClr val="087F8C"/>
                </a:solidFill>
                <a:latin typeface="Arial"/>
                <a:ea typeface="Arial"/>
                <a:cs typeface="Arial"/>
              </a:defRPr>
            </a:lvl9pPr>
          </a:lstStyle>
          <a:p xmlns:a="http://schemas.openxmlformats.org/drawingml/2006/main">
            <a:pPr>
              <a:defRPr sz="2325" b="1">
                <a:solidFill>
                  <a:srgbClr val="087F8C"/>
                </a:solidFill>
                <a:latin typeface="Arial"/>
                <a:ea typeface="Arial"/>
                <a:cs typeface="Arial"/>
              </a:defRPr>
            </a:pPr>
            <a:r>
              <a:rPr sz="2325" b="1">
                <a:solidFill>
                  <a:srgbClr val="087F8C"/>
                </a:solidFill>
                <a:latin typeface="Arial"/>
                <a:ea typeface="Arial"/>
                <a:cs typeface="Arial"/>
              </a:rPr>
              <a:t>sλ(d) = 1 − (1 − p(d))(1 − λ r(d));  λ = 0.75</a:t>
            </a:r>
          </a:p>
        </p:txBody>
      </p:sp>
      <p:sp>
        <p:nvSpPr>
          <p:cNvPr id="17" name="">
            <a:extLst xmlns:a="http://schemas.openxmlformats.org/drawingml/2006/main">
              <a:ext uri="{FF2B5EF4-FFF2-40B4-BE49-F238E27FC236}">
                <a16:creationId xmlns:a16="http://schemas.microsoft.com/office/drawing/2014/main" id="{209CB876-486A-49F7-88D2-3BC251FB1761}"/>
              </a:ext>
            </a:extLst>
          </p:cNvPr>
          <p:cNvSpPr>
            <a:spLocks xmlns:a="http://schemas.openxmlformats.org/drawingml/2006/main" noGrp="1"/>
          </p:cNvSpPr>
          <p:nvPr/>
        </p:nvSpPr>
        <p:spPr>
          <a:xfrm xmlns:a="http://schemas.openxmlformats.org/drawingml/2006/main">
            <a:off x="685800" y="552450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526574"/>
                </a:solidFill>
                <a:latin typeface="Arial"/>
                <a:ea typeface="Arial"/>
                <a:cs typeface="Arial"/>
              </a:defRPr>
            </a:defPPr>
            <a:lvl1pPr>
              <a:defRPr sz="2025" b="0">
                <a:solidFill>
                  <a:srgbClr val="526574"/>
                </a:solidFill>
                <a:latin typeface="Arial"/>
                <a:ea typeface="Arial"/>
                <a:cs typeface="Arial"/>
              </a:defRPr>
            </a:lvl1pPr>
            <a:lvl2pPr>
              <a:defRPr sz="2025" b="0">
                <a:solidFill>
                  <a:srgbClr val="526574"/>
                </a:solidFill>
                <a:latin typeface="Arial"/>
                <a:ea typeface="Arial"/>
                <a:cs typeface="Arial"/>
              </a:defRPr>
            </a:lvl2pPr>
            <a:lvl3pPr>
              <a:defRPr sz="2025" b="0">
                <a:solidFill>
                  <a:srgbClr val="526574"/>
                </a:solidFill>
                <a:latin typeface="Arial"/>
                <a:ea typeface="Arial"/>
                <a:cs typeface="Arial"/>
              </a:defRPr>
            </a:lvl3pPr>
            <a:lvl4pPr>
              <a:defRPr sz="2025" b="0">
                <a:solidFill>
                  <a:srgbClr val="526574"/>
                </a:solidFill>
                <a:latin typeface="Arial"/>
                <a:ea typeface="Arial"/>
                <a:cs typeface="Arial"/>
              </a:defRPr>
            </a:lvl4pPr>
            <a:lvl5pPr>
              <a:defRPr sz="2025" b="0">
                <a:solidFill>
                  <a:srgbClr val="526574"/>
                </a:solidFill>
                <a:latin typeface="Arial"/>
                <a:ea typeface="Arial"/>
                <a:cs typeface="Arial"/>
              </a:defRPr>
            </a:lvl5pPr>
            <a:lvl6pPr>
              <a:defRPr sz="2025" b="0">
                <a:solidFill>
                  <a:srgbClr val="526574"/>
                </a:solidFill>
                <a:latin typeface="Arial"/>
                <a:ea typeface="Arial"/>
                <a:cs typeface="Arial"/>
              </a:defRPr>
            </a:lvl6pPr>
            <a:lvl7pPr>
              <a:defRPr sz="2025" b="0">
                <a:solidFill>
                  <a:srgbClr val="526574"/>
                </a:solidFill>
                <a:latin typeface="Arial"/>
                <a:ea typeface="Arial"/>
                <a:cs typeface="Arial"/>
              </a:defRPr>
            </a:lvl7pPr>
            <a:lvl8pPr>
              <a:defRPr sz="2025" b="0">
                <a:solidFill>
                  <a:srgbClr val="526574"/>
                </a:solidFill>
                <a:latin typeface="Arial"/>
                <a:ea typeface="Arial"/>
                <a:cs typeface="Arial"/>
              </a:defRPr>
            </a:lvl8pPr>
            <a:lvl9pPr>
              <a:defRPr sz="2025" b="0">
                <a:solidFill>
                  <a:srgbClr val="526574"/>
                </a:solidFill>
                <a:latin typeface="Arial"/>
                <a:ea typeface="Arial"/>
                <a:cs typeface="Arial"/>
              </a:defRPr>
            </a:lvl9pPr>
          </a:lstStyle>
          <a:p xmlns:a="http://schemas.openxmlformats.org/drawingml/2006/main">
            <a:pPr>
              <a:defRPr sz="2025" b="0">
                <a:solidFill>
                  <a:srgbClr val="526574"/>
                </a:solidFill>
                <a:latin typeface="Arial"/>
                <a:ea typeface="Arial"/>
                <a:cs typeface="Arial"/>
              </a:defRPr>
            </a:pPr>
            <a:r>
              <a:rPr sz="2025" b="0">
                <a:solidFill>
                  <a:srgbClr val="526574"/>
                </a:solidFill>
                <a:latin typeface="Arial"/>
                <a:ea typeface="Arial"/>
                <a:cs typeface="Arial"/>
              </a:rPr>
              <a:t>Keep s(d) &lt; τ; thresholds calibrated on development data</a:t>
            </a:r>
          </a:p>
        </p:txBody>
      </p:sp>
    </p:spTree>
    <p:extLst>
      <p:ext uri="{BB962C8B-B14F-4D97-AF65-F5344CB8AC3E}">
        <p14:creationId xmlns:p14="http://schemas.microsoft.com/office/powerpoint/2010/main" val="1893926419"/>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09FB61E-23B8-4856-81E9-5CD1122315A9}"/>
              </a:ext>
            </a:extLst>
          </p:cNvPr>
          <p:cNvSpPr>
            <a:spLocks xmlns:a="http://schemas.openxmlformats.org/drawingml/2006/main" noGrp="1"/>
          </p:cNvSpPr>
          <p:nvPr/>
        </p:nvSpPr>
        <p:spPr>
          <a:xfrm xmlns:a="http://schemas.openxmlformats.org/drawingml/2006/main">
            <a:off x="685800" y="476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132D46"/>
                </a:solidFill>
                <a:latin typeface="Arial"/>
                <a:ea typeface="Arial"/>
                <a:cs typeface="Arial"/>
              </a:defRPr>
            </a:defPPr>
            <a:lvl1pPr>
              <a:defRPr sz="3000" b="1">
                <a:solidFill>
                  <a:srgbClr val="132D46"/>
                </a:solidFill>
                <a:latin typeface="Arial"/>
                <a:ea typeface="Arial"/>
                <a:cs typeface="Arial"/>
              </a:defRPr>
            </a:lvl1pPr>
            <a:lvl2pPr>
              <a:defRPr sz="3000" b="1">
                <a:solidFill>
                  <a:srgbClr val="132D46"/>
                </a:solidFill>
                <a:latin typeface="Arial"/>
                <a:ea typeface="Arial"/>
                <a:cs typeface="Arial"/>
              </a:defRPr>
            </a:lvl2pPr>
            <a:lvl3pPr>
              <a:defRPr sz="3000" b="1">
                <a:solidFill>
                  <a:srgbClr val="132D46"/>
                </a:solidFill>
                <a:latin typeface="Arial"/>
                <a:ea typeface="Arial"/>
                <a:cs typeface="Arial"/>
              </a:defRPr>
            </a:lvl3pPr>
            <a:lvl4pPr>
              <a:defRPr sz="3000" b="1">
                <a:solidFill>
                  <a:srgbClr val="132D46"/>
                </a:solidFill>
                <a:latin typeface="Arial"/>
                <a:ea typeface="Arial"/>
                <a:cs typeface="Arial"/>
              </a:defRPr>
            </a:lvl4pPr>
            <a:lvl5pPr>
              <a:defRPr sz="3000" b="1">
                <a:solidFill>
                  <a:srgbClr val="132D46"/>
                </a:solidFill>
                <a:latin typeface="Arial"/>
                <a:ea typeface="Arial"/>
                <a:cs typeface="Arial"/>
              </a:defRPr>
            </a:lvl5pPr>
            <a:lvl6pPr>
              <a:defRPr sz="3000" b="1">
                <a:solidFill>
                  <a:srgbClr val="132D46"/>
                </a:solidFill>
                <a:latin typeface="Arial"/>
                <a:ea typeface="Arial"/>
                <a:cs typeface="Arial"/>
              </a:defRPr>
            </a:lvl6pPr>
            <a:lvl7pPr>
              <a:defRPr sz="3000" b="1">
                <a:solidFill>
                  <a:srgbClr val="132D46"/>
                </a:solidFill>
                <a:latin typeface="Arial"/>
                <a:ea typeface="Arial"/>
                <a:cs typeface="Arial"/>
              </a:defRPr>
            </a:lvl7pPr>
            <a:lvl8pPr>
              <a:defRPr sz="3000" b="1">
                <a:solidFill>
                  <a:srgbClr val="132D46"/>
                </a:solidFill>
                <a:latin typeface="Arial"/>
                <a:ea typeface="Arial"/>
                <a:cs typeface="Arial"/>
              </a:defRPr>
            </a:lvl8pPr>
            <a:lvl9pPr>
              <a:defRPr sz="3000" b="1">
                <a:solidFill>
                  <a:srgbClr val="132D46"/>
                </a:solidFill>
                <a:latin typeface="Arial"/>
                <a:ea typeface="Arial"/>
                <a:cs typeface="Arial"/>
              </a:defRPr>
            </a:lvl9pPr>
          </a:lstStyle>
          <a:p xmlns:a="http://schemas.openxmlformats.org/drawingml/2006/main">
            <a:pPr>
              <a:defRPr sz="3000" b="1">
                <a:solidFill>
                  <a:srgbClr val="132D46"/>
                </a:solidFill>
                <a:latin typeface="Arial"/>
                <a:ea typeface="Arial"/>
                <a:cs typeface="Arial"/>
              </a:defRPr>
            </a:pPr>
            <a:r>
              <a:rPr sz="3000" b="1">
                <a:solidFill>
                  <a:srgbClr val="132D46"/>
                </a:solidFill>
                <a:latin typeface="Arial"/>
                <a:ea typeface="Arial"/>
                <a:cs typeface="Arial"/>
              </a:rPr>
              <a:t>The expansion crosses all audited source emails</a:t>
            </a:r>
          </a:p>
        </p:txBody>
      </p:sp>
      <p:sp>
        <p:nvSpPr>
          <p:cNvPr id="2" name="">
            <a:extLst xmlns:a="http://schemas.openxmlformats.org/drawingml/2006/main">
              <a:ext uri="{FF2B5EF4-FFF2-40B4-BE49-F238E27FC236}">
                <a16:creationId xmlns:a16="http://schemas.microsoft.com/office/drawing/2014/main" id="{96EC46D6-56B6-4392-A35F-9DA8D3340AD5}"/>
              </a:ext>
            </a:extLst>
          </p:cNvPr>
          <p:cNvSpPr>
            <a:spLocks xmlns:a="http://schemas.openxmlformats.org/drawingml/2006/main" noGrp="1"/>
          </p:cNvSpPr>
          <p:nvPr/>
        </p:nvSpPr>
        <p:spPr>
          <a:xfrm xmlns:a="http://schemas.openxmlformats.org/drawingml/2006/main">
            <a:off x="685800" y="1485900"/>
            <a:ext cx="800100" cy="476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6EC6775-6E72-4ABE-99BA-840BFEEFA4EB}"/>
              </a:ext>
            </a:extLst>
          </p:cNvPr>
          <p:cNvSpPr>
            <a:spLocks xmlns:a="http://schemas.openxmlformats.org/drawingml/2006/main" noGrp="1"/>
          </p:cNvSpPr>
          <p:nvPr/>
        </p:nvSpPr>
        <p:spPr>
          <a:xfrm xmlns:a="http://schemas.openxmlformats.org/drawingml/2006/main">
            <a:off x="11191875" y="6334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4"/>
                </a:solidFill>
                <a:latin typeface="Arial"/>
                <a:ea typeface="Arial"/>
                <a:cs typeface="Arial"/>
              </a:defRPr>
            </a:defPPr>
            <a:lvl1pPr>
              <a:defRPr sz="1200" b="0">
                <a:solidFill>
                  <a:srgbClr val="526574"/>
                </a:solidFill>
                <a:latin typeface="Arial"/>
                <a:ea typeface="Arial"/>
                <a:cs typeface="Arial"/>
              </a:defRPr>
            </a:lvl1pPr>
            <a:lvl2pPr>
              <a:defRPr sz="1200" b="0">
                <a:solidFill>
                  <a:srgbClr val="526574"/>
                </a:solidFill>
                <a:latin typeface="Arial"/>
                <a:ea typeface="Arial"/>
                <a:cs typeface="Arial"/>
              </a:defRPr>
            </a:lvl2pPr>
            <a:lvl3pPr>
              <a:defRPr sz="1200" b="0">
                <a:solidFill>
                  <a:srgbClr val="526574"/>
                </a:solidFill>
                <a:latin typeface="Arial"/>
                <a:ea typeface="Arial"/>
                <a:cs typeface="Arial"/>
              </a:defRPr>
            </a:lvl3pPr>
            <a:lvl4pPr>
              <a:defRPr sz="1200" b="0">
                <a:solidFill>
                  <a:srgbClr val="526574"/>
                </a:solidFill>
                <a:latin typeface="Arial"/>
                <a:ea typeface="Arial"/>
                <a:cs typeface="Arial"/>
              </a:defRPr>
            </a:lvl4pPr>
            <a:lvl5pPr>
              <a:defRPr sz="1200" b="0">
                <a:solidFill>
                  <a:srgbClr val="526574"/>
                </a:solidFill>
                <a:latin typeface="Arial"/>
                <a:ea typeface="Arial"/>
                <a:cs typeface="Arial"/>
              </a:defRPr>
            </a:lvl5pPr>
            <a:lvl6pPr>
              <a:defRPr sz="1200" b="0">
                <a:solidFill>
                  <a:srgbClr val="526574"/>
                </a:solidFill>
                <a:latin typeface="Arial"/>
                <a:ea typeface="Arial"/>
                <a:cs typeface="Arial"/>
              </a:defRPr>
            </a:lvl6pPr>
            <a:lvl7pPr>
              <a:defRPr sz="1200" b="0">
                <a:solidFill>
                  <a:srgbClr val="526574"/>
                </a:solidFill>
                <a:latin typeface="Arial"/>
                <a:ea typeface="Arial"/>
                <a:cs typeface="Arial"/>
              </a:defRPr>
            </a:lvl7pPr>
            <a:lvl8pPr>
              <a:defRPr sz="1200" b="0">
                <a:solidFill>
                  <a:srgbClr val="526574"/>
                </a:solidFill>
                <a:latin typeface="Arial"/>
                <a:ea typeface="Arial"/>
                <a:cs typeface="Arial"/>
              </a:defRPr>
            </a:lvl8pPr>
            <a:lvl9pPr>
              <a:defRPr sz="1200" b="0">
                <a:solidFill>
                  <a:srgbClr val="526574"/>
                </a:solidFill>
                <a:latin typeface="Arial"/>
                <a:ea typeface="Arial"/>
                <a:cs typeface="Arial"/>
              </a:defRPr>
            </a:lvl9pPr>
          </a:lstStyle>
          <a:p xmlns:a="http://schemas.openxmlformats.org/drawingml/2006/main">
            <a:pPr>
              <a:defRPr sz="1200" b="0">
                <a:solidFill>
                  <a:srgbClr val="526574"/>
                </a:solidFill>
                <a:latin typeface="Arial"/>
                <a:ea typeface="Arial"/>
                <a:cs typeface="Arial"/>
              </a:defRPr>
            </a:pPr>
            <a:r>
              <a:rPr sz="1200" b="0">
                <a:solidFill>
                  <a:srgbClr val="526574"/>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29F04705-37FC-486E-B433-57B0A8B3C53D}"/>
              </a:ext>
            </a:extLst>
          </p:cNvPr>
          <p:cNvGraphicFramePr/>
          <p:nvPr/>
        </p:nvGraphicFramePr>
        <p:xfrm>
          <a:off xmlns:a="http://schemas.openxmlformats.org/drawingml/2006/main" x="685800" y="1952625"/>
          <a:ext xmlns:a="http://schemas.openxmlformats.org/drawingml/2006/main" cx="10668000" cy="3143250"/>
        </p:xfrm>
        <a:graphic xmlns:a="http://schemas.openxmlformats.org/drawingml/2006/main">
          <a:graphicData uri="http://schemas.openxmlformats.org/drawingml/2006/table">
            <a:tbl>
              <a:tblPr/>
              <a:tblGrid>
                <a:gridCol w="3627120"/>
                <a:gridCol w="7040880"/>
              </a:tblGrid>
              <a:tr h="628650">
                <a:tc>
                  <a:txBody>
                    <a:bodyPr/>
                    <a:lstStyle/>
                    <a:p>
                      <a:r>
                        <a:rPr sz="1650" b="1">
                          <a:solidFill>
                            <a:srgbClr val="FFFFFF"/>
                          </a:solidFill>
                          <a:latin typeface="Arial"/>
                          <a:ea typeface="Arial"/>
                          <a:cs typeface="Arial"/>
                        </a:rPr>
                        <a:t>Study</a:t>
                      </a:r>
                    </a:p>
                  </a:txBody>
                  <a:tcPr marL="91440" marR="91440" marT="45720" marB="45720">
                    <a:lnL w="9525">
                      <a:solidFill>
                        <a:srgbClr val="CBD5DF"/>
                      </a:solidFill>
                      <a:prstDash val="solid"/>
                    </a:lnL>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c>
                  <a:txBody>
                    <a:bodyPr/>
                    <a:lstStyle/>
                    <a:p>
                      <a:r>
                        <a:rPr sz="1650" b="1">
                          <a:solidFill>
                            <a:srgbClr val="FFFFFF"/>
                          </a:solidFill>
                          <a:latin typeface="Arial"/>
                          <a:ea typeface="Arial"/>
                          <a:cs typeface="Arial"/>
                        </a:rPr>
                        <a:t>Fixed evaluation scope</a:t>
                      </a:r>
                    </a:p>
                  </a:txBody>
                  <a:tcPr marL="91440" marR="91440" marT="45720" marB="45720">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r>
              <a:tr h="628650">
                <a:tc>
                  <a:txBody>
                    <a:bodyPr/>
                    <a:lstStyle/>
                    <a:p>
                      <a:r>
                        <a:rPr sz="1650" b="0">
                          <a:solidFill>
                            <a:srgbClr val="122638"/>
                          </a:solidFill>
                          <a:latin typeface="Arial"/>
                          <a:ea typeface="Arial"/>
                          <a:cs typeface="Arial"/>
                        </a:rPr>
                        <a:t>Passage detection</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37 clean records + 111 attacked passages</a:t>
                      </a:r>
                    </a:p>
                  </a:txBody>
                  <a:tcPr marL="91440" marR="91440" marT="45720" marB="45720">
                    <a:lnR w="9525">
                      <a:solidFill>
                        <a:srgbClr val="CBD5DF"/>
                      </a:solidFill>
                      <a:prstDash val="solid"/>
                    </a:lnR>
                    <a:lnB w="9525">
                      <a:solidFill>
                        <a:srgbClr val="CBD5DF"/>
                      </a:solidFill>
                      <a:prstDash val="solid"/>
                    </a:lnB>
                    <a:solidFill>
                      <a:srgbClr val="FFFFFF"/>
                    </a:solidFill>
                  </a:tcPr>
                </a:tc>
              </a:tr>
              <a:tr h="628650">
                <a:tc>
                  <a:txBody>
                    <a:bodyPr/>
                    <a:lstStyle/>
                    <a:p>
                      <a:r>
                        <a:rPr sz="1650" b="0">
                          <a:solidFill>
                            <a:srgbClr val="122638"/>
                          </a:solidFill>
                          <a:latin typeface="Arial"/>
                          <a:ea typeface="Arial"/>
                          <a:cs typeface="Arial"/>
                        </a:rPr>
                        <a:t>Expanded RAG</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33 distinct emails × 4 templates × 2 positions</a:t>
                      </a:r>
                    </a:p>
                  </a:txBody>
                  <a:tcPr marL="91440" marR="91440" marT="45720" marB="45720">
                    <a:lnR w="9525">
                      <a:solidFill>
                        <a:srgbClr val="CBD5DF"/>
                      </a:solidFill>
                      <a:prstDash val="solid"/>
                    </a:lnR>
                    <a:lnB w="9525">
                      <a:solidFill>
                        <a:srgbClr val="CBD5DF"/>
                      </a:solidFill>
                      <a:prstDash val="solid"/>
                    </a:lnB>
                    <a:solidFill>
                      <a:srgbClr val="EAF0F4"/>
                    </a:solidFill>
                  </a:tcPr>
                </a:tc>
              </a:tr>
              <a:tr h="628650">
                <a:tc>
                  <a:txBody>
                    <a:bodyPr/>
                    <a:lstStyle/>
                    <a:p>
                      <a:r>
                        <a:rPr sz="1650" b="0">
                          <a:solidFill>
                            <a:srgbClr val="122638"/>
                          </a:solidFill>
                          <a:latin typeface="Arial"/>
                          <a:ea typeface="Arial"/>
                          <a:cs typeface="Arial"/>
                        </a:rPr>
                        <a:t>Per gate</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33 clean cases + 264 attacked variants</a:t>
                      </a:r>
                    </a:p>
                  </a:txBody>
                  <a:tcPr marL="91440" marR="91440" marT="45720" marB="45720">
                    <a:lnR w="9525">
                      <a:solidFill>
                        <a:srgbClr val="CBD5DF"/>
                      </a:solidFill>
                      <a:prstDash val="solid"/>
                    </a:lnR>
                    <a:lnB w="9525">
                      <a:solidFill>
                        <a:srgbClr val="CBD5DF"/>
                      </a:solidFill>
                      <a:prstDash val="solid"/>
                    </a:lnB>
                    <a:solidFill>
                      <a:srgbClr val="FFFFFF"/>
                    </a:solidFill>
                  </a:tcPr>
                </a:tc>
              </a:tr>
              <a:tr h="628650">
                <a:tc>
                  <a:txBody>
                    <a:bodyPr/>
                    <a:lstStyle/>
                    <a:p>
                      <a:r>
                        <a:rPr sz="1650" b="0">
                          <a:solidFill>
                            <a:srgbClr val="122638"/>
                          </a:solidFill>
                          <a:latin typeface="Arial"/>
                          <a:ea typeface="Arial"/>
                          <a:cs typeface="Arial"/>
                        </a:rPr>
                        <a:t>Diagnostics</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24 benign instructions; external model; mixed training</a:t>
                      </a:r>
                    </a:p>
                  </a:txBody>
                  <a:tcPr marL="91440" marR="91440" marT="45720" marB="45720">
                    <a:lnR w="9525">
                      <a:solidFill>
                        <a:srgbClr val="CBD5DF"/>
                      </a:solidFill>
                      <a:prstDash val="solid"/>
                    </a:lnR>
                    <a:lnB w="9525">
                      <a:solidFill>
                        <a:srgbClr val="CBD5DF"/>
                      </a:solidFill>
                      <a:prstDash val="solid"/>
                    </a:lnB>
                    <a:solidFill>
                      <a:srgbClr val="EAF0F4"/>
                    </a:solidFill>
                  </a:tcPr>
                </a:tc>
              </a:tr>
            </a:tbl>
          </a:graphicData>
        </a:graphic>
      </p:graphicFrame>
      <p:sp>
        <p:nvSpPr>
          <p:cNvPr id="5" name="">
            <a:extLst xmlns:a="http://schemas.openxmlformats.org/drawingml/2006/main">
              <a:ext uri="{FF2B5EF4-FFF2-40B4-BE49-F238E27FC236}">
                <a16:creationId xmlns:a16="http://schemas.microsoft.com/office/drawing/2014/main" id="{1E9A9083-4B79-4D0D-8618-F28AC2B2D588}"/>
              </a:ext>
            </a:extLst>
          </p:cNvPr>
          <p:cNvSpPr>
            <a:spLocks xmlns:a="http://schemas.openxmlformats.org/drawingml/2006/main" noGrp="1"/>
          </p:cNvSpPr>
          <p:nvPr/>
        </p:nvSpPr>
        <p:spPr>
          <a:xfrm xmlns:a="http://schemas.openxmlformats.org/drawingml/2006/main">
            <a:off x="685800" y="55245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87F8C"/>
                </a:solidFill>
                <a:latin typeface="Arial"/>
                <a:ea typeface="Arial"/>
                <a:cs typeface="Arial"/>
              </a:defRPr>
            </a:defPPr>
            <a:lvl1pPr>
              <a:defRPr sz="2025" b="1">
                <a:solidFill>
                  <a:srgbClr val="087F8C"/>
                </a:solidFill>
                <a:latin typeface="Arial"/>
                <a:ea typeface="Arial"/>
                <a:cs typeface="Arial"/>
              </a:defRPr>
            </a:lvl1pPr>
            <a:lvl2pPr>
              <a:defRPr sz="2025" b="1">
                <a:solidFill>
                  <a:srgbClr val="087F8C"/>
                </a:solidFill>
                <a:latin typeface="Arial"/>
                <a:ea typeface="Arial"/>
                <a:cs typeface="Arial"/>
              </a:defRPr>
            </a:lvl2pPr>
            <a:lvl3pPr>
              <a:defRPr sz="2025" b="1">
                <a:solidFill>
                  <a:srgbClr val="087F8C"/>
                </a:solidFill>
                <a:latin typeface="Arial"/>
                <a:ea typeface="Arial"/>
                <a:cs typeface="Arial"/>
              </a:defRPr>
            </a:lvl3pPr>
            <a:lvl4pPr>
              <a:defRPr sz="2025" b="1">
                <a:solidFill>
                  <a:srgbClr val="087F8C"/>
                </a:solidFill>
                <a:latin typeface="Arial"/>
                <a:ea typeface="Arial"/>
                <a:cs typeface="Arial"/>
              </a:defRPr>
            </a:lvl4pPr>
            <a:lvl5pPr>
              <a:defRPr sz="2025" b="1">
                <a:solidFill>
                  <a:srgbClr val="087F8C"/>
                </a:solidFill>
                <a:latin typeface="Arial"/>
                <a:ea typeface="Arial"/>
                <a:cs typeface="Arial"/>
              </a:defRPr>
            </a:lvl5pPr>
            <a:lvl6pPr>
              <a:defRPr sz="2025" b="1">
                <a:solidFill>
                  <a:srgbClr val="087F8C"/>
                </a:solidFill>
                <a:latin typeface="Arial"/>
                <a:ea typeface="Arial"/>
                <a:cs typeface="Arial"/>
              </a:defRPr>
            </a:lvl6pPr>
            <a:lvl7pPr>
              <a:defRPr sz="2025" b="1">
                <a:solidFill>
                  <a:srgbClr val="087F8C"/>
                </a:solidFill>
                <a:latin typeface="Arial"/>
                <a:ea typeface="Arial"/>
                <a:cs typeface="Arial"/>
              </a:defRPr>
            </a:lvl7pPr>
            <a:lvl8pPr>
              <a:defRPr sz="2025" b="1">
                <a:solidFill>
                  <a:srgbClr val="087F8C"/>
                </a:solidFill>
                <a:latin typeface="Arial"/>
                <a:ea typeface="Arial"/>
                <a:cs typeface="Arial"/>
              </a:defRPr>
            </a:lvl8pPr>
            <a:lvl9pPr>
              <a:defRPr sz="2025" b="1">
                <a:solidFill>
                  <a:srgbClr val="087F8C"/>
                </a:solidFill>
                <a:latin typeface="Arial"/>
                <a:ea typeface="Arial"/>
                <a:cs typeface="Arial"/>
              </a:defRPr>
            </a:lvl9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Cluster uncertainty by email; use uncached pilot for latency</a:t>
            </a:r>
          </a:p>
        </p:txBody>
      </p:sp>
    </p:spTree>
    <p:extLst>
      <p:ext uri="{BB962C8B-B14F-4D97-AF65-F5344CB8AC3E}">
        <p14:creationId xmlns:p14="http://schemas.microsoft.com/office/powerpoint/2010/main" val="840577338"/>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8739DE7-8EBF-4144-B6AF-E500AB5AEA78}"/>
              </a:ext>
            </a:extLst>
          </p:cNvPr>
          <p:cNvSpPr>
            <a:spLocks xmlns:a="http://schemas.openxmlformats.org/drawingml/2006/main" noGrp="1"/>
          </p:cNvSpPr>
          <p:nvPr/>
        </p:nvSpPr>
        <p:spPr>
          <a:xfrm xmlns:a="http://schemas.openxmlformats.org/drawingml/2006/main">
            <a:off x="685800" y="476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132D46"/>
                </a:solidFill>
                <a:latin typeface="Arial"/>
                <a:ea typeface="Arial"/>
                <a:cs typeface="Arial"/>
              </a:defRPr>
            </a:defPPr>
            <a:lvl1pPr>
              <a:defRPr sz="3000" b="1">
                <a:solidFill>
                  <a:srgbClr val="132D46"/>
                </a:solidFill>
                <a:latin typeface="Arial"/>
                <a:ea typeface="Arial"/>
                <a:cs typeface="Arial"/>
              </a:defRPr>
            </a:lvl1pPr>
            <a:lvl2pPr>
              <a:defRPr sz="3000" b="1">
                <a:solidFill>
                  <a:srgbClr val="132D46"/>
                </a:solidFill>
                <a:latin typeface="Arial"/>
                <a:ea typeface="Arial"/>
                <a:cs typeface="Arial"/>
              </a:defRPr>
            </a:lvl2pPr>
            <a:lvl3pPr>
              <a:defRPr sz="3000" b="1">
                <a:solidFill>
                  <a:srgbClr val="132D46"/>
                </a:solidFill>
                <a:latin typeface="Arial"/>
                <a:ea typeface="Arial"/>
                <a:cs typeface="Arial"/>
              </a:defRPr>
            </a:lvl3pPr>
            <a:lvl4pPr>
              <a:defRPr sz="3000" b="1">
                <a:solidFill>
                  <a:srgbClr val="132D46"/>
                </a:solidFill>
                <a:latin typeface="Arial"/>
                <a:ea typeface="Arial"/>
                <a:cs typeface="Arial"/>
              </a:defRPr>
            </a:lvl4pPr>
            <a:lvl5pPr>
              <a:defRPr sz="3000" b="1">
                <a:solidFill>
                  <a:srgbClr val="132D46"/>
                </a:solidFill>
                <a:latin typeface="Arial"/>
                <a:ea typeface="Arial"/>
                <a:cs typeface="Arial"/>
              </a:defRPr>
            </a:lvl5pPr>
            <a:lvl6pPr>
              <a:defRPr sz="3000" b="1">
                <a:solidFill>
                  <a:srgbClr val="132D46"/>
                </a:solidFill>
                <a:latin typeface="Arial"/>
                <a:ea typeface="Arial"/>
                <a:cs typeface="Arial"/>
              </a:defRPr>
            </a:lvl6pPr>
            <a:lvl7pPr>
              <a:defRPr sz="3000" b="1">
                <a:solidFill>
                  <a:srgbClr val="132D46"/>
                </a:solidFill>
                <a:latin typeface="Arial"/>
                <a:ea typeface="Arial"/>
                <a:cs typeface="Arial"/>
              </a:defRPr>
            </a:lvl7pPr>
            <a:lvl8pPr>
              <a:defRPr sz="3000" b="1">
                <a:solidFill>
                  <a:srgbClr val="132D46"/>
                </a:solidFill>
                <a:latin typeface="Arial"/>
                <a:ea typeface="Arial"/>
                <a:cs typeface="Arial"/>
              </a:defRPr>
            </a:lvl8pPr>
            <a:lvl9pPr>
              <a:defRPr sz="3000" b="1">
                <a:solidFill>
                  <a:srgbClr val="132D46"/>
                </a:solidFill>
                <a:latin typeface="Arial"/>
                <a:ea typeface="Arial"/>
                <a:cs typeface="Arial"/>
              </a:defRPr>
            </a:lvl9pPr>
          </a:lstStyle>
          <a:p xmlns:a="http://schemas.openxmlformats.org/drawingml/2006/main">
            <a:pPr>
              <a:defRPr sz="3000" b="1">
                <a:solidFill>
                  <a:srgbClr val="132D46"/>
                </a:solidFill>
                <a:latin typeface="Arial"/>
                <a:ea typeface="Arial"/>
                <a:cs typeface="Arial"/>
              </a:defRPr>
            </a:pPr>
            <a:r>
              <a:rPr sz="3000" b="1">
                <a:solidFill>
                  <a:srgbClr val="132D46"/>
                </a:solidFill>
                <a:latin typeface="Arial"/>
                <a:ea typeface="Arial"/>
                <a:cs typeface="Arial"/>
              </a:rPr>
              <a:t>Detection gains depend on the operating point</a:t>
            </a:r>
          </a:p>
        </p:txBody>
      </p:sp>
      <p:sp>
        <p:nvSpPr>
          <p:cNvPr id="2" name="">
            <a:extLst xmlns:a="http://schemas.openxmlformats.org/drawingml/2006/main">
              <a:ext uri="{FF2B5EF4-FFF2-40B4-BE49-F238E27FC236}">
                <a16:creationId xmlns:a16="http://schemas.microsoft.com/office/drawing/2014/main" id="{72F3807C-AF6C-4E2C-BE32-EBE015E98E2E}"/>
              </a:ext>
            </a:extLst>
          </p:cNvPr>
          <p:cNvSpPr>
            <a:spLocks xmlns:a="http://schemas.openxmlformats.org/drawingml/2006/main" noGrp="1"/>
          </p:cNvSpPr>
          <p:nvPr/>
        </p:nvSpPr>
        <p:spPr>
          <a:xfrm xmlns:a="http://schemas.openxmlformats.org/drawingml/2006/main">
            <a:off x="685800" y="1485900"/>
            <a:ext cx="800100" cy="476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8194D17-F449-42DB-9922-8C79D4B277D9}"/>
              </a:ext>
            </a:extLst>
          </p:cNvPr>
          <p:cNvSpPr>
            <a:spLocks xmlns:a="http://schemas.openxmlformats.org/drawingml/2006/main" noGrp="1"/>
          </p:cNvSpPr>
          <p:nvPr/>
        </p:nvSpPr>
        <p:spPr>
          <a:xfrm xmlns:a="http://schemas.openxmlformats.org/drawingml/2006/main">
            <a:off x="11191875" y="6334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4"/>
                </a:solidFill>
                <a:latin typeface="Arial"/>
                <a:ea typeface="Arial"/>
                <a:cs typeface="Arial"/>
              </a:defRPr>
            </a:defPPr>
            <a:lvl1pPr>
              <a:defRPr sz="1200" b="0">
                <a:solidFill>
                  <a:srgbClr val="526574"/>
                </a:solidFill>
                <a:latin typeface="Arial"/>
                <a:ea typeface="Arial"/>
                <a:cs typeface="Arial"/>
              </a:defRPr>
            </a:lvl1pPr>
            <a:lvl2pPr>
              <a:defRPr sz="1200" b="0">
                <a:solidFill>
                  <a:srgbClr val="526574"/>
                </a:solidFill>
                <a:latin typeface="Arial"/>
                <a:ea typeface="Arial"/>
                <a:cs typeface="Arial"/>
              </a:defRPr>
            </a:lvl2pPr>
            <a:lvl3pPr>
              <a:defRPr sz="1200" b="0">
                <a:solidFill>
                  <a:srgbClr val="526574"/>
                </a:solidFill>
                <a:latin typeface="Arial"/>
                <a:ea typeface="Arial"/>
                <a:cs typeface="Arial"/>
              </a:defRPr>
            </a:lvl3pPr>
            <a:lvl4pPr>
              <a:defRPr sz="1200" b="0">
                <a:solidFill>
                  <a:srgbClr val="526574"/>
                </a:solidFill>
                <a:latin typeface="Arial"/>
                <a:ea typeface="Arial"/>
                <a:cs typeface="Arial"/>
              </a:defRPr>
            </a:lvl4pPr>
            <a:lvl5pPr>
              <a:defRPr sz="1200" b="0">
                <a:solidFill>
                  <a:srgbClr val="526574"/>
                </a:solidFill>
                <a:latin typeface="Arial"/>
                <a:ea typeface="Arial"/>
                <a:cs typeface="Arial"/>
              </a:defRPr>
            </a:lvl5pPr>
            <a:lvl6pPr>
              <a:defRPr sz="1200" b="0">
                <a:solidFill>
                  <a:srgbClr val="526574"/>
                </a:solidFill>
                <a:latin typeface="Arial"/>
                <a:ea typeface="Arial"/>
                <a:cs typeface="Arial"/>
              </a:defRPr>
            </a:lvl6pPr>
            <a:lvl7pPr>
              <a:defRPr sz="1200" b="0">
                <a:solidFill>
                  <a:srgbClr val="526574"/>
                </a:solidFill>
                <a:latin typeface="Arial"/>
                <a:ea typeface="Arial"/>
                <a:cs typeface="Arial"/>
              </a:defRPr>
            </a:lvl7pPr>
            <a:lvl8pPr>
              <a:defRPr sz="1200" b="0">
                <a:solidFill>
                  <a:srgbClr val="526574"/>
                </a:solidFill>
                <a:latin typeface="Arial"/>
                <a:ea typeface="Arial"/>
                <a:cs typeface="Arial"/>
              </a:defRPr>
            </a:lvl8pPr>
            <a:lvl9pPr>
              <a:defRPr sz="1200" b="0">
                <a:solidFill>
                  <a:srgbClr val="526574"/>
                </a:solidFill>
                <a:latin typeface="Arial"/>
                <a:ea typeface="Arial"/>
                <a:cs typeface="Arial"/>
              </a:defRPr>
            </a:lvl9pPr>
          </a:lstStyle>
          <a:p xmlns:a="http://schemas.openxmlformats.org/drawingml/2006/main">
            <a:pPr>
              <a:defRPr sz="1200" b="0">
                <a:solidFill>
                  <a:srgbClr val="526574"/>
                </a:solidFill>
                <a:latin typeface="Arial"/>
                <a:ea typeface="Arial"/>
                <a:cs typeface="Arial"/>
              </a:defRPr>
            </a:pPr>
            <a:r>
              <a:rPr sz="1200" b="0">
                <a:solidFill>
                  <a:srgbClr val="526574"/>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176F3F16-F4C9-42CD-81DA-EF6B6E33E9FB}"/>
              </a:ext>
            </a:extLst>
          </p:cNvPr>
          <p:cNvGraphicFramePr/>
          <p:nvPr/>
        </p:nvGraphicFramePr>
        <p:xfrm>
          <a:off xmlns:a="http://schemas.openxmlformats.org/drawingml/2006/main" x="685800" y="1952625"/>
          <a:ext xmlns:a="http://schemas.openxmlformats.org/drawingml/2006/main" cx="10668000" cy="3381375"/>
        </p:xfrm>
        <a:graphic xmlns:a="http://schemas.openxmlformats.org/drawingml/2006/main">
          <a:graphicData uri="http://schemas.openxmlformats.org/drawingml/2006/table">
            <a:tbl>
              <a:tblPr/>
              <a:tblGrid>
                <a:gridCol w="3627120"/>
                <a:gridCol w="2346960"/>
                <a:gridCol w="2346960"/>
                <a:gridCol w="2346960"/>
              </a:tblGrid>
              <a:tr h="563563">
                <a:tc>
                  <a:txBody>
                    <a:bodyPr/>
                    <a:lstStyle/>
                    <a:p>
                      <a:r>
                        <a:rPr sz="1650" b="1">
                          <a:solidFill>
                            <a:srgbClr val="FFFFFF"/>
                          </a:solidFill>
                          <a:latin typeface="Arial"/>
                          <a:ea typeface="Arial"/>
                          <a:cs typeface="Arial"/>
                        </a:rPr>
                        <a:t>Detector</a:t>
                      </a:r>
                    </a:p>
                  </a:txBody>
                  <a:tcPr marL="91440" marR="91440" marT="45720" marB="45720">
                    <a:lnL w="9525">
                      <a:solidFill>
                        <a:srgbClr val="CBD5DF"/>
                      </a:solidFill>
                      <a:prstDash val="solid"/>
                    </a:lnL>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c>
                  <a:txBody>
                    <a:bodyPr/>
                    <a:lstStyle/>
                    <a:p>
                      <a:r>
                        <a:rPr sz="1650" b="1">
                          <a:solidFill>
                            <a:srgbClr val="FFFFFF"/>
                          </a:solidFill>
                          <a:latin typeface="Arial"/>
                          <a:ea typeface="Arial"/>
                          <a:cs typeface="Arial"/>
                        </a:rPr>
                        <a:t>Attacks /111</a:t>
                      </a:r>
                    </a:p>
                  </a:txBody>
                  <a:tcPr marL="91440" marR="91440" marT="45720" marB="45720">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c>
                  <a:txBody>
                    <a:bodyPr/>
                    <a:lstStyle/>
                    <a:p>
                      <a:r>
                        <a:rPr sz="1650" b="1">
                          <a:solidFill>
                            <a:srgbClr val="FFFFFF"/>
                          </a:solidFill>
                          <a:latin typeface="Arial"/>
                          <a:ea typeface="Arial"/>
                          <a:cs typeface="Arial"/>
                        </a:rPr>
                        <a:t>Clean rejects /37</a:t>
                      </a:r>
                    </a:p>
                  </a:txBody>
                  <a:tcPr marL="91440" marR="91440" marT="45720" marB="45720">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c>
                  <a:txBody>
                    <a:bodyPr/>
                    <a:lstStyle/>
                    <a:p>
                      <a:r>
                        <a:rPr sz="1650" b="1">
                          <a:solidFill>
                            <a:srgbClr val="FFFFFF"/>
                          </a:solidFill>
                          <a:latin typeface="Arial"/>
                          <a:ea typeface="Arial"/>
                          <a:cs typeface="Arial"/>
                        </a:rPr>
                        <a:t>Recall</a:t>
                      </a:r>
                    </a:p>
                  </a:txBody>
                  <a:tcPr marL="91440" marR="91440" marT="45720" marB="45720">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r>
              <a:tr h="563563">
                <a:tc>
                  <a:txBody>
                    <a:bodyPr/>
                    <a:lstStyle/>
                    <a:p>
                      <a:r>
                        <a:rPr sz="1650" b="0">
                          <a:solidFill>
                            <a:srgbClr val="122638"/>
                          </a:solidFill>
                          <a:latin typeface="Arial"/>
                          <a:ea typeface="Arial"/>
                          <a:cs typeface="Arial"/>
                        </a:rPr>
                        <a:t>Rules</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63</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0</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56.8%</a:t>
                      </a:r>
                    </a:p>
                  </a:txBody>
                  <a:tcPr marL="91440" marR="91440" marT="45720" marB="45720">
                    <a:lnR w="9525">
                      <a:solidFill>
                        <a:srgbClr val="CBD5DF"/>
                      </a:solidFill>
                      <a:prstDash val="solid"/>
                    </a:lnR>
                    <a:lnB w="9525">
                      <a:solidFill>
                        <a:srgbClr val="CBD5DF"/>
                      </a:solidFill>
                      <a:prstDash val="solid"/>
                    </a:lnB>
                    <a:solidFill>
                      <a:srgbClr val="FFFFFF"/>
                    </a:solidFill>
                  </a:tcPr>
                </a:tc>
              </a:tr>
              <a:tr h="563563">
                <a:tc>
                  <a:txBody>
                    <a:bodyPr/>
                    <a:lstStyle/>
                    <a:p>
                      <a:r>
                        <a:rPr sz="1650" b="0">
                          <a:solidFill>
                            <a:srgbClr val="122638"/>
                          </a:solidFill>
                          <a:latin typeface="Arial"/>
                          <a:ea typeface="Arial"/>
                          <a:cs typeface="Arial"/>
                        </a:rPr>
                        <a:t>BERT probe</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22</a:t>
                      </a:r>
                    </a:p>
                  </a:txBody>
                  <a:tcPr marL="91440" marR="91440" marT="45720" marB="45720">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0</a:t>
                      </a:r>
                    </a:p>
                  </a:txBody>
                  <a:tcPr marL="91440" marR="91440" marT="45720" marB="45720">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19.8%</a:t>
                      </a:r>
                    </a:p>
                  </a:txBody>
                  <a:tcPr marL="91440" marR="91440" marT="45720" marB="45720">
                    <a:lnR w="9525">
                      <a:solidFill>
                        <a:srgbClr val="CBD5DF"/>
                      </a:solidFill>
                      <a:prstDash val="solid"/>
                    </a:lnR>
                    <a:lnB w="9525">
                      <a:solidFill>
                        <a:srgbClr val="CBD5DF"/>
                      </a:solidFill>
                      <a:prstDash val="solid"/>
                    </a:lnB>
                    <a:solidFill>
                      <a:srgbClr val="EAF0F4"/>
                    </a:solidFill>
                  </a:tcPr>
                </a:tc>
              </a:tr>
              <a:tr h="563563">
                <a:tc>
                  <a:txBody>
                    <a:bodyPr/>
                    <a:lstStyle/>
                    <a:p>
                      <a:r>
                        <a:rPr sz="1650" b="0">
                          <a:solidFill>
                            <a:srgbClr val="122638"/>
                          </a:solidFill>
                          <a:latin typeface="Arial"/>
                          <a:ea typeface="Arial"/>
                          <a:cs typeface="Arial"/>
                        </a:rPr>
                        <a:t>Two signals</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74</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0</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66.7%</a:t>
                      </a:r>
                    </a:p>
                  </a:txBody>
                  <a:tcPr marL="91440" marR="91440" marT="45720" marB="45720">
                    <a:lnR w="9525">
                      <a:solidFill>
                        <a:srgbClr val="CBD5DF"/>
                      </a:solidFill>
                      <a:prstDash val="solid"/>
                    </a:lnR>
                    <a:lnB w="9525">
                      <a:solidFill>
                        <a:srgbClr val="CBD5DF"/>
                      </a:solidFill>
                      <a:prstDash val="solid"/>
                    </a:lnB>
                    <a:solidFill>
                      <a:srgbClr val="FFFFFF"/>
                    </a:solidFill>
                  </a:tcPr>
                </a:tc>
              </a:tr>
              <a:tr h="563563">
                <a:tc>
                  <a:txBody>
                    <a:bodyPr/>
                    <a:lstStyle/>
                    <a:p>
                      <a:r>
                        <a:rPr sz="1650" b="0">
                          <a:solidFill>
                            <a:srgbClr val="122638"/>
                          </a:solidFill>
                          <a:latin typeface="Arial"/>
                          <a:ea typeface="Arial"/>
                          <a:cs typeface="Arial"/>
                        </a:rPr>
                        <a:t>Mixed-window probe</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13</a:t>
                      </a:r>
                    </a:p>
                  </a:txBody>
                  <a:tcPr marL="91440" marR="91440" marT="45720" marB="45720">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0</a:t>
                      </a:r>
                    </a:p>
                  </a:txBody>
                  <a:tcPr marL="91440" marR="91440" marT="45720" marB="45720">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11.7%</a:t>
                      </a:r>
                    </a:p>
                  </a:txBody>
                  <a:tcPr marL="91440" marR="91440" marT="45720" marB="45720">
                    <a:lnR w="9525">
                      <a:solidFill>
                        <a:srgbClr val="CBD5DF"/>
                      </a:solidFill>
                      <a:prstDash val="solid"/>
                    </a:lnR>
                    <a:lnB w="9525">
                      <a:solidFill>
                        <a:srgbClr val="CBD5DF"/>
                      </a:solidFill>
                      <a:prstDash val="solid"/>
                    </a:lnB>
                    <a:solidFill>
                      <a:srgbClr val="EAF0F4"/>
                    </a:solidFill>
                  </a:tcPr>
                </a:tc>
              </a:tr>
              <a:tr h="563563">
                <a:tc>
                  <a:txBody>
                    <a:bodyPr/>
                    <a:lstStyle/>
                    <a:p>
                      <a:r>
                        <a:rPr sz="1650" b="0">
                          <a:solidFill>
                            <a:srgbClr val="122638"/>
                          </a:solidFill>
                          <a:latin typeface="Arial"/>
                          <a:ea typeface="Arial"/>
                          <a:cs typeface="Arial"/>
                        </a:rPr>
                        <a:t>ProtectAI DeBERTa</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73</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31</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65.8%</a:t>
                      </a:r>
                    </a:p>
                  </a:txBody>
                  <a:tcPr marL="91440" marR="91440" marT="45720" marB="45720">
                    <a:lnR w="9525">
                      <a:solidFill>
                        <a:srgbClr val="CBD5DF"/>
                      </a:solidFill>
                      <a:prstDash val="solid"/>
                    </a:lnR>
                    <a:lnB w="9525">
                      <a:solidFill>
                        <a:srgbClr val="CBD5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B08D360-74A0-450C-A34D-7DE1F9B62655}"/>
              </a:ext>
            </a:extLst>
          </p:cNvPr>
          <p:cNvSpPr>
            <a:spLocks xmlns:a="http://schemas.openxmlformats.org/drawingml/2006/main" noGrp="1"/>
          </p:cNvSpPr>
          <p:nvPr/>
        </p:nvSpPr>
        <p:spPr>
          <a:xfrm xmlns:a="http://schemas.openxmlformats.org/drawingml/2006/main">
            <a:off x="685800" y="5619750"/>
            <a:ext cx="1066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526574"/>
                </a:solidFill>
                <a:latin typeface="Arial"/>
                <a:ea typeface="Arial"/>
                <a:cs typeface="Arial"/>
              </a:defRPr>
            </a:defPPr>
            <a:lvl1pPr>
              <a:defRPr sz="1875" b="0">
                <a:solidFill>
                  <a:srgbClr val="526574"/>
                </a:solidFill>
                <a:latin typeface="Arial"/>
                <a:ea typeface="Arial"/>
                <a:cs typeface="Arial"/>
              </a:defRPr>
            </a:lvl1pPr>
            <a:lvl2pPr>
              <a:defRPr sz="1875" b="0">
                <a:solidFill>
                  <a:srgbClr val="526574"/>
                </a:solidFill>
                <a:latin typeface="Arial"/>
                <a:ea typeface="Arial"/>
                <a:cs typeface="Arial"/>
              </a:defRPr>
            </a:lvl2pPr>
            <a:lvl3pPr>
              <a:defRPr sz="1875" b="0">
                <a:solidFill>
                  <a:srgbClr val="526574"/>
                </a:solidFill>
                <a:latin typeface="Arial"/>
                <a:ea typeface="Arial"/>
                <a:cs typeface="Arial"/>
              </a:defRPr>
            </a:lvl3pPr>
            <a:lvl4pPr>
              <a:defRPr sz="1875" b="0">
                <a:solidFill>
                  <a:srgbClr val="526574"/>
                </a:solidFill>
                <a:latin typeface="Arial"/>
                <a:ea typeface="Arial"/>
                <a:cs typeface="Arial"/>
              </a:defRPr>
            </a:lvl4pPr>
            <a:lvl5pPr>
              <a:defRPr sz="1875" b="0">
                <a:solidFill>
                  <a:srgbClr val="526574"/>
                </a:solidFill>
                <a:latin typeface="Arial"/>
                <a:ea typeface="Arial"/>
                <a:cs typeface="Arial"/>
              </a:defRPr>
            </a:lvl5pPr>
            <a:lvl6pPr>
              <a:defRPr sz="1875" b="0">
                <a:solidFill>
                  <a:srgbClr val="526574"/>
                </a:solidFill>
                <a:latin typeface="Arial"/>
                <a:ea typeface="Arial"/>
                <a:cs typeface="Arial"/>
              </a:defRPr>
            </a:lvl6pPr>
            <a:lvl7pPr>
              <a:defRPr sz="1875" b="0">
                <a:solidFill>
                  <a:srgbClr val="526574"/>
                </a:solidFill>
                <a:latin typeface="Arial"/>
                <a:ea typeface="Arial"/>
                <a:cs typeface="Arial"/>
              </a:defRPr>
            </a:lvl7pPr>
            <a:lvl8pPr>
              <a:defRPr sz="1875" b="0">
                <a:solidFill>
                  <a:srgbClr val="526574"/>
                </a:solidFill>
                <a:latin typeface="Arial"/>
                <a:ea typeface="Arial"/>
                <a:cs typeface="Arial"/>
              </a:defRPr>
            </a:lvl8pPr>
            <a:lvl9pPr>
              <a:defRPr sz="1875" b="0">
                <a:solidFill>
                  <a:srgbClr val="526574"/>
                </a:solidFill>
                <a:latin typeface="Arial"/>
                <a:ea typeface="Arial"/>
                <a:cs typeface="Arial"/>
              </a:defRPr>
            </a:lvl9pPr>
          </a:lstStyle>
          <a:p xmlns:a="http://schemas.openxmlformats.org/drawingml/2006/main">
            <a:pPr>
              <a:defRPr sz="1875" b="0">
                <a:solidFill>
                  <a:srgbClr val="526574"/>
                </a:solidFill>
                <a:latin typeface="Arial"/>
                <a:ea typeface="Arial"/>
                <a:cs typeface="Arial"/>
              </a:defRPr>
            </a:pPr>
            <a:r>
              <a:rPr sz="1875" b="0">
                <a:solidFill>
                  <a:srgbClr val="526574"/>
                </a:solidFill>
                <a:latin typeface="Arial"/>
                <a:ea typeface="Arial"/>
                <a:cs typeface="Arial"/>
              </a:rPr>
              <a:t>External model: fixed 0.5 threshold, explicit passage-window wrapper</a:t>
            </a:r>
          </a:p>
        </p:txBody>
      </p:sp>
    </p:spTree>
    <p:extLst>
      <p:ext uri="{BB962C8B-B14F-4D97-AF65-F5344CB8AC3E}">
        <p14:creationId xmlns:p14="http://schemas.microsoft.com/office/powerpoint/2010/main" val="806661093"/>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117E9F-B73D-4AE6-BA45-7A852F166FB5}"/>
              </a:ext>
            </a:extLst>
          </p:cNvPr>
          <p:cNvSpPr>
            <a:spLocks xmlns:a="http://schemas.openxmlformats.org/drawingml/2006/main" noGrp="1"/>
          </p:cNvSpPr>
          <p:nvPr/>
        </p:nvSpPr>
        <p:spPr>
          <a:xfrm xmlns:a="http://schemas.openxmlformats.org/drawingml/2006/main">
            <a:off x="685800" y="476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132D46"/>
                </a:solidFill>
                <a:latin typeface="Arial"/>
                <a:ea typeface="Arial"/>
                <a:cs typeface="Arial"/>
              </a:defRPr>
            </a:defPPr>
            <a:lvl1pPr>
              <a:defRPr sz="3000" b="1">
                <a:solidFill>
                  <a:srgbClr val="132D46"/>
                </a:solidFill>
                <a:latin typeface="Arial"/>
                <a:ea typeface="Arial"/>
                <a:cs typeface="Arial"/>
              </a:defRPr>
            </a:lvl1pPr>
            <a:lvl2pPr>
              <a:defRPr sz="3000" b="1">
                <a:solidFill>
                  <a:srgbClr val="132D46"/>
                </a:solidFill>
                <a:latin typeface="Arial"/>
                <a:ea typeface="Arial"/>
                <a:cs typeface="Arial"/>
              </a:defRPr>
            </a:lvl2pPr>
            <a:lvl3pPr>
              <a:defRPr sz="3000" b="1">
                <a:solidFill>
                  <a:srgbClr val="132D46"/>
                </a:solidFill>
                <a:latin typeface="Arial"/>
                <a:ea typeface="Arial"/>
                <a:cs typeface="Arial"/>
              </a:defRPr>
            </a:lvl3pPr>
            <a:lvl4pPr>
              <a:defRPr sz="3000" b="1">
                <a:solidFill>
                  <a:srgbClr val="132D46"/>
                </a:solidFill>
                <a:latin typeface="Arial"/>
                <a:ea typeface="Arial"/>
                <a:cs typeface="Arial"/>
              </a:defRPr>
            </a:lvl4pPr>
            <a:lvl5pPr>
              <a:defRPr sz="3000" b="1">
                <a:solidFill>
                  <a:srgbClr val="132D46"/>
                </a:solidFill>
                <a:latin typeface="Arial"/>
                <a:ea typeface="Arial"/>
                <a:cs typeface="Arial"/>
              </a:defRPr>
            </a:lvl5pPr>
            <a:lvl6pPr>
              <a:defRPr sz="3000" b="1">
                <a:solidFill>
                  <a:srgbClr val="132D46"/>
                </a:solidFill>
                <a:latin typeface="Arial"/>
                <a:ea typeface="Arial"/>
                <a:cs typeface="Arial"/>
              </a:defRPr>
            </a:lvl6pPr>
            <a:lvl7pPr>
              <a:defRPr sz="3000" b="1">
                <a:solidFill>
                  <a:srgbClr val="132D46"/>
                </a:solidFill>
                <a:latin typeface="Arial"/>
                <a:ea typeface="Arial"/>
                <a:cs typeface="Arial"/>
              </a:defRPr>
            </a:lvl7pPr>
            <a:lvl8pPr>
              <a:defRPr sz="3000" b="1">
                <a:solidFill>
                  <a:srgbClr val="132D46"/>
                </a:solidFill>
                <a:latin typeface="Arial"/>
                <a:ea typeface="Arial"/>
                <a:cs typeface="Arial"/>
              </a:defRPr>
            </a:lvl8pPr>
            <a:lvl9pPr>
              <a:defRPr sz="3000" b="1">
                <a:solidFill>
                  <a:srgbClr val="132D46"/>
                </a:solidFill>
                <a:latin typeface="Arial"/>
                <a:ea typeface="Arial"/>
                <a:cs typeface="Arial"/>
              </a:defRPr>
            </a:lvl9pPr>
          </a:lstStyle>
          <a:p xmlns:a="http://schemas.openxmlformats.org/drawingml/2006/main">
            <a:pPr>
              <a:defRPr sz="3000" b="1">
                <a:solidFill>
                  <a:srgbClr val="132D46"/>
                </a:solidFill>
                <a:latin typeface="Arial"/>
                <a:ea typeface="Arial"/>
                <a:cs typeface="Arial"/>
              </a:defRPr>
            </a:pPr>
            <a:r>
              <a:rPr sz="3000" b="1">
                <a:solidFill>
                  <a:srgbClr val="132D46"/>
                </a:solidFill>
                <a:latin typeface="Arial"/>
                <a:ea typeface="Arial"/>
                <a:cs typeface="Arial"/>
              </a:rPr>
              <a:t>Generated answers reveal the downstream effect</a:t>
            </a:r>
          </a:p>
        </p:txBody>
      </p:sp>
      <p:sp>
        <p:nvSpPr>
          <p:cNvPr id="2" name="">
            <a:extLst xmlns:a="http://schemas.openxmlformats.org/drawingml/2006/main">
              <a:ext uri="{FF2B5EF4-FFF2-40B4-BE49-F238E27FC236}">
                <a16:creationId xmlns:a16="http://schemas.microsoft.com/office/drawing/2014/main" id="{5521F3C8-3B3E-4581-9780-CE072EF9F60B}"/>
              </a:ext>
            </a:extLst>
          </p:cNvPr>
          <p:cNvSpPr>
            <a:spLocks xmlns:a="http://schemas.openxmlformats.org/drawingml/2006/main" noGrp="1"/>
          </p:cNvSpPr>
          <p:nvPr/>
        </p:nvSpPr>
        <p:spPr>
          <a:xfrm xmlns:a="http://schemas.openxmlformats.org/drawingml/2006/main">
            <a:off x="685800" y="1485900"/>
            <a:ext cx="800100" cy="476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8D86262-74CA-49C0-B83F-67287E01755D}"/>
              </a:ext>
            </a:extLst>
          </p:cNvPr>
          <p:cNvSpPr>
            <a:spLocks xmlns:a="http://schemas.openxmlformats.org/drawingml/2006/main" noGrp="1"/>
          </p:cNvSpPr>
          <p:nvPr/>
        </p:nvSpPr>
        <p:spPr>
          <a:xfrm xmlns:a="http://schemas.openxmlformats.org/drawingml/2006/main">
            <a:off x="11191875" y="6334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4"/>
                </a:solidFill>
                <a:latin typeface="Arial"/>
                <a:ea typeface="Arial"/>
                <a:cs typeface="Arial"/>
              </a:defRPr>
            </a:defPPr>
            <a:lvl1pPr>
              <a:defRPr sz="1200" b="0">
                <a:solidFill>
                  <a:srgbClr val="526574"/>
                </a:solidFill>
                <a:latin typeface="Arial"/>
                <a:ea typeface="Arial"/>
                <a:cs typeface="Arial"/>
              </a:defRPr>
            </a:lvl1pPr>
            <a:lvl2pPr>
              <a:defRPr sz="1200" b="0">
                <a:solidFill>
                  <a:srgbClr val="526574"/>
                </a:solidFill>
                <a:latin typeface="Arial"/>
                <a:ea typeface="Arial"/>
                <a:cs typeface="Arial"/>
              </a:defRPr>
            </a:lvl2pPr>
            <a:lvl3pPr>
              <a:defRPr sz="1200" b="0">
                <a:solidFill>
                  <a:srgbClr val="526574"/>
                </a:solidFill>
                <a:latin typeface="Arial"/>
                <a:ea typeface="Arial"/>
                <a:cs typeface="Arial"/>
              </a:defRPr>
            </a:lvl3pPr>
            <a:lvl4pPr>
              <a:defRPr sz="1200" b="0">
                <a:solidFill>
                  <a:srgbClr val="526574"/>
                </a:solidFill>
                <a:latin typeface="Arial"/>
                <a:ea typeface="Arial"/>
                <a:cs typeface="Arial"/>
              </a:defRPr>
            </a:lvl4pPr>
            <a:lvl5pPr>
              <a:defRPr sz="1200" b="0">
                <a:solidFill>
                  <a:srgbClr val="526574"/>
                </a:solidFill>
                <a:latin typeface="Arial"/>
                <a:ea typeface="Arial"/>
                <a:cs typeface="Arial"/>
              </a:defRPr>
            </a:lvl5pPr>
            <a:lvl6pPr>
              <a:defRPr sz="1200" b="0">
                <a:solidFill>
                  <a:srgbClr val="526574"/>
                </a:solidFill>
                <a:latin typeface="Arial"/>
                <a:ea typeface="Arial"/>
                <a:cs typeface="Arial"/>
              </a:defRPr>
            </a:lvl6pPr>
            <a:lvl7pPr>
              <a:defRPr sz="1200" b="0">
                <a:solidFill>
                  <a:srgbClr val="526574"/>
                </a:solidFill>
                <a:latin typeface="Arial"/>
                <a:ea typeface="Arial"/>
                <a:cs typeface="Arial"/>
              </a:defRPr>
            </a:lvl7pPr>
            <a:lvl8pPr>
              <a:defRPr sz="1200" b="0">
                <a:solidFill>
                  <a:srgbClr val="526574"/>
                </a:solidFill>
                <a:latin typeface="Arial"/>
                <a:ea typeface="Arial"/>
                <a:cs typeface="Arial"/>
              </a:defRPr>
            </a:lvl8pPr>
            <a:lvl9pPr>
              <a:defRPr sz="1200" b="0">
                <a:solidFill>
                  <a:srgbClr val="526574"/>
                </a:solidFill>
                <a:latin typeface="Arial"/>
                <a:ea typeface="Arial"/>
                <a:cs typeface="Arial"/>
              </a:defRPr>
            </a:lvl9pPr>
          </a:lstStyle>
          <a:p xmlns:a="http://schemas.openxmlformats.org/drawingml/2006/main">
            <a:pPr>
              <a:defRPr sz="1200" b="0">
                <a:solidFill>
                  <a:srgbClr val="526574"/>
                </a:solidFill>
                <a:latin typeface="Arial"/>
                <a:ea typeface="Arial"/>
                <a:cs typeface="Arial"/>
              </a:defRPr>
            </a:pPr>
            <a:r>
              <a:rPr sz="1200" b="0">
                <a:solidFill>
                  <a:srgbClr val="526574"/>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5BE90308-FC57-4363-AE35-D3B301C6611B}"/>
              </a:ext>
            </a:extLst>
          </p:cNvPr>
          <p:cNvGraphicFramePr/>
          <p:nvPr/>
        </p:nvGraphicFramePr>
        <p:xfrm>
          <a:off xmlns:a="http://schemas.openxmlformats.org/drawingml/2006/main" x="685800" y="1952625"/>
          <a:ext xmlns:a="http://schemas.openxmlformats.org/drawingml/2006/main" cx="10668000" cy="3143250"/>
        </p:xfrm>
        <a:graphic xmlns:a="http://schemas.openxmlformats.org/drawingml/2006/main">
          <a:graphicData uri="http://schemas.openxmlformats.org/drawingml/2006/table">
            <a:tbl>
              <a:tblPr/>
              <a:tblGrid>
                <a:gridCol w="3627120"/>
                <a:gridCol w="2346960"/>
                <a:gridCol w="2346960"/>
                <a:gridCol w="2346960"/>
              </a:tblGrid>
              <a:tr h="628650">
                <a:tc>
                  <a:txBody>
                    <a:bodyPr/>
                    <a:lstStyle/>
                    <a:p>
                      <a:r>
                        <a:rPr sz="1650" b="1">
                          <a:solidFill>
                            <a:srgbClr val="FFFFFF"/>
                          </a:solidFill>
                          <a:latin typeface="Arial"/>
                          <a:ea typeface="Arial"/>
                          <a:cs typeface="Arial"/>
                        </a:rPr>
                        <a:t>Gate</a:t>
                      </a:r>
                    </a:p>
                  </a:txBody>
                  <a:tcPr marL="91440" marR="91440" marT="45720" marB="45720">
                    <a:lnL w="9525">
                      <a:solidFill>
                        <a:srgbClr val="CBD5DF"/>
                      </a:solidFill>
                      <a:prstDash val="solid"/>
                    </a:lnL>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c>
                  <a:txBody>
                    <a:bodyPr/>
                    <a:lstStyle/>
                    <a:p>
                      <a:r>
                        <a:rPr sz="1650" b="1">
                          <a:solidFill>
                            <a:srgbClr val="FFFFFF"/>
                          </a:solidFill>
                          <a:latin typeface="Arial"/>
                          <a:ea typeface="Arial"/>
                          <a:cs typeface="Arial"/>
                        </a:rPr>
                        <a:t>Marker /264</a:t>
                      </a:r>
                    </a:p>
                  </a:txBody>
                  <a:tcPr marL="91440" marR="91440" marT="45720" marB="45720">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c>
                  <a:txBody>
                    <a:bodyPr/>
                    <a:lstStyle/>
                    <a:p>
                      <a:r>
                        <a:rPr sz="1650" b="1">
                          <a:solidFill>
                            <a:srgbClr val="FFFFFF"/>
                          </a:solidFill>
                          <a:latin typeface="Arial"/>
                          <a:ea typeface="Arial"/>
                          <a:cs typeface="Arial"/>
                        </a:rPr>
                        <a:t>Clean /33</a:t>
                      </a:r>
                    </a:p>
                  </a:txBody>
                  <a:tcPr marL="91440" marR="91440" marT="45720" marB="45720">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c>
                  <a:txBody>
                    <a:bodyPr/>
                    <a:lstStyle/>
                    <a:p>
                      <a:r>
                        <a:rPr sz="1650" b="1">
                          <a:solidFill>
                            <a:srgbClr val="FFFFFF"/>
                          </a:solidFill>
                          <a:latin typeface="Arial"/>
                          <a:ea typeface="Arial"/>
                          <a:cs typeface="Arial"/>
                        </a:rPr>
                        <a:t>Attack QA /264</a:t>
                      </a:r>
                    </a:p>
                  </a:txBody>
                  <a:tcPr marL="91440" marR="91440" marT="45720" marB="45720">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r>
              <a:tr h="628650">
                <a:tc>
                  <a:txBody>
                    <a:bodyPr/>
                    <a:lstStyle/>
                    <a:p>
                      <a:r>
                        <a:rPr sz="1650" b="0">
                          <a:solidFill>
                            <a:srgbClr val="122638"/>
                          </a:solidFill>
                          <a:latin typeface="Arial"/>
                          <a:ea typeface="Arial"/>
                          <a:cs typeface="Arial"/>
                        </a:rPr>
                        <a:t>Unfiltered</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102</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16</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71</a:t>
                      </a:r>
                    </a:p>
                  </a:txBody>
                  <a:tcPr marL="91440" marR="91440" marT="45720" marB="45720">
                    <a:lnR w="9525">
                      <a:solidFill>
                        <a:srgbClr val="CBD5DF"/>
                      </a:solidFill>
                      <a:prstDash val="solid"/>
                    </a:lnR>
                    <a:lnB w="9525">
                      <a:solidFill>
                        <a:srgbClr val="CBD5DF"/>
                      </a:solidFill>
                      <a:prstDash val="solid"/>
                    </a:lnB>
                    <a:solidFill>
                      <a:srgbClr val="FFFFFF"/>
                    </a:solidFill>
                  </a:tcPr>
                </a:tc>
              </a:tr>
              <a:tr h="628650">
                <a:tc>
                  <a:txBody>
                    <a:bodyPr/>
                    <a:lstStyle/>
                    <a:p>
                      <a:r>
                        <a:rPr sz="1650" b="0">
                          <a:solidFill>
                            <a:srgbClr val="122638"/>
                          </a:solidFill>
                          <a:latin typeface="Arial"/>
                          <a:ea typeface="Arial"/>
                          <a:cs typeface="Arial"/>
                        </a:rPr>
                        <a:t>Rules</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16</a:t>
                      </a:r>
                    </a:p>
                  </a:txBody>
                  <a:tcPr marL="91440" marR="91440" marT="45720" marB="45720">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16</a:t>
                      </a:r>
                    </a:p>
                  </a:txBody>
                  <a:tcPr marL="91440" marR="91440" marT="45720" marB="45720">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117</a:t>
                      </a:r>
                    </a:p>
                  </a:txBody>
                  <a:tcPr marL="91440" marR="91440" marT="45720" marB="45720">
                    <a:lnR w="9525">
                      <a:solidFill>
                        <a:srgbClr val="CBD5DF"/>
                      </a:solidFill>
                      <a:prstDash val="solid"/>
                    </a:lnR>
                    <a:lnB w="9525">
                      <a:solidFill>
                        <a:srgbClr val="CBD5DF"/>
                      </a:solidFill>
                      <a:prstDash val="solid"/>
                    </a:lnB>
                    <a:solidFill>
                      <a:srgbClr val="EAF0F4"/>
                    </a:solidFill>
                  </a:tcPr>
                </a:tc>
              </a:tr>
              <a:tr h="628650">
                <a:tc>
                  <a:txBody>
                    <a:bodyPr/>
                    <a:lstStyle/>
                    <a:p>
                      <a:r>
                        <a:rPr sz="1650" b="0">
                          <a:solidFill>
                            <a:srgbClr val="122638"/>
                          </a:solidFill>
                          <a:latin typeface="Arial"/>
                          <a:ea typeface="Arial"/>
                          <a:cs typeface="Arial"/>
                        </a:rPr>
                        <a:t>BERT probe</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85</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16</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83</a:t>
                      </a:r>
                    </a:p>
                  </a:txBody>
                  <a:tcPr marL="91440" marR="91440" marT="45720" marB="45720">
                    <a:lnR w="9525">
                      <a:solidFill>
                        <a:srgbClr val="CBD5DF"/>
                      </a:solidFill>
                      <a:prstDash val="solid"/>
                    </a:lnR>
                    <a:lnB w="9525">
                      <a:solidFill>
                        <a:srgbClr val="CBD5DF"/>
                      </a:solidFill>
                      <a:prstDash val="solid"/>
                    </a:lnB>
                    <a:solidFill>
                      <a:srgbClr val="FFFFFF"/>
                    </a:solidFill>
                  </a:tcPr>
                </a:tc>
              </a:tr>
              <a:tr h="628650">
                <a:tc>
                  <a:txBody>
                    <a:bodyPr/>
                    <a:lstStyle/>
                    <a:p>
                      <a:r>
                        <a:rPr sz="1650" b="0">
                          <a:solidFill>
                            <a:srgbClr val="122638"/>
                          </a:solidFill>
                          <a:latin typeface="Arial"/>
                          <a:ea typeface="Arial"/>
                          <a:cs typeface="Arial"/>
                        </a:rPr>
                        <a:t>Two signals</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7</a:t>
                      </a:r>
                    </a:p>
                  </a:txBody>
                  <a:tcPr marL="91440" marR="91440" marT="45720" marB="45720">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16</a:t>
                      </a:r>
                    </a:p>
                  </a:txBody>
                  <a:tcPr marL="91440" marR="91440" marT="45720" marB="45720">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125</a:t>
                      </a:r>
                    </a:p>
                  </a:txBody>
                  <a:tcPr marL="91440" marR="91440" marT="45720" marB="45720">
                    <a:lnR w="9525">
                      <a:solidFill>
                        <a:srgbClr val="CBD5DF"/>
                      </a:solidFill>
                      <a:prstDash val="solid"/>
                    </a:lnR>
                    <a:lnB w="9525">
                      <a:solidFill>
                        <a:srgbClr val="CBD5DF"/>
                      </a:solidFill>
                      <a:prstDash val="solid"/>
                    </a:lnB>
                    <a:solidFill>
                      <a:srgbClr val="EAF0F4"/>
                    </a:solidFill>
                  </a:tcPr>
                </a:tc>
              </a:tr>
            </a:tbl>
          </a:graphicData>
        </a:graphic>
      </p:graphicFrame>
      <p:sp>
        <p:nvSpPr>
          <p:cNvPr id="5" name="">
            <a:extLst xmlns:a="http://schemas.openxmlformats.org/drawingml/2006/main">
              <a:ext uri="{FF2B5EF4-FFF2-40B4-BE49-F238E27FC236}">
                <a16:creationId xmlns:a16="http://schemas.microsoft.com/office/drawing/2014/main" id="{D05D4421-CFC0-45CA-861B-40AFFA47C94C}"/>
              </a:ext>
            </a:extLst>
          </p:cNvPr>
          <p:cNvSpPr>
            <a:spLocks xmlns:a="http://schemas.openxmlformats.org/drawingml/2006/main" noGrp="1"/>
          </p:cNvSpPr>
          <p:nvPr/>
        </p:nvSpPr>
        <p:spPr>
          <a:xfrm xmlns:a="http://schemas.openxmlformats.org/drawingml/2006/main">
            <a:off x="685800" y="552450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087F8C"/>
                </a:solidFill>
                <a:latin typeface="Arial"/>
                <a:ea typeface="Arial"/>
                <a:cs typeface="Arial"/>
              </a:defRPr>
            </a:defPPr>
            <a:lvl1pPr>
              <a:defRPr sz="2025" b="1">
                <a:solidFill>
                  <a:srgbClr val="087F8C"/>
                </a:solidFill>
                <a:latin typeface="Arial"/>
                <a:ea typeface="Arial"/>
                <a:cs typeface="Arial"/>
              </a:defRPr>
            </a:lvl1pPr>
            <a:lvl2pPr>
              <a:defRPr sz="2025" b="1">
                <a:solidFill>
                  <a:srgbClr val="087F8C"/>
                </a:solidFill>
                <a:latin typeface="Arial"/>
                <a:ea typeface="Arial"/>
                <a:cs typeface="Arial"/>
              </a:defRPr>
            </a:lvl2pPr>
            <a:lvl3pPr>
              <a:defRPr sz="2025" b="1">
                <a:solidFill>
                  <a:srgbClr val="087F8C"/>
                </a:solidFill>
                <a:latin typeface="Arial"/>
                <a:ea typeface="Arial"/>
                <a:cs typeface="Arial"/>
              </a:defRPr>
            </a:lvl3pPr>
            <a:lvl4pPr>
              <a:defRPr sz="2025" b="1">
                <a:solidFill>
                  <a:srgbClr val="087F8C"/>
                </a:solidFill>
                <a:latin typeface="Arial"/>
                <a:ea typeface="Arial"/>
                <a:cs typeface="Arial"/>
              </a:defRPr>
            </a:lvl4pPr>
            <a:lvl5pPr>
              <a:defRPr sz="2025" b="1">
                <a:solidFill>
                  <a:srgbClr val="087F8C"/>
                </a:solidFill>
                <a:latin typeface="Arial"/>
                <a:ea typeface="Arial"/>
                <a:cs typeface="Arial"/>
              </a:defRPr>
            </a:lvl5pPr>
            <a:lvl6pPr>
              <a:defRPr sz="2025" b="1">
                <a:solidFill>
                  <a:srgbClr val="087F8C"/>
                </a:solidFill>
                <a:latin typeface="Arial"/>
                <a:ea typeface="Arial"/>
                <a:cs typeface="Arial"/>
              </a:defRPr>
            </a:lvl6pPr>
            <a:lvl7pPr>
              <a:defRPr sz="2025" b="1">
                <a:solidFill>
                  <a:srgbClr val="087F8C"/>
                </a:solidFill>
                <a:latin typeface="Arial"/>
                <a:ea typeface="Arial"/>
                <a:cs typeface="Arial"/>
              </a:defRPr>
            </a:lvl7pPr>
            <a:lvl8pPr>
              <a:defRPr sz="2025" b="1">
                <a:solidFill>
                  <a:srgbClr val="087F8C"/>
                </a:solidFill>
                <a:latin typeface="Arial"/>
                <a:ea typeface="Arial"/>
                <a:cs typeface="Arial"/>
              </a:defRPr>
            </a:lvl8pPr>
            <a:lvl9pPr>
              <a:defRPr sz="2025" b="1">
                <a:solidFill>
                  <a:srgbClr val="087F8C"/>
                </a:solidFill>
                <a:latin typeface="Arial"/>
                <a:ea typeface="Arial"/>
                <a:cs typeface="Arial"/>
              </a:defRPr>
            </a:lvl9pPr>
          </a:lstStyle>
          <a:p xmlns:a="http://schemas.openxmlformats.org/drawingml/2006/main">
            <a:pPr>
              <a:defRPr sz="2025" b="1">
                <a:solidFill>
                  <a:srgbClr val="087F8C"/>
                </a:solidFill>
                <a:latin typeface="Arial"/>
                <a:ea typeface="Arial"/>
                <a:cs typeface="Arial"/>
              </a:defRPr>
            </a:pPr>
            <a:r>
              <a:rPr sz="2025" b="1">
                <a:solidFill>
                  <a:srgbClr val="087F8C"/>
                </a:solidFill>
                <a:latin typeface="Arial"/>
                <a:ea typeface="Arial"/>
                <a:cs typeface="Arial"/>
              </a:rPr>
              <a:t>7/33 emails have any successful variant with the combination</a:t>
            </a:r>
          </a:p>
        </p:txBody>
      </p:sp>
    </p:spTree>
    <p:extLst>
      <p:ext uri="{BB962C8B-B14F-4D97-AF65-F5344CB8AC3E}">
        <p14:creationId xmlns:p14="http://schemas.microsoft.com/office/powerpoint/2010/main" val="920689257"/>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94FEB8-FFA0-4014-A12F-01830FFE7BDD}"/>
              </a:ext>
            </a:extLst>
          </p:cNvPr>
          <p:cNvSpPr>
            <a:spLocks xmlns:a="http://schemas.openxmlformats.org/drawingml/2006/main" noGrp="1"/>
          </p:cNvSpPr>
          <p:nvPr/>
        </p:nvSpPr>
        <p:spPr>
          <a:xfrm xmlns:a="http://schemas.openxmlformats.org/drawingml/2006/main">
            <a:off x="685800" y="476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132D46"/>
                </a:solidFill>
                <a:latin typeface="Arial"/>
                <a:ea typeface="Arial"/>
                <a:cs typeface="Arial"/>
              </a:defRPr>
            </a:defPPr>
            <a:lvl1pPr>
              <a:defRPr sz="3000" b="1">
                <a:solidFill>
                  <a:srgbClr val="132D46"/>
                </a:solidFill>
                <a:latin typeface="Arial"/>
                <a:ea typeface="Arial"/>
                <a:cs typeface="Arial"/>
              </a:defRPr>
            </a:lvl1pPr>
            <a:lvl2pPr>
              <a:defRPr sz="3000" b="1">
                <a:solidFill>
                  <a:srgbClr val="132D46"/>
                </a:solidFill>
                <a:latin typeface="Arial"/>
                <a:ea typeface="Arial"/>
                <a:cs typeface="Arial"/>
              </a:defRPr>
            </a:lvl2pPr>
            <a:lvl3pPr>
              <a:defRPr sz="3000" b="1">
                <a:solidFill>
                  <a:srgbClr val="132D46"/>
                </a:solidFill>
                <a:latin typeface="Arial"/>
                <a:ea typeface="Arial"/>
                <a:cs typeface="Arial"/>
              </a:defRPr>
            </a:lvl3pPr>
            <a:lvl4pPr>
              <a:defRPr sz="3000" b="1">
                <a:solidFill>
                  <a:srgbClr val="132D46"/>
                </a:solidFill>
                <a:latin typeface="Arial"/>
                <a:ea typeface="Arial"/>
                <a:cs typeface="Arial"/>
              </a:defRPr>
            </a:lvl4pPr>
            <a:lvl5pPr>
              <a:defRPr sz="3000" b="1">
                <a:solidFill>
                  <a:srgbClr val="132D46"/>
                </a:solidFill>
                <a:latin typeface="Arial"/>
                <a:ea typeface="Arial"/>
                <a:cs typeface="Arial"/>
              </a:defRPr>
            </a:lvl5pPr>
            <a:lvl6pPr>
              <a:defRPr sz="3000" b="1">
                <a:solidFill>
                  <a:srgbClr val="132D46"/>
                </a:solidFill>
                <a:latin typeface="Arial"/>
                <a:ea typeface="Arial"/>
                <a:cs typeface="Arial"/>
              </a:defRPr>
            </a:lvl6pPr>
            <a:lvl7pPr>
              <a:defRPr sz="3000" b="1">
                <a:solidFill>
                  <a:srgbClr val="132D46"/>
                </a:solidFill>
                <a:latin typeface="Arial"/>
                <a:ea typeface="Arial"/>
                <a:cs typeface="Arial"/>
              </a:defRPr>
            </a:lvl7pPr>
            <a:lvl8pPr>
              <a:defRPr sz="3000" b="1">
                <a:solidFill>
                  <a:srgbClr val="132D46"/>
                </a:solidFill>
                <a:latin typeface="Arial"/>
                <a:ea typeface="Arial"/>
                <a:cs typeface="Arial"/>
              </a:defRPr>
            </a:lvl8pPr>
            <a:lvl9pPr>
              <a:defRPr sz="3000" b="1">
                <a:solidFill>
                  <a:srgbClr val="132D46"/>
                </a:solidFill>
                <a:latin typeface="Arial"/>
                <a:ea typeface="Arial"/>
                <a:cs typeface="Arial"/>
              </a:defRPr>
            </a:lvl9pPr>
          </a:lstStyle>
          <a:p xmlns:a="http://schemas.openxmlformats.org/drawingml/2006/main">
            <a:pPr>
              <a:defRPr sz="3000" b="1">
                <a:solidFill>
                  <a:srgbClr val="132D46"/>
                </a:solidFill>
                <a:latin typeface="Arial"/>
                <a:ea typeface="Arial"/>
                <a:cs typeface="Arial"/>
              </a:defRPr>
            </a:pPr>
            <a:r>
              <a:rPr sz="3000" b="1">
                <a:solidFill>
                  <a:srgbClr val="132D46"/>
                </a:solidFill>
                <a:latin typeface="Arial"/>
                <a:ea typeface="Arial"/>
                <a:cs typeface="Arial"/>
              </a:rPr>
              <a:t>The combined gate rejects every benign challenge item</a:t>
            </a:r>
          </a:p>
        </p:txBody>
      </p:sp>
      <p:sp>
        <p:nvSpPr>
          <p:cNvPr id="2" name="">
            <a:extLst xmlns:a="http://schemas.openxmlformats.org/drawingml/2006/main">
              <a:ext uri="{FF2B5EF4-FFF2-40B4-BE49-F238E27FC236}">
                <a16:creationId xmlns:a16="http://schemas.microsoft.com/office/drawing/2014/main" id="{E1D89A97-7134-4454-A4DD-FE6E7B23E22E}"/>
              </a:ext>
            </a:extLst>
          </p:cNvPr>
          <p:cNvSpPr>
            <a:spLocks xmlns:a="http://schemas.openxmlformats.org/drawingml/2006/main" noGrp="1"/>
          </p:cNvSpPr>
          <p:nvPr/>
        </p:nvSpPr>
        <p:spPr>
          <a:xfrm xmlns:a="http://schemas.openxmlformats.org/drawingml/2006/main">
            <a:off x="685800" y="1485900"/>
            <a:ext cx="800100" cy="476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65D1032-B61F-485F-8D76-1CE4D6EF7557}"/>
              </a:ext>
            </a:extLst>
          </p:cNvPr>
          <p:cNvSpPr>
            <a:spLocks xmlns:a="http://schemas.openxmlformats.org/drawingml/2006/main" noGrp="1"/>
          </p:cNvSpPr>
          <p:nvPr/>
        </p:nvSpPr>
        <p:spPr>
          <a:xfrm xmlns:a="http://schemas.openxmlformats.org/drawingml/2006/main">
            <a:off x="11191875" y="6334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4"/>
                </a:solidFill>
                <a:latin typeface="Arial"/>
                <a:ea typeface="Arial"/>
                <a:cs typeface="Arial"/>
              </a:defRPr>
            </a:defPPr>
            <a:lvl1pPr>
              <a:defRPr sz="1200" b="0">
                <a:solidFill>
                  <a:srgbClr val="526574"/>
                </a:solidFill>
                <a:latin typeface="Arial"/>
                <a:ea typeface="Arial"/>
                <a:cs typeface="Arial"/>
              </a:defRPr>
            </a:lvl1pPr>
            <a:lvl2pPr>
              <a:defRPr sz="1200" b="0">
                <a:solidFill>
                  <a:srgbClr val="526574"/>
                </a:solidFill>
                <a:latin typeface="Arial"/>
                <a:ea typeface="Arial"/>
                <a:cs typeface="Arial"/>
              </a:defRPr>
            </a:lvl2pPr>
            <a:lvl3pPr>
              <a:defRPr sz="1200" b="0">
                <a:solidFill>
                  <a:srgbClr val="526574"/>
                </a:solidFill>
                <a:latin typeface="Arial"/>
                <a:ea typeface="Arial"/>
                <a:cs typeface="Arial"/>
              </a:defRPr>
            </a:lvl3pPr>
            <a:lvl4pPr>
              <a:defRPr sz="1200" b="0">
                <a:solidFill>
                  <a:srgbClr val="526574"/>
                </a:solidFill>
                <a:latin typeface="Arial"/>
                <a:ea typeface="Arial"/>
                <a:cs typeface="Arial"/>
              </a:defRPr>
            </a:lvl4pPr>
            <a:lvl5pPr>
              <a:defRPr sz="1200" b="0">
                <a:solidFill>
                  <a:srgbClr val="526574"/>
                </a:solidFill>
                <a:latin typeface="Arial"/>
                <a:ea typeface="Arial"/>
                <a:cs typeface="Arial"/>
              </a:defRPr>
            </a:lvl5pPr>
            <a:lvl6pPr>
              <a:defRPr sz="1200" b="0">
                <a:solidFill>
                  <a:srgbClr val="526574"/>
                </a:solidFill>
                <a:latin typeface="Arial"/>
                <a:ea typeface="Arial"/>
                <a:cs typeface="Arial"/>
              </a:defRPr>
            </a:lvl6pPr>
            <a:lvl7pPr>
              <a:defRPr sz="1200" b="0">
                <a:solidFill>
                  <a:srgbClr val="526574"/>
                </a:solidFill>
                <a:latin typeface="Arial"/>
                <a:ea typeface="Arial"/>
                <a:cs typeface="Arial"/>
              </a:defRPr>
            </a:lvl7pPr>
            <a:lvl8pPr>
              <a:defRPr sz="1200" b="0">
                <a:solidFill>
                  <a:srgbClr val="526574"/>
                </a:solidFill>
                <a:latin typeface="Arial"/>
                <a:ea typeface="Arial"/>
                <a:cs typeface="Arial"/>
              </a:defRPr>
            </a:lvl8pPr>
            <a:lvl9pPr>
              <a:defRPr sz="1200" b="0">
                <a:solidFill>
                  <a:srgbClr val="526574"/>
                </a:solidFill>
                <a:latin typeface="Arial"/>
                <a:ea typeface="Arial"/>
                <a:cs typeface="Arial"/>
              </a:defRPr>
            </a:lvl9pPr>
          </a:lstStyle>
          <a:p xmlns:a="http://schemas.openxmlformats.org/drawingml/2006/main">
            <a:pPr>
              <a:defRPr sz="1200" b="0">
                <a:solidFill>
                  <a:srgbClr val="526574"/>
                </a:solidFill>
                <a:latin typeface="Arial"/>
                <a:ea typeface="Arial"/>
                <a:cs typeface="Arial"/>
              </a:defRPr>
            </a:pPr>
            <a:r>
              <a:rPr sz="1200" b="0">
                <a:solidFill>
                  <a:srgbClr val="526574"/>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4627D8C8-C202-4CA2-AE4E-817F7A0FCD55}"/>
              </a:ext>
            </a:extLst>
          </p:cNvPr>
          <p:cNvGraphicFramePr/>
          <p:nvPr/>
        </p:nvGraphicFramePr>
        <p:xfrm>
          <a:off xmlns:a="http://schemas.openxmlformats.org/drawingml/2006/main" x="685800" y="1952625"/>
          <a:ext xmlns:a="http://schemas.openxmlformats.org/drawingml/2006/main" cx="10668000" cy="3381375"/>
        </p:xfrm>
        <a:graphic xmlns:a="http://schemas.openxmlformats.org/drawingml/2006/main">
          <a:graphicData uri="http://schemas.openxmlformats.org/drawingml/2006/table">
            <a:tbl>
              <a:tblPr/>
              <a:tblGrid>
                <a:gridCol w="3627120"/>
                <a:gridCol w="2346960"/>
                <a:gridCol w="2346960"/>
                <a:gridCol w="2346960"/>
              </a:tblGrid>
              <a:tr h="563563">
                <a:tc>
                  <a:txBody>
                    <a:bodyPr/>
                    <a:lstStyle/>
                    <a:p>
                      <a:r>
                        <a:rPr sz="1650" b="1">
                          <a:solidFill>
                            <a:srgbClr val="FFFFFF"/>
                          </a:solidFill>
                          <a:latin typeface="Arial"/>
                          <a:ea typeface="Arial"/>
                          <a:cs typeface="Arial"/>
                        </a:rPr>
                        <a:t>Detector</a:t>
                      </a:r>
                    </a:p>
                  </a:txBody>
                  <a:tcPr marL="91440" marR="91440" marT="45720" marB="45720">
                    <a:lnL w="9525">
                      <a:solidFill>
                        <a:srgbClr val="CBD5DF"/>
                      </a:solidFill>
                      <a:prstDash val="solid"/>
                    </a:lnL>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c>
                  <a:txBody>
                    <a:bodyPr/>
                    <a:lstStyle/>
                    <a:p>
                      <a:r>
                        <a:rPr sz="1650" b="1">
                          <a:solidFill>
                            <a:srgbClr val="FFFFFF"/>
                          </a:solidFill>
                          <a:latin typeface="Arial"/>
                          <a:ea typeface="Arial"/>
                          <a:cs typeface="Arial"/>
                        </a:rPr>
                        <a:t>Ordinary /12</a:t>
                      </a:r>
                    </a:p>
                  </a:txBody>
                  <a:tcPr marL="91440" marR="91440" marT="45720" marB="45720">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c>
                  <a:txBody>
                    <a:bodyPr/>
                    <a:lstStyle/>
                    <a:p>
                      <a:r>
                        <a:rPr sz="1650" b="1">
                          <a:solidFill>
                            <a:srgbClr val="FFFFFF"/>
                          </a:solidFill>
                          <a:latin typeface="Arial"/>
                          <a:ea typeface="Arial"/>
                          <a:cs typeface="Arial"/>
                        </a:rPr>
                        <a:t>Cue-bearing /12</a:t>
                      </a:r>
                    </a:p>
                  </a:txBody>
                  <a:tcPr marL="91440" marR="91440" marT="45720" marB="45720">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c>
                  <a:txBody>
                    <a:bodyPr/>
                    <a:lstStyle/>
                    <a:p>
                      <a:r>
                        <a:rPr sz="1650" b="1">
                          <a:solidFill>
                            <a:srgbClr val="FFFFFF"/>
                          </a:solidFill>
                          <a:latin typeface="Arial"/>
                          <a:ea typeface="Arial"/>
                          <a:cs typeface="Arial"/>
                        </a:rPr>
                        <a:t>All /24</a:t>
                      </a:r>
                    </a:p>
                  </a:txBody>
                  <a:tcPr marL="91440" marR="91440" marT="45720" marB="45720">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r>
              <a:tr h="563563">
                <a:tc>
                  <a:txBody>
                    <a:bodyPr/>
                    <a:lstStyle/>
                    <a:p>
                      <a:r>
                        <a:rPr sz="1650" b="0">
                          <a:solidFill>
                            <a:srgbClr val="122638"/>
                          </a:solidFill>
                          <a:latin typeface="Arial"/>
                          <a:ea typeface="Arial"/>
                          <a:cs typeface="Arial"/>
                        </a:rPr>
                        <a:t>Rules</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0</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12</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12</a:t>
                      </a:r>
                    </a:p>
                  </a:txBody>
                  <a:tcPr marL="91440" marR="91440" marT="45720" marB="45720">
                    <a:lnR w="9525">
                      <a:solidFill>
                        <a:srgbClr val="CBD5DF"/>
                      </a:solidFill>
                      <a:prstDash val="solid"/>
                    </a:lnR>
                    <a:lnB w="9525">
                      <a:solidFill>
                        <a:srgbClr val="CBD5DF"/>
                      </a:solidFill>
                      <a:prstDash val="solid"/>
                    </a:lnB>
                    <a:solidFill>
                      <a:srgbClr val="FFFFFF"/>
                    </a:solidFill>
                  </a:tcPr>
                </a:tc>
              </a:tr>
              <a:tr h="563563">
                <a:tc>
                  <a:txBody>
                    <a:bodyPr/>
                    <a:lstStyle/>
                    <a:p>
                      <a:r>
                        <a:rPr sz="1650" b="0">
                          <a:solidFill>
                            <a:srgbClr val="122638"/>
                          </a:solidFill>
                          <a:latin typeface="Arial"/>
                          <a:ea typeface="Arial"/>
                          <a:cs typeface="Arial"/>
                        </a:rPr>
                        <a:t>BERT probe</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12</a:t>
                      </a:r>
                    </a:p>
                  </a:txBody>
                  <a:tcPr marL="91440" marR="91440" marT="45720" marB="45720">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10</a:t>
                      </a:r>
                    </a:p>
                  </a:txBody>
                  <a:tcPr marL="91440" marR="91440" marT="45720" marB="45720">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22</a:t>
                      </a:r>
                    </a:p>
                  </a:txBody>
                  <a:tcPr marL="91440" marR="91440" marT="45720" marB="45720">
                    <a:lnR w="9525">
                      <a:solidFill>
                        <a:srgbClr val="CBD5DF"/>
                      </a:solidFill>
                      <a:prstDash val="solid"/>
                    </a:lnR>
                    <a:lnB w="9525">
                      <a:solidFill>
                        <a:srgbClr val="CBD5DF"/>
                      </a:solidFill>
                      <a:prstDash val="solid"/>
                    </a:lnB>
                    <a:solidFill>
                      <a:srgbClr val="EAF0F4"/>
                    </a:solidFill>
                  </a:tcPr>
                </a:tc>
              </a:tr>
              <a:tr h="563563">
                <a:tc>
                  <a:txBody>
                    <a:bodyPr/>
                    <a:lstStyle/>
                    <a:p>
                      <a:r>
                        <a:rPr sz="1650" b="0">
                          <a:solidFill>
                            <a:srgbClr val="122638"/>
                          </a:solidFill>
                          <a:latin typeface="Arial"/>
                          <a:ea typeface="Arial"/>
                          <a:cs typeface="Arial"/>
                        </a:rPr>
                        <a:t>Two signals</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12</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12</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24</a:t>
                      </a:r>
                    </a:p>
                  </a:txBody>
                  <a:tcPr marL="91440" marR="91440" marT="45720" marB="45720">
                    <a:lnR w="9525">
                      <a:solidFill>
                        <a:srgbClr val="CBD5DF"/>
                      </a:solidFill>
                      <a:prstDash val="solid"/>
                    </a:lnR>
                    <a:lnB w="9525">
                      <a:solidFill>
                        <a:srgbClr val="CBD5DF"/>
                      </a:solidFill>
                      <a:prstDash val="solid"/>
                    </a:lnB>
                    <a:solidFill>
                      <a:srgbClr val="FFFFFF"/>
                    </a:solidFill>
                  </a:tcPr>
                </a:tc>
              </a:tr>
              <a:tr h="563563">
                <a:tc>
                  <a:txBody>
                    <a:bodyPr/>
                    <a:lstStyle/>
                    <a:p>
                      <a:r>
                        <a:rPr sz="1650" b="0">
                          <a:solidFill>
                            <a:srgbClr val="122638"/>
                          </a:solidFill>
                          <a:latin typeface="Arial"/>
                          <a:ea typeface="Arial"/>
                          <a:cs typeface="Arial"/>
                        </a:rPr>
                        <a:t>Mixed-window probe</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4</a:t>
                      </a:r>
                    </a:p>
                  </a:txBody>
                  <a:tcPr marL="91440" marR="91440" marT="45720" marB="45720">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7</a:t>
                      </a:r>
                    </a:p>
                  </a:txBody>
                  <a:tcPr marL="91440" marR="91440" marT="45720" marB="45720">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11</a:t>
                      </a:r>
                    </a:p>
                  </a:txBody>
                  <a:tcPr marL="91440" marR="91440" marT="45720" marB="45720">
                    <a:lnR w="9525">
                      <a:solidFill>
                        <a:srgbClr val="CBD5DF"/>
                      </a:solidFill>
                      <a:prstDash val="solid"/>
                    </a:lnR>
                    <a:lnB w="9525">
                      <a:solidFill>
                        <a:srgbClr val="CBD5DF"/>
                      </a:solidFill>
                      <a:prstDash val="solid"/>
                    </a:lnB>
                    <a:solidFill>
                      <a:srgbClr val="EAF0F4"/>
                    </a:solidFill>
                  </a:tcPr>
                </a:tc>
              </a:tr>
              <a:tr h="563563">
                <a:tc>
                  <a:txBody>
                    <a:bodyPr/>
                    <a:lstStyle/>
                    <a:p>
                      <a:r>
                        <a:rPr sz="1650" b="0">
                          <a:solidFill>
                            <a:srgbClr val="122638"/>
                          </a:solidFill>
                          <a:latin typeface="Arial"/>
                          <a:ea typeface="Arial"/>
                          <a:cs typeface="Arial"/>
                        </a:rPr>
                        <a:t>ProtectAI DeBERTa</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3</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1</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4</a:t>
                      </a:r>
                    </a:p>
                  </a:txBody>
                  <a:tcPr marL="91440" marR="91440" marT="45720" marB="45720">
                    <a:lnR w="9525">
                      <a:solidFill>
                        <a:srgbClr val="CBD5DF"/>
                      </a:solidFill>
                      <a:prstDash val="solid"/>
                    </a:lnR>
                    <a:lnB w="9525">
                      <a:solidFill>
                        <a:srgbClr val="CBD5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0809D59-1354-4248-B4B9-F3D39DBF11C4}"/>
              </a:ext>
            </a:extLst>
          </p:cNvPr>
          <p:cNvSpPr>
            <a:spLocks xmlns:a="http://schemas.openxmlformats.org/drawingml/2006/main" noGrp="1"/>
          </p:cNvSpPr>
          <p:nvPr/>
        </p:nvSpPr>
        <p:spPr>
          <a:xfrm xmlns:a="http://schemas.openxmlformats.org/drawingml/2006/main">
            <a:off x="685800" y="561975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9C3A34"/>
                </a:solidFill>
                <a:latin typeface="Arial"/>
                <a:ea typeface="Arial"/>
                <a:cs typeface="Arial"/>
              </a:defRPr>
            </a:defPPr>
            <a:lvl1pPr>
              <a:defRPr sz="2025" b="1">
                <a:solidFill>
                  <a:srgbClr val="9C3A34"/>
                </a:solidFill>
                <a:latin typeface="Arial"/>
                <a:ea typeface="Arial"/>
                <a:cs typeface="Arial"/>
              </a:defRPr>
            </a:lvl1pPr>
            <a:lvl2pPr>
              <a:defRPr sz="2025" b="1">
                <a:solidFill>
                  <a:srgbClr val="9C3A34"/>
                </a:solidFill>
                <a:latin typeface="Arial"/>
                <a:ea typeface="Arial"/>
                <a:cs typeface="Arial"/>
              </a:defRPr>
            </a:lvl2pPr>
            <a:lvl3pPr>
              <a:defRPr sz="2025" b="1">
                <a:solidFill>
                  <a:srgbClr val="9C3A34"/>
                </a:solidFill>
                <a:latin typeface="Arial"/>
                <a:ea typeface="Arial"/>
                <a:cs typeface="Arial"/>
              </a:defRPr>
            </a:lvl3pPr>
            <a:lvl4pPr>
              <a:defRPr sz="2025" b="1">
                <a:solidFill>
                  <a:srgbClr val="9C3A34"/>
                </a:solidFill>
                <a:latin typeface="Arial"/>
                <a:ea typeface="Arial"/>
                <a:cs typeface="Arial"/>
              </a:defRPr>
            </a:lvl4pPr>
            <a:lvl5pPr>
              <a:defRPr sz="2025" b="1">
                <a:solidFill>
                  <a:srgbClr val="9C3A34"/>
                </a:solidFill>
                <a:latin typeface="Arial"/>
                <a:ea typeface="Arial"/>
                <a:cs typeface="Arial"/>
              </a:defRPr>
            </a:lvl5pPr>
            <a:lvl6pPr>
              <a:defRPr sz="2025" b="1">
                <a:solidFill>
                  <a:srgbClr val="9C3A34"/>
                </a:solidFill>
                <a:latin typeface="Arial"/>
                <a:ea typeface="Arial"/>
                <a:cs typeface="Arial"/>
              </a:defRPr>
            </a:lvl6pPr>
            <a:lvl7pPr>
              <a:defRPr sz="2025" b="1">
                <a:solidFill>
                  <a:srgbClr val="9C3A34"/>
                </a:solidFill>
                <a:latin typeface="Arial"/>
                <a:ea typeface="Arial"/>
                <a:cs typeface="Arial"/>
              </a:defRPr>
            </a:lvl7pPr>
            <a:lvl8pPr>
              <a:defRPr sz="2025" b="1">
                <a:solidFill>
                  <a:srgbClr val="9C3A34"/>
                </a:solidFill>
                <a:latin typeface="Arial"/>
                <a:ea typeface="Arial"/>
                <a:cs typeface="Arial"/>
              </a:defRPr>
            </a:lvl8pPr>
            <a:lvl9pPr>
              <a:defRPr sz="2025" b="1">
                <a:solidFill>
                  <a:srgbClr val="9C3A34"/>
                </a:solidFill>
                <a:latin typeface="Arial"/>
                <a:ea typeface="Arial"/>
                <a:cs typeface="Arial"/>
              </a:defRPr>
            </a:lvl9pPr>
          </a:lstStyle>
          <a:p xmlns:a="http://schemas.openxmlformats.org/drawingml/2006/main">
            <a:pPr>
              <a:defRPr sz="2025" b="1">
                <a:solidFill>
                  <a:srgbClr val="9C3A34"/>
                </a:solidFill>
                <a:latin typeface="Arial"/>
                <a:ea typeface="Arial"/>
                <a:cs typeface="Arial"/>
              </a:defRPr>
            </a:pPr>
            <a:r>
              <a:rPr sz="2025" b="1">
                <a:solidFill>
                  <a:srgbClr val="9C3A34"/>
                </a:solidFill>
                <a:latin typeface="Arial"/>
                <a:ea typeface="Arial"/>
                <a:cs typeface="Arial"/>
              </a:rPr>
              <a:t>Original 37/37 retention does not transfer to legitimate instructions</a:t>
            </a:r>
          </a:p>
        </p:txBody>
      </p:sp>
    </p:spTree>
    <p:extLst>
      <p:ext uri="{BB962C8B-B14F-4D97-AF65-F5344CB8AC3E}">
        <p14:creationId xmlns:p14="http://schemas.microsoft.com/office/powerpoint/2010/main" val="706601817"/>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B8E47BD-A185-4524-AE42-2C909C764133}"/>
              </a:ext>
            </a:extLst>
          </p:cNvPr>
          <p:cNvSpPr>
            <a:spLocks xmlns:a="http://schemas.openxmlformats.org/drawingml/2006/main" noGrp="1"/>
          </p:cNvSpPr>
          <p:nvPr/>
        </p:nvSpPr>
        <p:spPr>
          <a:xfrm xmlns:a="http://schemas.openxmlformats.org/drawingml/2006/main">
            <a:off x="685800" y="476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132D46"/>
                </a:solidFill>
                <a:latin typeface="Arial"/>
                <a:ea typeface="Arial"/>
                <a:cs typeface="Arial"/>
              </a:defRPr>
            </a:defPPr>
            <a:lvl1pPr>
              <a:defRPr sz="3000" b="1">
                <a:solidFill>
                  <a:srgbClr val="132D46"/>
                </a:solidFill>
                <a:latin typeface="Arial"/>
                <a:ea typeface="Arial"/>
                <a:cs typeface="Arial"/>
              </a:defRPr>
            </a:lvl1pPr>
            <a:lvl2pPr>
              <a:defRPr sz="3000" b="1">
                <a:solidFill>
                  <a:srgbClr val="132D46"/>
                </a:solidFill>
                <a:latin typeface="Arial"/>
                <a:ea typeface="Arial"/>
                <a:cs typeface="Arial"/>
              </a:defRPr>
            </a:lvl2pPr>
            <a:lvl3pPr>
              <a:defRPr sz="3000" b="1">
                <a:solidFill>
                  <a:srgbClr val="132D46"/>
                </a:solidFill>
                <a:latin typeface="Arial"/>
                <a:ea typeface="Arial"/>
                <a:cs typeface="Arial"/>
              </a:defRPr>
            </a:lvl3pPr>
            <a:lvl4pPr>
              <a:defRPr sz="3000" b="1">
                <a:solidFill>
                  <a:srgbClr val="132D46"/>
                </a:solidFill>
                <a:latin typeface="Arial"/>
                <a:ea typeface="Arial"/>
                <a:cs typeface="Arial"/>
              </a:defRPr>
            </a:lvl4pPr>
            <a:lvl5pPr>
              <a:defRPr sz="3000" b="1">
                <a:solidFill>
                  <a:srgbClr val="132D46"/>
                </a:solidFill>
                <a:latin typeface="Arial"/>
                <a:ea typeface="Arial"/>
                <a:cs typeface="Arial"/>
              </a:defRPr>
            </a:lvl5pPr>
            <a:lvl6pPr>
              <a:defRPr sz="3000" b="1">
                <a:solidFill>
                  <a:srgbClr val="132D46"/>
                </a:solidFill>
                <a:latin typeface="Arial"/>
                <a:ea typeface="Arial"/>
                <a:cs typeface="Arial"/>
              </a:defRPr>
            </a:lvl6pPr>
            <a:lvl7pPr>
              <a:defRPr sz="3000" b="1">
                <a:solidFill>
                  <a:srgbClr val="132D46"/>
                </a:solidFill>
                <a:latin typeface="Arial"/>
                <a:ea typeface="Arial"/>
                <a:cs typeface="Arial"/>
              </a:defRPr>
            </a:lvl7pPr>
            <a:lvl8pPr>
              <a:defRPr sz="3000" b="1">
                <a:solidFill>
                  <a:srgbClr val="132D46"/>
                </a:solidFill>
                <a:latin typeface="Arial"/>
                <a:ea typeface="Arial"/>
                <a:cs typeface="Arial"/>
              </a:defRPr>
            </a:lvl8pPr>
            <a:lvl9pPr>
              <a:defRPr sz="3000" b="1">
                <a:solidFill>
                  <a:srgbClr val="132D46"/>
                </a:solidFill>
                <a:latin typeface="Arial"/>
                <a:ea typeface="Arial"/>
                <a:cs typeface="Arial"/>
              </a:defRPr>
            </a:lvl9pPr>
          </a:lstStyle>
          <a:p xmlns:a="http://schemas.openxmlformats.org/drawingml/2006/main">
            <a:pPr>
              <a:defRPr sz="3000" b="1">
                <a:solidFill>
                  <a:srgbClr val="132D46"/>
                </a:solidFill>
                <a:latin typeface="Arial"/>
                <a:ea typeface="Arial"/>
                <a:cs typeface="Arial"/>
              </a:defRPr>
            </a:pPr>
            <a:r>
              <a:rPr sz="3000" b="1">
                <a:solidFill>
                  <a:srgbClr val="132D46"/>
                </a:solidFill>
                <a:latin typeface="Arial"/>
                <a:ea typeface="Arial"/>
                <a:cs typeface="Arial"/>
              </a:rPr>
              <a:t>Better ranking does not fix threshold calibration</a:t>
            </a:r>
          </a:p>
        </p:txBody>
      </p:sp>
      <p:sp>
        <p:nvSpPr>
          <p:cNvPr id="2" name="">
            <a:extLst xmlns:a="http://schemas.openxmlformats.org/drawingml/2006/main">
              <a:ext uri="{FF2B5EF4-FFF2-40B4-BE49-F238E27FC236}">
                <a16:creationId xmlns:a16="http://schemas.microsoft.com/office/drawing/2014/main" id="{A26CBDD8-DF47-4624-84FF-DEE15540FAC0}"/>
              </a:ext>
            </a:extLst>
          </p:cNvPr>
          <p:cNvSpPr>
            <a:spLocks xmlns:a="http://schemas.openxmlformats.org/drawingml/2006/main" noGrp="1"/>
          </p:cNvSpPr>
          <p:nvPr/>
        </p:nvSpPr>
        <p:spPr>
          <a:xfrm xmlns:a="http://schemas.openxmlformats.org/drawingml/2006/main">
            <a:off x="685800" y="1485900"/>
            <a:ext cx="800100" cy="476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E218D6B-7DEC-49F7-B15B-C16E1EC824F6}"/>
              </a:ext>
            </a:extLst>
          </p:cNvPr>
          <p:cNvSpPr>
            <a:spLocks xmlns:a="http://schemas.openxmlformats.org/drawingml/2006/main" noGrp="1"/>
          </p:cNvSpPr>
          <p:nvPr/>
        </p:nvSpPr>
        <p:spPr>
          <a:xfrm xmlns:a="http://schemas.openxmlformats.org/drawingml/2006/main">
            <a:off x="11191875" y="6334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4"/>
                </a:solidFill>
                <a:latin typeface="Arial"/>
                <a:ea typeface="Arial"/>
                <a:cs typeface="Arial"/>
              </a:defRPr>
            </a:defPPr>
            <a:lvl1pPr>
              <a:defRPr sz="1200" b="0">
                <a:solidFill>
                  <a:srgbClr val="526574"/>
                </a:solidFill>
                <a:latin typeface="Arial"/>
                <a:ea typeface="Arial"/>
                <a:cs typeface="Arial"/>
              </a:defRPr>
            </a:lvl1pPr>
            <a:lvl2pPr>
              <a:defRPr sz="1200" b="0">
                <a:solidFill>
                  <a:srgbClr val="526574"/>
                </a:solidFill>
                <a:latin typeface="Arial"/>
                <a:ea typeface="Arial"/>
                <a:cs typeface="Arial"/>
              </a:defRPr>
            </a:lvl2pPr>
            <a:lvl3pPr>
              <a:defRPr sz="1200" b="0">
                <a:solidFill>
                  <a:srgbClr val="526574"/>
                </a:solidFill>
                <a:latin typeface="Arial"/>
                <a:ea typeface="Arial"/>
                <a:cs typeface="Arial"/>
              </a:defRPr>
            </a:lvl3pPr>
            <a:lvl4pPr>
              <a:defRPr sz="1200" b="0">
                <a:solidFill>
                  <a:srgbClr val="526574"/>
                </a:solidFill>
                <a:latin typeface="Arial"/>
                <a:ea typeface="Arial"/>
                <a:cs typeface="Arial"/>
              </a:defRPr>
            </a:lvl4pPr>
            <a:lvl5pPr>
              <a:defRPr sz="1200" b="0">
                <a:solidFill>
                  <a:srgbClr val="526574"/>
                </a:solidFill>
                <a:latin typeface="Arial"/>
                <a:ea typeface="Arial"/>
                <a:cs typeface="Arial"/>
              </a:defRPr>
            </a:lvl5pPr>
            <a:lvl6pPr>
              <a:defRPr sz="1200" b="0">
                <a:solidFill>
                  <a:srgbClr val="526574"/>
                </a:solidFill>
                <a:latin typeface="Arial"/>
                <a:ea typeface="Arial"/>
                <a:cs typeface="Arial"/>
              </a:defRPr>
            </a:lvl6pPr>
            <a:lvl7pPr>
              <a:defRPr sz="1200" b="0">
                <a:solidFill>
                  <a:srgbClr val="526574"/>
                </a:solidFill>
                <a:latin typeface="Arial"/>
                <a:ea typeface="Arial"/>
                <a:cs typeface="Arial"/>
              </a:defRPr>
            </a:lvl7pPr>
            <a:lvl8pPr>
              <a:defRPr sz="1200" b="0">
                <a:solidFill>
                  <a:srgbClr val="526574"/>
                </a:solidFill>
                <a:latin typeface="Arial"/>
                <a:ea typeface="Arial"/>
                <a:cs typeface="Arial"/>
              </a:defRPr>
            </a:lvl8pPr>
            <a:lvl9pPr>
              <a:defRPr sz="1200" b="0">
                <a:solidFill>
                  <a:srgbClr val="526574"/>
                </a:solidFill>
                <a:latin typeface="Arial"/>
                <a:ea typeface="Arial"/>
                <a:cs typeface="Arial"/>
              </a:defRPr>
            </a:lvl9pPr>
          </a:lstStyle>
          <a:p xmlns:a="http://schemas.openxmlformats.org/drawingml/2006/main">
            <a:pPr>
              <a:defRPr sz="1200" b="0">
                <a:solidFill>
                  <a:srgbClr val="526574"/>
                </a:solidFill>
                <a:latin typeface="Arial"/>
                <a:ea typeface="Arial"/>
                <a:cs typeface="Arial"/>
              </a:defRPr>
            </a:pPr>
            <a:r>
              <a:rPr sz="1200" b="0">
                <a:solidFill>
                  <a:srgbClr val="526574"/>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7361B0DB-8F63-4D1D-A754-06A08FDC4ED0}"/>
              </a:ext>
            </a:extLst>
          </p:cNvPr>
          <p:cNvGraphicFramePr/>
          <p:nvPr/>
        </p:nvGraphicFramePr>
        <p:xfrm>
          <a:off xmlns:a="http://schemas.openxmlformats.org/drawingml/2006/main" x="685800" y="2143125"/>
          <a:ext xmlns:a="http://schemas.openxmlformats.org/drawingml/2006/main" cx="10668000" cy="2000250"/>
        </p:xfrm>
        <a:graphic xmlns:a="http://schemas.openxmlformats.org/drawingml/2006/main">
          <a:graphicData uri="http://schemas.openxmlformats.org/drawingml/2006/table">
            <a:tbl>
              <a:tblPr/>
              <a:tblGrid>
                <a:gridCol w="3627120"/>
                <a:gridCol w="2346960"/>
                <a:gridCol w="2346960"/>
                <a:gridCol w="2346960"/>
              </a:tblGrid>
              <a:tr h="666750">
                <a:tc>
                  <a:txBody>
                    <a:bodyPr/>
                    <a:lstStyle/>
                    <a:p>
                      <a:r>
                        <a:rPr sz="1650" b="1">
                          <a:solidFill>
                            <a:srgbClr val="FFFFFF"/>
                          </a:solidFill>
                          <a:latin typeface="Arial"/>
                          <a:ea typeface="Arial"/>
                          <a:cs typeface="Arial"/>
                        </a:rPr>
                        <a:t>Probe</a:t>
                      </a:r>
                    </a:p>
                  </a:txBody>
                  <a:tcPr marL="91440" marR="91440" marT="45720" marB="45720">
                    <a:lnL w="9525">
                      <a:solidFill>
                        <a:srgbClr val="CBD5DF"/>
                      </a:solidFill>
                      <a:prstDash val="solid"/>
                    </a:lnL>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c>
                  <a:txBody>
                    <a:bodyPr/>
                    <a:lstStyle/>
                    <a:p>
                      <a:r>
                        <a:rPr sz="1650" b="1">
                          <a:solidFill>
                            <a:srgbClr val="FFFFFF"/>
                          </a:solidFill>
                          <a:latin typeface="Arial"/>
                          <a:ea typeface="Arial"/>
                          <a:cs typeface="Arial"/>
                        </a:rPr>
                        <a:t>AUROC</a:t>
                      </a:r>
                    </a:p>
                  </a:txBody>
                  <a:tcPr marL="91440" marR="91440" marT="45720" marB="45720">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c>
                  <a:txBody>
                    <a:bodyPr/>
                    <a:lstStyle/>
                    <a:p>
                      <a:r>
                        <a:rPr sz="1650" b="1">
                          <a:solidFill>
                            <a:srgbClr val="FFFFFF"/>
                          </a:solidFill>
                          <a:latin typeface="Arial"/>
                          <a:ea typeface="Arial"/>
                          <a:cs typeface="Arial"/>
                        </a:rPr>
                        <a:t>Attack recall</a:t>
                      </a:r>
                    </a:p>
                  </a:txBody>
                  <a:tcPr marL="91440" marR="91440" marT="45720" marB="45720">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c>
                  <a:txBody>
                    <a:bodyPr/>
                    <a:lstStyle/>
                    <a:p>
                      <a:r>
                        <a:rPr sz="1650" b="1">
                          <a:solidFill>
                            <a:srgbClr val="FFFFFF"/>
                          </a:solidFill>
                          <a:latin typeface="Arial"/>
                          <a:ea typeface="Arial"/>
                          <a:cs typeface="Arial"/>
                        </a:rPr>
                        <a:t>Benign rejects /24</a:t>
                      </a:r>
                    </a:p>
                  </a:txBody>
                  <a:tcPr marL="91440" marR="91440" marT="45720" marB="45720">
                    <a:lnR w="9525">
                      <a:solidFill>
                        <a:srgbClr val="CBD5DF"/>
                      </a:solidFill>
                      <a:prstDash val="solid"/>
                    </a:lnR>
                    <a:lnT w="9525">
                      <a:solidFill>
                        <a:srgbClr val="CBD5DF"/>
                      </a:solidFill>
                      <a:prstDash val="solid"/>
                    </a:lnT>
                    <a:lnB w="9525">
                      <a:solidFill>
                        <a:srgbClr val="CBD5DF"/>
                      </a:solidFill>
                      <a:prstDash val="solid"/>
                    </a:lnB>
                    <a:solidFill>
                      <a:srgbClr val="132D46"/>
                    </a:solidFill>
                  </a:tcPr>
                </a:tc>
              </a:tr>
              <a:tr h="666750">
                <a:tc>
                  <a:txBody>
                    <a:bodyPr/>
                    <a:lstStyle/>
                    <a:p>
                      <a:r>
                        <a:rPr sz="1650" b="0">
                          <a:solidFill>
                            <a:srgbClr val="122638"/>
                          </a:solidFill>
                          <a:latin typeface="Arial"/>
                          <a:ea typeface="Arial"/>
                          <a:cs typeface="Arial"/>
                        </a:rPr>
                        <a:t>Original</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0.754</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19.8%</a:t>
                      </a:r>
                    </a:p>
                  </a:txBody>
                  <a:tcPr marL="91440" marR="91440" marT="45720" marB="45720">
                    <a:lnR w="9525">
                      <a:solidFill>
                        <a:srgbClr val="CBD5DF"/>
                      </a:solidFill>
                      <a:prstDash val="solid"/>
                    </a:lnR>
                    <a:lnB w="9525">
                      <a:solidFill>
                        <a:srgbClr val="CBD5DF"/>
                      </a:solidFill>
                      <a:prstDash val="solid"/>
                    </a:lnB>
                    <a:solidFill>
                      <a:srgbClr val="FFFFFF"/>
                    </a:solidFill>
                  </a:tcPr>
                </a:tc>
                <a:tc>
                  <a:txBody>
                    <a:bodyPr/>
                    <a:lstStyle/>
                    <a:p>
                      <a:r>
                        <a:rPr sz="1650" b="0">
                          <a:solidFill>
                            <a:srgbClr val="122638"/>
                          </a:solidFill>
                          <a:latin typeface="Arial"/>
                          <a:ea typeface="Arial"/>
                          <a:cs typeface="Arial"/>
                        </a:rPr>
                        <a:t>22</a:t>
                      </a:r>
                    </a:p>
                  </a:txBody>
                  <a:tcPr marL="91440" marR="91440" marT="45720" marB="45720">
                    <a:lnR w="9525">
                      <a:solidFill>
                        <a:srgbClr val="CBD5DF"/>
                      </a:solidFill>
                      <a:prstDash val="solid"/>
                    </a:lnR>
                    <a:lnB w="9525">
                      <a:solidFill>
                        <a:srgbClr val="CBD5DF"/>
                      </a:solidFill>
                      <a:prstDash val="solid"/>
                    </a:lnB>
                    <a:solidFill>
                      <a:srgbClr val="FFFFFF"/>
                    </a:solidFill>
                  </a:tcPr>
                </a:tc>
              </a:tr>
              <a:tr h="666750">
                <a:tc>
                  <a:txBody>
                    <a:bodyPr/>
                    <a:lstStyle/>
                    <a:p>
                      <a:r>
                        <a:rPr sz="1650" b="0">
                          <a:solidFill>
                            <a:srgbClr val="122638"/>
                          </a:solidFill>
                          <a:latin typeface="Arial"/>
                          <a:ea typeface="Arial"/>
                          <a:cs typeface="Arial"/>
                        </a:rPr>
                        <a:t>Mixed windows</a:t>
                      </a:r>
                    </a:p>
                  </a:txBody>
                  <a:tcPr marL="91440" marR="91440" marT="45720" marB="45720">
                    <a:lnL w="9525">
                      <a:solidFill>
                        <a:srgbClr val="CBD5DF"/>
                      </a:solidFill>
                      <a:prstDash val="solid"/>
                    </a:lnL>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0.926</a:t>
                      </a:r>
                    </a:p>
                  </a:txBody>
                  <a:tcPr marL="91440" marR="91440" marT="45720" marB="45720">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11.7%</a:t>
                      </a:r>
                    </a:p>
                  </a:txBody>
                  <a:tcPr marL="91440" marR="91440" marT="45720" marB="45720">
                    <a:lnR w="9525">
                      <a:solidFill>
                        <a:srgbClr val="CBD5DF"/>
                      </a:solidFill>
                      <a:prstDash val="solid"/>
                    </a:lnR>
                    <a:lnB w="9525">
                      <a:solidFill>
                        <a:srgbClr val="CBD5DF"/>
                      </a:solidFill>
                      <a:prstDash val="solid"/>
                    </a:lnB>
                    <a:solidFill>
                      <a:srgbClr val="EAF0F4"/>
                    </a:solidFill>
                  </a:tcPr>
                </a:tc>
                <a:tc>
                  <a:txBody>
                    <a:bodyPr/>
                    <a:lstStyle/>
                    <a:p>
                      <a:r>
                        <a:rPr sz="1650" b="0">
                          <a:solidFill>
                            <a:srgbClr val="122638"/>
                          </a:solidFill>
                          <a:latin typeface="Arial"/>
                          <a:ea typeface="Arial"/>
                          <a:cs typeface="Arial"/>
                        </a:rPr>
                        <a:t>11</a:t>
                      </a:r>
                    </a:p>
                  </a:txBody>
                  <a:tcPr marL="91440" marR="91440" marT="45720" marB="45720">
                    <a:lnR w="9525">
                      <a:solidFill>
                        <a:srgbClr val="CBD5DF"/>
                      </a:solidFill>
                      <a:prstDash val="solid"/>
                    </a:lnR>
                    <a:lnB w="9525">
                      <a:solidFill>
                        <a:srgbClr val="CBD5DF"/>
                      </a:solidFill>
                      <a:prstDash val="solid"/>
                    </a:lnB>
                    <a:solidFill>
                      <a:srgbClr val="EAF0F4"/>
                    </a:solidFill>
                  </a:tcPr>
                </a:tc>
              </a:tr>
            </a:tbl>
          </a:graphicData>
        </a:graphic>
      </p:graphicFrame>
      <p:sp>
        <p:nvSpPr>
          <p:cNvPr id="5" name="">
            <a:extLst xmlns:a="http://schemas.openxmlformats.org/drawingml/2006/main">
              <a:ext uri="{FF2B5EF4-FFF2-40B4-BE49-F238E27FC236}">
                <a16:creationId xmlns:a16="http://schemas.microsoft.com/office/drawing/2014/main" id="{8A11B2E7-509E-4192-9E49-10ADFCD88386}"/>
              </a:ext>
            </a:extLst>
          </p:cNvPr>
          <p:cNvSpPr>
            <a:spLocks xmlns:a="http://schemas.openxmlformats.org/drawingml/2006/main" noGrp="1"/>
          </p:cNvSpPr>
          <p:nvPr/>
        </p:nvSpPr>
        <p:spPr>
          <a:xfrm xmlns:a="http://schemas.openxmlformats.org/drawingml/2006/main">
            <a:off x="685800" y="46196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22638"/>
                </a:solidFill>
                <a:latin typeface="Arial"/>
                <a:ea typeface="Arial"/>
                <a:cs typeface="Arial"/>
              </a:defRPr>
            </a:defPPr>
            <a:lvl1pPr>
              <a:defRPr sz="2100" b="0">
                <a:solidFill>
                  <a:srgbClr val="122638"/>
                </a:solidFill>
                <a:latin typeface="Arial"/>
                <a:ea typeface="Arial"/>
                <a:cs typeface="Arial"/>
              </a:defRPr>
            </a:lvl1pPr>
            <a:lvl2pPr>
              <a:defRPr sz="2100" b="0">
                <a:solidFill>
                  <a:srgbClr val="122638"/>
                </a:solidFill>
                <a:latin typeface="Arial"/>
                <a:ea typeface="Arial"/>
                <a:cs typeface="Arial"/>
              </a:defRPr>
            </a:lvl2pPr>
            <a:lvl3pPr>
              <a:defRPr sz="2100" b="0">
                <a:solidFill>
                  <a:srgbClr val="122638"/>
                </a:solidFill>
                <a:latin typeface="Arial"/>
                <a:ea typeface="Arial"/>
                <a:cs typeface="Arial"/>
              </a:defRPr>
            </a:lvl3pPr>
            <a:lvl4pPr>
              <a:defRPr sz="2100" b="0">
                <a:solidFill>
                  <a:srgbClr val="122638"/>
                </a:solidFill>
                <a:latin typeface="Arial"/>
                <a:ea typeface="Arial"/>
                <a:cs typeface="Arial"/>
              </a:defRPr>
            </a:lvl4pPr>
            <a:lvl5pPr>
              <a:defRPr sz="2100" b="0">
                <a:solidFill>
                  <a:srgbClr val="122638"/>
                </a:solidFill>
                <a:latin typeface="Arial"/>
                <a:ea typeface="Arial"/>
                <a:cs typeface="Arial"/>
              </a:defRPr>
            </a:lvl5pPr>
            <a:lvl6pPr>
              <a:defRPr sz="2100" b="0">
                <a:solidFill>
                  <a:srgbClr val="122638"/>
                </a:solidFill>
                <a:latin typeface="Arial"/>
                <a:ea typeface="Arial"/>
                <a:cs typeface="Arial"/>
              </a:defRPr>
            </a:lvl6pPr>
            <a:lvl7pPr>
              <a:defRPr sz="2100" b="0">
                <a:solidFill>
                  <a:srgbClr val="122638"/>
                </a:solidFill>
                <a:latin typeface="Arial"/>
                <a:ea typeface="Arial"/>
                <a:cs typeface="Arial"/>
              </a:defRPr>
            </a:lvl7pPr>
            <a:lvl8pPr>
              <a:defRPr sz="2100" b="0">
                <a:solidFill>
                  <a:srgbClr val="122638"/>
                </a:solidFill>
                <a:latin typeface="Arial"/>
                <a:ea typeface="Arial"/>
                <a:cs typeface="Arial"/>
              </a:defRPr>
            </a:lvl8pPr>
            <a:lvl9pPr>
              <a:defRPr sz="2100" b="0">
                <a:solidFill>
                  <a:srgbClr val="122638"/>
                </a:solidFill>
                <a:latin typeface="Arial"/>
                <a:ea typeface="Arial"/>
                <a:cs typeface="Arial"/>
              </a:defRPr>
            </a:lvl9pPr>
          </a:lstStyle>
          <a:p xmlns:a="http://schemas.openxmlformats.org/drawingml/2006/main">
            <a:pPr>
              <a:defRPr sz="2100" b="0">
                <a:solidFill>
                  <a:srgbClr val="122638"/>
                </a:solidFill>
                <a:latin typeface="Arial"/>
                <a:ea typeface="Arial"/>
                <a:cs typeface="Arial"/>
              </a:defRPr>
            </a:pPr>
            <a:r>
              <a:rPr sz="2100" b="0">
                <a:solidFill>
                  <a:srgbClr val="122638"/>
                </a:solidFill>
                <a:latin typeface="Arial"/>
                <a:ea typeface="Arial"/>
                <a:cs typeface="Arial"/>
              </a:rPr>
              <a:t>Same encoder; train on mixed windows; label only payload overlap</a:t>
            </a:r>
          </a:p>
        </p:txBody>
      </p:sp>
      <p:sp>
        <p:nvSpPr>
          <p:cNvPr id="6" name="">
            <a:extLst xmlns:a="http://schemas.openxmlformats.org/drawingml/2006/main">
              <a:ext uri="{FF2B5EF4-FFF2-40B4-BE49-F238E27FC236}">
                <a16:creationId xmlns:a16="http://schemas.microsoft.com/office/drawing/2014/main" id="{1E91FDA7-CC07-400B-B87B-E62D3AAE253D}"/>
              </a:ext>
            </a:extLst>
          </p:cNvPr>
          <p:cNvSpPr>
            <a:spLocks xmlns:a="http://schemas.openxmlformats.org/drawingml/2006/main" noGrp="1"/>
          </p:cNvSpPr>
          <p:nvPr/>
        </p:nvSpPr>
        <p:spPr>
          <a:xfrm xmlns:a="http://schemas.openxmlformats.org/drawingml/2006/main">
            <a:off x="685800" y="55721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087F8C"/>
                </a:solidFill>
                <a:latin typeface="Arial"/>
                <a:ea typeface="Arial"/>
                <a:cs typeface="Arial"/>
              </a:defRPr>
            </a:defPPr>
            <a:lvl1pPr>
              <a:defRPr sz="1875" b="1">
                <a:solidFill>
                  <a:srgbClr val="087F8C"/>
                </a:solidFill>
                <a:latin typeface="Arial"/>
                <a:ea typeface="Arial"/>
                <a:cs typeface="Arial"/>
              </a:defRPr>
            </a:lvl1pPr>
            <a:lvl2pPr>
              <a:defRPr sz="1875" b="1">
                <a:solidFill>
                  <a:srgbClr val="087F8C"/>
                </a:solidFill>
                <a:latin typeface="Arial"/>
                <a:ea typeface="Arial"/>
                <a:cs typeface="Arial"/>
              </a:defRPr>
            </a:lvl2pPr>
            <a:lvl3pPr>
              <a:defRPr sz="1875" b="1">
                <a:solidFill>
                  <a:srgbClr val="087F8C"/>
                </a:solidFill>
                <a:latin typeface="Arial"/>
                <a:ea typeface="Arial"/>
                <a:cs typeface="Arial"/>
              </a:defRPr>
            </a:lvl3pPr>
            <a:lvl4pPr>
              <a:defRPr sz="1875" b="1">
                <a:solidFill>
                  <a:srgbClr val="087F8C"/>
                </a:solidFill>
                <a:latin typeface="Arial"/>
                <a:ea typeface="Arial"/>
                <a:cs typeface="Arial"/>
              </a:defRPr>
            </a:lvl4pPr>
            <a:lvl5pPr>
              <a:defRPr sz="1875" b="1">
                <a:solidFill>
                  <a:srgbClr val="087F8C"/>
                </a:solidFill>
                <a:latin typeface="Arial"/>
                <a:ea typeface="Arial"/>
                <a:cs typeface="Arial"/>
              </a:defRPr>
            </a:lvl5pPr>
            <a:lvl6pPr>
              <a:defRPr sz="1875" b="1">
                <a:solidFill>
                  <a:srgbClr val="087F8C"/>
                </a:solidFill>
                <a:latin typeface="Arial"/>
                <a:ea typeface="Arial"/>
                <a:cs typeface="Arial"/>
              </a:defRPr>
            </a:lvl6pPr>
            <a:lvl7pPr>
              <a:defRPr sz="1875" b="1">
                <a:solidFill>
                  <a:srgbClr val="087F8C"/>
                </a:solidFill>
                <a:latin typeface="Arial"/>
                <a:ea typeface="Arial"/>
                <a:cs typeface="Arial"/>
              </a:defRPr>
            </a:lvl7pPr>
            <a:lvl8pPr>
              <a:defRPr sz="1875" b="1">
                <a:solidFill>
                  <a:srgbClr val="087F8C"/>
                </a:solidFill>
                <a:latin typeface="Arial"/>
                <a:ea typeface="Arial"/>
                <a:cs typeface="Arial"/>
              </a:defRPr>
            </a:lvl8pPr>
            <a:lvl9pPr>
              <a:defRPr sz="1875" b="1">
                <a:solidFill>
                  <a:srgbClr val="087F8C"/>
                </a:solidFill>
                <a:latin typeface="Arial"/>
                <a:ea typeface="Arial"/>
                <a:cs typeface="Arial"/>
              </a:defRPr>
            </a:lvl9pPr>
          </a:lstStyle>
          <a:p xmlns:a="http://schemas.openxmlformats.org/drawingml/2006/main">
            <a:pPr>
              <a:defRPr sz="1875" b="1">
                <a:solidFill>
                  <a:srgbClr val="087F8C"/>
                </a:solidFill>
                <a:latin typeface="Arial"/>
                <a:ea typeface="Arial"/>
                <a:cs typeface="Arial"/>
              </a:defRPr>
            </a:pPr>
            <a:r>
              <a:rPr sz="1875" b="1">
                <a:solidFill>
                  <a:srgbClr val="087F8C"/>
                </a:solidFill>
                <a:latin typeface="Arial"/>
                <a:ea typeface="Arial"/>
                <a:cs typeface="Arial"/>
              </a:rPr>
              <a:t>Five fixed cue weights + descriptive threshold sweep; no test retuning</a:t>
            </a:r>
          </a:p>
        </p:txBody>
      </p:sp>
    </p:spTree>
    <p:extLst>
      <p:ext uri="{BB962C8B-B14F-4D97-AF65-F5344CB8AC3E}">
        <p14:creationId xmlns:p14="http://schemas.microsoft.com/office/powerpoint/2010/main" val="35752509"/>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064FAF9-1D7E-4B4E-9961-B836B5E2CCEB}"/>
              </a:ext>
            </a:extLst>
          </p:cNvPr>
          <p:cNvSpPr>
            <a:spLocks xmlns:a="http://schemas.openxmlformats.org/drawingml/2006/main" noGrp="1"/>
          </p:cNvSpPr>
          <p:nvPr/>
        </p:nvSpPr>
        <p:spPr>
          <a:xfrm xmlns:a="http://schemas.openxmlformats.org/drawingml/2006/main">
            <a:off x="685800" y="476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132D46"/>
                </a:solidFill>
                <a:latin typeface="Arial"/>
                <a:ea typeface="Arial"/>
                <a:cs typeface="Arial"/>
              </a:defRPr>
            </a:defPPr>
            <a:lvl1pPr>
              <a:defRPr sz="3000" b="1">
                <a:solidFill>
                  <a:srgbClr val="132D46"/>
                </a:solidFill>
                <a:latin typeface="Arial"/>
                <a:ea typeface="Arial"/>
                <a:cs typeface="Arial"/>
              </a:defRPr>
            </a:lvl1pPr>
            <a:lvl2pPr>
              <a:defRPr sz="3000" b="1">
                <a:solidFill>
                  <a:srgbClr val="132D46"/>
                </a:solidFill>
                <a:latin typeface="Arial"/>
                <a:ea typeface="Arial"/>
                <a:cs typeface="Arial"/>
              </a:defRPr>
            </a:lvl2pPr>
            <a:lvl3pPr>
              <a:defRPr sz="3000" b="1">
                <a:solidFill>
                  <a:srgbClr val="132D46"/>
                </a:solidFill>
                <a:latin typeface="Arial"/>
                <a:ea typeface="Arial"/>
                <a:cs typeface="Arial"/>
              </a:defRPr>
            </a:lvl3pPr>
            <a:lvl4pPr>
              <a:defRPr sz="3000" b="1">
                <a:solidFill>
                  <a:srgbClr val="132D46"/>
                </a:solidFill>
                <a:latin typeface="Arial"/>
                <a:ea typeface="Arial"/>
                <a:cs typeface="Arial"/>
              </a:defRPr>
            </a:lvl4pPr>
            <a:lvl5pPr>
              <a:defRPr sz="3000" b="1">
                <a:solidFill>
                  <a:srgbClr val="132D46"/>
                </a:solidFill>
                <a:latin typeface="Arial"/>
                <a:ea typeface="Arial"/>
                <a:cs typeface="Arial"/>
              </a:defRPr>
            </a:lvl5pPr>
            <a:lvl6pPr>
              <a:defRPr sz="3000" b="1">
                <a:solidFill>
                  <a:srgbClr val="132D46"/>
                </a:solidFill>
                <a:latin typeface="Arial"/>
                <a:ea typeface="Arial"/>
                <a:cs typeface="Arial"/>
              </a:defRPr>
            </a:lvl6pPr>
            <a:lvl7pPr>
              <a:defRPr sz="3000" b="1">
                <a:solidFill>
                  <a:srgbClr val="132D46"/>
                </a:solidFill>
                <a:latin typeface="Arial"/>
                <a:ea typeface="Arial"/>
                <a:cs typeface="Arial"/>
              </a:defRPr>
            </a:lvl7pPr>
            <a:lvl8pPr>
              <a:defRPr sz="3000" b="1">
                <a:solidFill>
                  <a:srgbClr val="132D46"/>
                </a:solidFill>
                <a:latin typeface="Arial"/>
                <a:ea typeface="Arial"/>
                <a:cs typeface="Arial"/>
              </a:defRPr>
            </a:lvl8pPr>
            <a:lvl9pPr>
              <a:defRPr sz="3000" b="1">
                <a:solidFill>
                  <a:srgbClr val="132D46"/>
                </a:solidFill>
                <a:latin typeface="Arial"/>
                <a:ea typeface="Arial"/>
                <a:cs typeface="Arial"/>
              </a:defRPr>
            </a:lvl9pPr>
          </a:lstStyle>
          <a:p xmlns:a="http://schemas.openxmlformats.org/drawingml/2006/main">
            <a:pPr>
              <a:defRPr sz="3000" b="1">
                <a:solidFill>
                  <a:srgbClr val="132D46"/>
                </a:solidFill>
                <a:latin typeface="Arial"/>
                <a:ea typeface="Arial"/>
                <a:cs typeface="Arial"/>
              </a:defRPr>
            </a:pPr>
            <a:r>
              <a:rPr sz="3000" b="1">
                <a:solidFill>
                  <a:srgbClr val="132D46"/>
                </a:solidFill>
                <a:latin typeface="Arial"/>
                <a:ea typeface="Arial"/>
                <a:cs typeface="Arial"/>
              </a:rPr>
              <a:t>Filtering costs compute and can remove useful facts</a:t>
            </a:r>
          </a:p>
        </p:txBody>
      </p:sp>
      <p:sp>
        <p:nvSpPr>
          <p:cNvPr id="2" name="">
            <a:extLst xmlns:a="http://schemas.openxmlformats.org/drawingml/2006/main">
              <a:ext uri="{FF2B5EF4-FFF2-40B4-BE49-F238E27FC236}">
                <a16:creationId xmlns:a16="http://schemas.microsoft.com/office/drawing/2014/main" id="{648734AA-BC9E-44DE-A5D3-EEE38D63B29B}"/>
              </a:ext>
            </a:extLst>
          </p:cNvPr>
          <p:cNvSpPr>
            <a:spLocks xmlns:a="http://schemas.openxmlformats.org/drawingml/2006/main" noGrp="1"/>
          </p:cNvSpPr>
          <p:nvPr/>
        </p:nvSpPr>
        <p:spPr>
          <a:xfrm xmlns:a="http://schemas.openxmlformats.org/drawingml/2006/main">
            <a:off x="685800" y="1485900"/>
            <a:ext cx="800100" cy="476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FC93A0D-6097-4898-8155-E30F33C5FFE2}"/>
              </a:ext>
            </a:extLst>
          </p:cNvPr>
          <p:cNvSpPr>
            <a:spLocks xmlns:a="http://schemas.openxmlformats.org/drawingml/2006/main" noGrp="1"/>
          </p:cNvSpPr>
          <p:nvPr/>
        </p:nvSpPr>
        <p:spPr>
          <a:xfrm xmlns:a="http://schemas.openxmlformats.org/drawingml/2006/main">
            <a:off x="11191875" y="6334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4"/>
                </a:solidFill>
                <a:latin typeface="Arial"/>
                <a:ea typeface="Arial"/>
                <a:cs typeface="Arial"/>
              </a:defRPr>
            </a:defPPr>
            <a:lvl1pPr>
              <a:defRPr sz="1200" b="0">
                <a:solidFill>
                  <a:srgbClr val="526574"/>
                </a:solidFill>
                <a:latin typeface="Arial"/>
                <a:ea typeface="Arial"/>
                <a:cs typeface="Arial"/>
              </a:defRPr>
            </a:lvl1pPr>
            <a:lvl2pPr>
              <a:defRPr sz="1200" b="0">
                <a:solidFill>
                  <a:srgbClr val="526574"/>
                </a:solidFill>
                <a:latin typeface="Arial"/>
                <a:ea typeface="Arial"/>
                <a:cs typeface="Arial"/>
              </a:defRPr>
            </a:lvl2pPr>
            <a:lvl3pPr>
              <a:defRPr sz="1200" b="0">
                <a:solidFill>
                  <a:srgbClr val="526574"/>
                </a:solidFill>
                <a:latin typeface="Arial"/>
                <a:ea typeface="Arial"/>
                <a:cs typeface="Arial"/>
              </a:defRPr>
            </a:lvl3pPr>
            <a:lvl4pPr>
              <a:defRPr sz="1200" b="0">
                <a:solidFill>
                  <a:srgbClr val="526574"/>
                </a:solidFill>
                <a:latin typeface="Arial"/>
                <a:ea typeface="Arial"/>
                <a:cs typeface="Arial"/>
              </a:defRPr>
            </a:lvl4pPr>
            <a:lvl5pPr>
              <a:defRPr sz="1200" b="0">
                <a:solidFill>
                  <a:srgbClr val="526574"/>
                </a:solidFill>
                <a:latin typeface="Arial"/>
                <a:ea typeface="Arial"/>
                <a:cs typeface="Arial"/>
              </a:defRPr>
            </a:lvl5pPr>
            <a:lvl6pPr>
              <a:defRPr sz="1200" b="0">
                <a:solidFill>
                  <a:srgbClr val="526574"/>
                </a:solidFill>
                <a:latin typeface="Arial"/>
                <a:ea typeface="Arial"/>
                <a:cs typeface="Arial"/>
              </a:defRPr>
            </a:lvl6pPr>
            <a:lvl7pPr>
              <a:defRPr sz="1200" b="0">
                <a:solidFill>
                  <a:srgbClr val="526574"/>
                </a:solidFill>
                <a:latin typeface="Arial"/>
                <a:ea typeface="Arial"/>
                <a:cs typeface="Arial"/>
              </a:defRPr>
            </a:lvl7pPr>
            <a:lvl8pPr>
              <a:defRPr sz="1200" b="0">
                <a:solidFill>
                  <a:srgbClr val="526574"/>
                </a:solidFill>
                <a:latin typeface="Arial"/>
                <a:ea typeface="Arial"/>
                <a:cs typeface="Arial"/>
              </a:defRPr>
            </a:lvl8pPr>
            <a:lvl9pPr>
              <a:defRPr sz="1200" b="0">
                <a:solidFill>
                  <a:srgbClr val="526574"/>
                </a:solidFill>
                <a:latin typeface="Arial"/>
                <a:ea typeface="Arial"/>
                <a:cs typeface="Arial"/>
              </a:defRPr>
            </a:lvl9pPr>
          </a:lstStyle>
          <a:p xmlns:a="http://schemas.openxmlformats.org/drawingml/2006/main">
            <a:pPr>
              <a:defRPr sz="1200" b="0">
                <a:solidFill>
                  <a:srgbClr val="526574"/>
                </a:solidFill>
                <a:latin typeface="Arial"/>
                <a:ea typeface="Arial"/>
                <a:cs typeface="Arial"/>
              </a:defRPr>
            </a:pPr>
            <a:r>
              <a:rPr sz="1200" b="0">
                <a:solidFill>
                  <a:srgbClr val="526574"/>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4743B6F8-B1E6-4380-BCD5-EEE487EC1317}"/>
              </a:ext>
            </a:extLst>
          </p:cNvPr>
          <p:cNvSpPr>
            <a:spLocks xmlns:a="http://schemas.openxmlformats.org/drawingml/2006/main" noGrp="1"/>
          </p:cNvSpPr>
          <p:nvPr/>
        </p:nvSpPr>
        <p:spPr>
          <a:xfrm xmlns:a="http://schemas.openxmlformats.org/drawingml/2006/main">
            <a:off x="685800" y="2143125"/>
            <a:ext cx="4953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900" b="1">
                <a:solidFill>
                  <a:srgbClr val="087F8C"/>
                </a:solidFill>
                <a:latin typeface="Arial"/>
                <a:ea typeface="Arial"/>
                <a:cs typeface="Arial"/>
              </a:defRPr>
            </a:defPPr>
            <a:lvl1pPr>
              <a:defRPr sz="3900" b="1">
                <a:solidFill>
                  <a:srgbClr val="087F8C"/>
                </a:solidFill>
                <a:latin typeface="Arial"/>
                <a:ea typeface="Arial"/>
                <a:cs typeface="Arial"/>
              </a:defRPr>
            </a:lvl1pPr>
            <a:lvl2pPr>
              <a:defRPr sz="3900" b="1">
                <a:solidFill>
                  <a:srgbClr val="087F8C"/>
                </a:solidFill>
                <a:latin typeface="Arial"/>
                <a:ea typeface="Arial"/>
                <a:cs typeface="Arial"/>
              </a:defRPr>
            </a:lvl2pPr>
            <a:lvl3pPr>
              <a:defRPr sz="3900" b="1">
                <a:solidFill>
                  <a:srgbClr val="087F8C"/>
                </a:solidFill>
                <a:latin typeface="Arial"/>
                <a:ea typeface="Arial"/>
                <a:cs typeface="Arial"/>
              </a:defRPr>
            </a:lvl3pPr>
            <a:lvl4pPr>
              <a:defRPr sz="3900" b="1">
                <a:solidFill>
                  <a:srgbClr val="087F8C"/>
                </a:solidFill>
                <a:latin typeface="Arial"/>
                <a:ea typeface="Arial"/>
                <a:cs typeface="Arial"/>
              </a:defRPr>
            </a:lvl4pPr>
            <a:lvl5pPr>
              <a:defRPr sz="3900" b="1">
                <a:solidFill>
                  <a:srgbClr val="087F8C"/>
                </a:solidFill>
                <a:latin typeface="Arial"/>
                <a:ea typeface="Arial"/>
                <a:cs typeface="Arial"/>
              </a:defRPr>
            </a:lvl5pPr>
            <a:lvl6pPr>
              <a:defRPr sz="3900" b="1">
                <a:solidFill>
                  <a:srgbClr val="087F8C"/>
                </a:solidFill>
                <a:latin typeface="Arial"/>
                <a:ea typeface="Arial"/>
                <a:cs typeface="Arial"/>
              </a:defRPr>
            </a:lvl6pPr>
            <a:lvl7pPr>
              <a:defRPr sz="3900" b="1">
                <a:solidFill>
                  <a:srgbClr val="087F8C"/>
                </a:solidFill>
                <a:latin typeface="Arial"/>
                <a:ea typeface="Arial"/>
                <a:cs typeface="Arial"/>
              </a:defRPr>
            </a:lvl7pPr>
            <a:lvl8pPr>
              <a:defRPr sz="3900" b="1">
                <a:solidFill>
                  <a:srgbClr val="087F8C"/>
                </a:solidFill>
                <a:latin typeface="Arial"/>
                <a:ea typeface="Arial"/>
                <a:cs typeface="Arial"/>
              </a:defRPr>
            </a:lvl8pPr>
            <a:lvl9pPr>
              <a:defRPr sz="3900" b="1">
                <a:solidFill>
                  <a:srgbClr val="087F8C"/>
                </a:solidFill>
                <a:latin typeface="Arial"/>
                <a:ea typeface="Arial"/>
                <a:cs typeface="Arial"/>
              </a:defRPr>
            </a:lvl9pPr>
          </a:lstStyle>
          <a:p xmlns:a="http://schemas.openxmlformats.org/drawingml/2006/main">
            <a:pPr>
              <a:defRPr sz="3900" b="1">
                <a:solidFill>
                  <a:srgbClr val="087F8C"/>
                </a:solidFill>
                <a:latin typeface="Arial"/>
                <a:ea typeface="Arial"/>
                <a:cs typeface="Arial"/>
              </a:defRPr>
            </a:pPr>
            <a:r>
              <a:rPr sz="3900" b="1">
                <a:solidFill>
                  <a:srgbClr val="087F8C"/>
                </a:solidFill>
                <a:latin typeface="Arial"/>
                <a:ea typeface="Arial"/>
                <a:cs typeface="Arial"/>
              </a:rPr>
              <a:t>191.603 ms</a:t>
            </a:r>
          </a:p>
        </p:txBody>
      </p:sp>
      <p:sp>
        <p:nvSpPr>
          <p:cNvPr id="5" name="">
            <a:extLst xmlns:a="http://schemas.openxmlformats.org/drawingml/2006/main">
              <a:ext uri="{FF2B5EF4-FFF2-40B4-BE49-F238E27FC236}">
                <a16:creationId xmlns:a16="http://schemas.microsoft.com/office/drawing/2014/main" id="{CCEF5E50-150D-4138-8D02-BBA851F280B3}"/>
              </a:ext>
            </a:extLst>
          </p:cNvPr>
          <p:cNvSpPr>
            <a:spLocks xmlns:a="http://schemas.openxmlformats.org/drawingml/2006/main" noGrp="1"/>
          </p:cNvSpPr>
          <p:nvPr/>
        </p:nvSpPr>
        <p:spPr>
          <a:xfrm xmlns:a="http://schemas.openxmlformats.org/drawingml/2006/main">
            <a:off x="6572250" y="2143125"/>
            <a:ext cx="4953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900" b="1">
                <a:solidFill>
                  <a:srgbClr val="122638"/>
                </a:solidFill>
                <a:latin typeface="Arial"/>
                <a:ea typeface="Arial"/>
                <a:cs typeface="Arial"/>
              </a:defRPr>
            </a:defPPr>
            <a:lvl1pPr>
              <a:defRPr sz="3900" b="1">
                <a:solidFill>
                  <a:srgbClr val="122638"/>
                </a:solidFill>
                <a:latin typeface="Arial"/>
                <a:ea typeface="Arial"/>
                <a:cs typeface="Arial"/>
              </a:defRPr>
            </a:lvl1pPr>
            <a:lvl2pPr>
              <a:defRPr sz="3900" b="1">
                <a:solidFill>
                  <a:srgbClr val="122638"/>
                </a:solidFill>
                <a:latin typeface="Arial"/>
                <a:ea typeface="Arial"/>
                <a:cs typeface="Arial"/>
              </a:defRPr>
            </a:lvl2pPr>
            <a:lvl3pPr>
              <a:defRPr sz="3900" b="1">
                <a:solidFill>
                  <a:srgbClr val="122638"/>
                </a:solidFill>
                <a:latin typeface="Arial"/>
                <a:ea typeface="Arial"/>
                <a:cs typeface="Arial"/>
              </a:defRPr>
            </a:lvl3pPr>
            <a:lvl4pPr>
              <a:defRPr sz="3900" b="1">
                <a:solidFill>
                  <a:srgbClr val="122638"/>
                </a:solidFill>
                <a:latin typeface="Arial"/>
                <a:ea typeface="Arial"/>
                <a:cs typeface="Arial"/>
              </a:defRPr>
            </a:lvl4pPr>
            <a:lvl5pPr>
              <a:defRPr sz="3900" b="1">
                <a:solidFill>
                  <a:srgbClr val="122638"/>
                </a:solidFill>
                <a:latin typeface="Arial"/>
                <a:ea typeface="Arial"/>
                <a:cs typeface="Arial"/>
              </a:defRPr>
            </a:lvl5pPr>
            <a:lvl6pPr>
              <a:defRPr sz="3900" b="1">
                <a:solidFill>
                  <a:srgbClr val="122638"/>
                </a:solidFill>
                <a:latin typeface="Arial"/>
                <a:ea typeface="Arial"/>
                <a:cs typeface="Arial"/>
              </a:defRPr>
            </a:lvl6pPr>
            <a:lvl7pPr>
              <a:defRPr sz="3900" b="1">
                <a:solidFill>
                  <a:srgbClr val="122638"/>
                </a:solidFill>
                <a:latin typeface="Arial"/>
                <a:ea typeface="Arial"/>
                <a:cs typeface="Arial"/>
              </a:defRPr>
            </a:lvl7pPr>
            <a:lvl8pPr>
              <a:defRPr sz="3900" b="1">
                <a:solidFill>
                  <a:srgbClr val="122638"/>
                </a:solidFill>
                <a:latin typeface="Arial"/>
                <a:ea typeface="Arial"/>
                <a:cs typeface="Arial"/>
              </a:defRPr>
            </a:lvl8pPr>
            <a:lvl9pPr>
              <a:defRPr sz="3900" b="1">
                <a:solidFill>
                  <a:srgbClr val="122638"/>
                </a:solidFill>
                <a:latin typeface="Arial"/>
                <a:ea typeface="Arial"/>
                <a:cs typeface="Arial"/>
              </a:defRPr>
            </a:lvl9pPr>
          </a:lstStyle>
          <a:p xmlns:a="http://schemas.openxmlformats.org/drawingml/2006/main">
            <a:pPr>
              <a:defRPr sz="3900" b="1">
                <a:solidFill>
                  <a:srgbClr val="122638"/>
                </a:solidFill>
                <a:latin typeface="Arial"/>
                <a:ea typeface="Arial"/>
                <a:cs typeface="Arial"/>
              </a:defRPr>
            </a:pPr>
            <a:r>
              <a:rPr sz="3900" b="1">
                <a:solidFill>
                  <a:srgbClr val="122638"/>
                </a:solidFill>
                <a:latin typeface="Arial"/>
                <a:ea typeface="Arial"/>
                <a:cs typeface="Arial"/>
              </a:rPr>
              <a:t>0.075 ms</a:t>
            </a:r>
          </a:p>
        </p:txBody>
      </p:sp>
      <p:sp>
        <p:nvSpPr>
          <p:cNvPr id="6" name="">
            <a:extLst xmlns:a="http://schemas.openxmlformats.org/drawingml/2006/main">
              <a:ext uri="{FF2B5EF4-FFF2-40B4-BE49-F238E27FC236}">
                <a16:creationId xmlns:a16="http://schemas.microsoft.com/office/drawing/2014/main" id="{2455D56A-D39C-40CA-B8CF-7DBBEEB04053}"/>
              </a:ext>
            </a:extLst>
          </p:cNvPr>
          <p:cNvSpPr>
            <a:spLocks xmlns:a="http://schemas.openxmlformats.org/drawingml/2006/main" noGrp="1"/>
          </p:cNvSpPr>
          <p:nvPr/>
        </p:nvSpPr>
        <p:spPr>
          <a:xfrm xmlns:a="http://schemas.openxmlformats.org/drawingml/2006/main">
            <a:off x="685800" y="309562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22638"/>
                </a:solidFill>
                <a:latin typeface="Arial"/>
                <a:ea typeface="Arial"/>
                <a:cs typeface="Arial"/>
              </a:defRPr>
            </a:defPPr>
            <a:lvl1pPr>
              <a:defRPr sz="2025" b="0">
                <a:solidFill>
                  <a:srgbClr val="122638"/>
                </a:solidFill>
                <a:latin typeface="Arial"/>
                <a:ea typeface="Arial"/>
                <a:cs typeface="Arial"/>
              </a:defRPr>
            </a:lvl1pPr>
            <a:lvl2pPr>
              <a:defRPr sz="2025" b="0">
                <a:solidFill>
                  <a:srgbClr val="122638"/>
                </a:solidFill>
                <a:latin typeface="Arial"/>
                <a:ea typeface="Arial"/>
                <a:cs typeface="Arial"/>
              </a:defRPr>
            </a:lvl2pPr>
            <a:lvl3pPr>
              <a:defRPr sz="2025" b="0">
                <a:solidFill>
                  <a:srgbClr val="122638"/>
                </a:solidFill>
                <a:latin typeface="Arial"/>
                <a:ea typeface="Arial"/>
                <a:cs typeface="Arial"/>
              </a:defRPr>
            </a:lvl3pPr>
            <a:lvl4pPr>
              <a:defRPr sz="2025" b="0">
                <a:solidFill>
                  <a:srgbClr val="122638"/>
                </a:solidFill>
                <a:latin typeface="Arial"/>
                <a:ea typeface="Arial"/>
                <a:cs typeface="Arial"/>
              </a:defRPr>
            </a:lvl4pPr>
            <a:lvl5pPr>
              <a:defRPr sz="2025" b="0">
                <a:solidFill>
                  <a:srgbClr val="122638"/>
                </a:solidFill>
                <a:latin typeface="Arial"/>
                <a:ea typeface="Arial"/>
                <a:cs typeface="Arial"/>
              </a:defRPr>
            </a:lvl5pPr>
            <a:lvl6pPr>
              <a:defRPr sz="2025" b="0">
                <a:solidFill>
                  <a:srgbClr val="122638"/>
                </a:solidFill>
                <a:latin typeface="Arial"/>
                <a:ea typeface="Arial"/>
                <a:cs typeface="Arial"/>
              </a:defRPr>
            </a:lvl6pPr>
            <a:lvl7pPr>
              <a:defRPr sz="2025" b="0">
                <a:solidFill>
                  <a:srgbClr val="122638"/>
                </a:solidFill>
                <a:latin typeface="Arial"/>
                <a:ea typeface="Arial"/>
                <a:cs typeface="Arial"/>
              </a:defRPr>
            </a:lvl7pPr>
            <a:lvl8pPr>
              <a:defRPr sz="2025" b="0">
                <a:solidFill>
                  <a:srgbClr val="122638"/>
                </a:solidFill>
                <a:latin typeface="Arial"/>
                <a:ea typeface="Arial"/>
                <a:cs typeface="Arial"/>
              </a:defRPr>
            </a:lvl8pPr>
            <a:lvl9pPr>
              <a:defRPr sz="2025" b="0">
                <a:solidFill>
                  <a:srgbClr val="122638"/>
                </a:solidFill>
                <a:latin typeface="Arial"/>
                <a:ea typeface="Arial"/>
                <a:cs typeface="Arial"/>
              </a:defRPr>
            </a:lvl9pPr>
          </a:lstStyle>
          <a:p xmlns:a="http://schemas.openxmlformats.org/drawingml/2006/main">
            <a:pPr>
              <a:defRPr sz="2025" b="0">
                <a:solidFill>
                  <a:srgbClr val="122638"/>
                </a:solidFill>
                <a:latin typeface="Arial"/>
                <a:ea typeface="Arial"/>
                <a:cs typeface="Arial"/>
              </a:defRPr>
            </a:pPr>
            <a:r>
              <a:rPr sz="2025" b="0">
                <a:solidFill>
                  <a:srgbClr val="122638"/>
                </a:solidFill>
                <a:latin typeface="Arial"/>
                <a:ea typeface="Arial"/>
                <a:cs typeface="Arial"/>
              </a:rPr>
              <a:t>Combined gate median</a:t>
            </a:r>
          </a:p>
        </p:txBody>
      </p:sp>
      <p:sp>
        <p:nvSpPr>
          <p:cNvPr id="7" name="">
            <a:extLst xmlns:a="http://schemas.openxmlformats.org/drawingml/2006/main">
              <a:ext uri="{FF2B5EF4-FFF2-40B4-BE49-F238E27FC236}">
                <a16:creationId xmlns:a16="http://schemas.microsoft.com/office/drawing/2014/main" id="{91740A71-E2EF-4708-8DC7-A844D95B498F}"/>
              </a:ext>
            </a:extLst>
          </p:cNvPr>
          <p:cNvSpPr>
            <a:spLocks xmlns:a="http://schemas.openxmlformats.org/drawingml/2006/main" noGrp="1"/>
          </p:cNvSpPr>
          <p:nvPr/>
        </p:nvSpPr>
        <p:spPr>
          <a:xfrm xmlns:a="http://schemas.openxmlformats.org/drawingml/2006/main">
            <a:off x="6572250" y="3095625"/>
            <a:ext cx="4953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122638"/>
                </a:solidFill>
                <a:latin typeface="Arial"/>
                <a:ea typeface="Arial"/>
                <a:cs typeface="Arial"/>
              </a:defRPr>
            </a:defPPr>
            <a:lvl1pPr>
              <a:defRPr sz="2025" b="0">
                <a:solidFill>
                  <a:srgbClr val="122638"/>
                </a:solidFill>
                <a:latin typeface="Arial"/>
                <a:ea typeface="Arial"/>
                <a:cs typeface="Arial"/>
              </a:defRPr>
            </a:lvl1pPr>
            <a:lvl2pPr>
              <a:defRPr sz="2025" b="0">
                <a:solidFill>
                  <a:srgbClr val="122638"/>
                </a:solidFill>
                <a:latin typeface="Arial"/>
                <a:ea typeface="Arial"/>
                <a:cs typeface="Arial"/>
              </a:defRPr>
            </a:lvl2pPr>
            <a:lvl3pPr>
              <a:defRPr sz="2025" b="0">
                <a:solidFill>
                  <a:srgbClr val="122638"/>
                </a:solidFill>
                <a:latin typeface="Arial"/>
                <a:ea typeface="Arial"/>
                <a:cs typeface="Arial"/>
              </a:defRPr>
            </a:lvl3pPr>
            <a:lvl4pPr>
              <a:defRPr sz="2025" b="0">
                <a:solidFill>
                  <a:srgbClr val="122638"/>
                </a:solidFill>
                <a:latin typeface="Arial"/>
                <a:ea typeface="Arial"/>
                <a:cs typeface="Arial"/>
              </a:defRPr>
            </a:lvl4pPr>
            <a:lvl5pPr>
              <a:defRPr sz="2025" b="0">
                <a:solidFill>
                  <a:srgbClr val="122638"/>
                </a:solidFill>
                <a:latin typeface="Arial"/>
                <a:ea typeface="Arial"/>
                <a:cs typeface="Arial"/>
              </a:defRPr>
            </a:lvl5pPr>
            <a:lvl6pPr>
              <a:defRPr sz="2025" b="0">
                <a:solidFill>
                  <a:srgbClr val="122638"/>
                </a:solidFill>
                <a:latin typeface="Arial"/>
                <a:ea typeface="Arial"/>
                <a:cs typeface="Arial"/>
              </a:defRPr>
            </a:lvl6pPr>
            <a:lvl7pPr>
              <a:defRPr sz="2025" b="0">
                <a:solidFill>
                  <a:srgbClr val="122638"/>
                </a:solidFill>
                <a:latin typeface="Arial"/>
                <a:ea typeface="Arial"/>
                <a:cs typeface="Arial"/>
              </a:defRPr>
            </a:lvl7pPr>
            <a:lvl8pPr>
              <a:defRPr sz="2025" b="0">
                <a:solidFill>
                  <a:srgbClr val="122638"/>
                </a:solidFill>
                <a:latin typeface="Arial"/>
                <a:ea typeface="Arial"/>
                <a:cs typeface="Arial"/>
              </a:defRPr>
            </a:lvl8pPr>
            <a:lvl9pPr>
              <a:defRPr sz="2025" b="0">
                <a:solidFill>
                  <a:srgbClr val="122638"/>
                </a:solidFill>
                <a:latin typeface="Arial"/>
                <a:ea typeface="Arial"/>
                <a:cs typeface="Arial"/>
              </a:defRPr>
            </a:lvl9pPr>
          </a:lstStyle>
          <a:p xmlns:a="http://schemas.openxmlformats.org/drawingml/2006/main">
            <a:pPr>
              <a:defRPr sz="2025" b="0">
                <a:solidFill>
                  <a:srgbClr val="122638"/>
                </a:solidFill>
                <a:latin typeface="Arial"/>
                <a:ea typeface="Arial"/>
                <a:cs typeface="Arial"/>
              </a:defRPr>
            </a:pPr>
            <a:r>
              <a:rPr sz="2025" b="0">
                <a:solidFill>
                  <a:srgbClr val="122638"/>
                </a:solidFill>
                <a:latin typeface="Arial"/>
                <a:ea typeface="Arial"/>
                <a:cs typeface="Arial"/>
              </a:rPr>
              <a:t>Rule gate median</a:t>
            </a:r>
          </a:p>
        </p:txBody>
      </p:sp>
      <p:sp>
        <p:nvSpPr>
          <p:cNvPr id="8" name="">
            <a:extLst xmlns:a="http://schemas.openxmlformats.org/drawingml/2006/main">
              <a:ext uri="{FF2B5EF4-FFF2-40B4-BE49-F238E27FC236}">
                <a16:creationId xmlns:a16="http://schemas.microsoft.com/office/drawing/2014/main" id="{027E68C8-670D-4AEA-AC0F-E7A596F4BD55}"/>
              </a:ext>
            </a:extLst>
          </p:cNvPr>
          <p:cNvSpPr>
            <a:spLocks xmlns:a="http://schemas.openxmlformats.org/drawingml/2006/main" noGrp="1"/>
          </p:cNvSpPr>
          <p:nvPr/>
        </p:nvSpPr>
        <p:spPr>
          <a:xfrm xmlns:a="http://schemas.openxmlformats.org/drawingml/2006/main">
            <a:off x="685800" y="3905250"/>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26574"/>
                </a:solidFill>
                <a:latin typeface="Arial"/>
                <a:ea typeface="Arial"/>
                <a:cs typeface="Arial"/>
              </a:defRPr>
            </a:defPPr>
            <a:lvl1pPr>
              <a:defRPr sz="1950" b="0">
                <a:solidFill>
                  <a:srgbClr val="526574"/>
                </a:solidFill>
                <a:latin typeface="Arial"/>
                <a:ea typeface="Arial"/>
                <a:cs typeface="Arial"/>
              </a:defRPr>
            </a:lvl1pPr>
            <a:lvl2pPr>
              <a:defRPr sz="1950" b="0">
                <a:solidFill>
                  <a:srgbClr val="526574"/>
                </a:solidFill>
                <a:latin typeface="Arial"/>
                <a:ea typeface="Arial"/>
                <a:cs typeface="Arial"/>
              </a:defRPr>
            </a:lvl2pPr>
            <a:lvl3pPr>
              <a:defRPr sz="1950" b="0">
                <a:solidFill>
                  <a:srgbClr val="526574"/>
                </a:solidFill>
                <a:latin typeface="Arial"/>
                <a:ea typeface="Arial"/>
                <a:cs typeface="Arial"/>
              </a:defRPr>
            </a:lvl3pPr>
            <a:lvl4pPr>
              <a:defRPr sz="1950" b="0">
                <a:solidFill>
                  <a:srgbClr val="526574"/>
                </a:solidFill>
                <a:latin typeface="Arial"/>
                <a:ea typeface="Arial"/>
                <a:cs typeface="Arial"/>
              </a:defRPr>
            </a:lvl4pPr>
            <a:lvl5pPr>
              <a:defRPr sz="1950" b="0">
                <a:solidFill>
                  <a:srgbClr val="526574"/>
                </a:solidFill>
                <a:latin typeface="Arial"/>
                <a:ea typeface="Arial"/>
                <a:cs typeface="Arial"/>
              </a:defRPr>
            </a:lvl5pPr>
            <a:lvl6pPr>
              <a:defRPr sz="1950" b="0">
                <a:solidFill>
                  <a:srgbClr val="526574"/>
                </a:solidFill>
                <a:latin typeface="Arial"/>
                <a:ea typeface="Arial"/>
                <a:cs typeface="Arial"/>
              </a:defRPr>
            </a:lvl6pPr>
            <a:lvl7pPr>
              <a:defRPr sz="1950" b="0">
                <a:solidFill>
                  <a:srgbClr val="526574"/>
                </a:solidFill>
                <a:latin typeface="Arial"/>
                <a:ea typeface="Arial"/>
                <a:cs typeface="Arial"/>
              </a:defRPr>
            </a:lvl7pPr>
            <a:lvl8pPr>
              <a:defRPr sz="1950" b="0">
                <a:solidFill>
                  <a:srgbClr val="526574"/>
                </a:solidFill>
                <a:latin typeface="Arial"/>
                <a:ea typeface="Arial"/>
                <a:cs typeface="Arial"/>
              </a:defRPr>
            </a:lvl8pPr>
            <a:lvl9pPr>
              <a:defRPr sz="1950" b="0">
                <a:solidFill>
                  <a:srgbClr val="526574"/>
                </a:solidFill>
                <a:latin typeface="Arial"/>
                <a:ea typeface="Arial"/>
                <a:cs typeface="Arial"/>
              </a:defRPr>
            </a:lvl9pPr>
          </a:lstStyle>
          <a:p xmlns:a="http://schemas.openxmlformats.org/drawingml/2006/main">
            <a:pPr>
              <a:defRPr sz="1950" b="0">
                <a:solidFill>
                  <a:srgbClr val="526574"/>
                </a:solidFill>
                <a:latin typeface="Arial"/>
                <a:ea typeface="Arial"/>
                <a:cs typeface="Arial"/>
              </a:defRPr>
            </a:pPr>
            <a:r>
              <a:rPr sz="1950" b="0">
                <a:solidFill>
                  <a:srgbClr val="526574"/>
                </a:solidFill>
                <a:latin typeface="Arial"/>
                <a:ea typeface="Arial"/>
                <a:cs typeface="Arial"/>
              </a:rPr>
              <a:t>Uncached 16-email pilot; expanded reuse excluded from timing</a:t>
            </a:r>
          </a:p>
        </p:txBody>
      </p:sp>
      <p:sp>
        <p:nvSpPr>
          <p:cNvPr id="9" name="">
            <a:extLst xmlns:a="http://schemas.openxmlformats.org/drawingml/2006/main">
              <a:ext uri="{FF2B5EF4-FFF2-40B4-BE49-F238E27FC236}">
                <a16:creationId xmlns:a16="http://schemas.microsoft.com/office/drawing/2014/main" id="{4D315CC4-28F3-4888-AB4E-9923CD033416}"/>
              </a:ext>
            </a:extLst>
          </p:cNvPr>
          <p:cNvSpPr>
            <a:spLocks xmlns:a="http://schemas.openxmlformats.org/drawingml/2006/main" noGrp="1"/>
          </p:cNvSpPr>
          <p:nvPr/>
        </p:nvSpPr>
        <p:spPr>
          <a:xfrm xmlns:a="http://schemas.openxmlformats.org/drawingml/2006/main">
            <a:off x="685800" y="485775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9C3A34"/>
                </a:solidFill>
                <a:latin typeface="Arial"/>
                <a:ea typeface="Arial"/>
                <a:cs typeface="Arial"/>
              </a:defRPr>
            </a:defPPr>
            <a:lvl1pPr>
              <a:defRPr sz="2325" b="1">
                <a:solidFill>
                  <a:srgbClr val="9C3A34"/>
                </a:solidFill>
                <a:latin typeface="Arial"/>
                <a:ea typeface="Arial"/>
                <a:cs typeface="Arial"/>
              </a:defRPr>
            </a:lvl1pPr>
            <a:lvl2pPr>
              <a:defRPr sz="2325" b="1">
                <a:solidFill>
                  <a:srgbClr val="9C3A34"/>
                </a:solidFill>
                <a:latin typeface="Arial"/>
                <a:ea typeface="Arial"/>
                <a:cs typeface="Arial"/>
              </a:defRPr>
            </a:lvl2pPr>
            <a:lvl3pPr>
              <a:defRPr sz="2325" b="1">
                <a:solidFill>
                  <a:srgbClr val="9C3A34"/>
                </a:solidFill>
                <a:latin typeface="Arial"/>
                <a:ea typeface="Arial"/>
                <a:cs typeface="Arial"/>
              </a:defRPr>
            </a:lvl3pPr>
            <a:lvl4pPr>
              <a:defRPr sz="2325" b="1">
                <a:solidFill>
                  <a:srgbClr val="9C3A34"/>
                </a:solidFill>
                <a:latin typeface="Arial"/>
                <a:ea typeface="Arial"/>
                <a:cs typeface="Arial"/>
              </a:defRPr>
            </a:lvl4pPr>
            <a:lvl5pPr>
              <a:defRPr sz="2325" b="1">
                <a:solidFill>
                  <a:srgbClr val="9C3A34"/>
                </a:solidFill>
                <a:latin typeface="Arial"/>
                <a:ea typeface="Arial"/>
                <a:cs typeface="Arial"/>
              </a:defRPr>
            </a:lvl5pPr>
            <a:lvl6pPr>
              <a:defRPr sz="2325" b="1">
                <a:solidFill>
                  <a:srgbClr val="9C3A34"/>
                </a:solidFill>
                <a:latin typeface="Arial"/>
                <a:ea typeface="Arial"/>
                <a:cs typeface="Arial"/>
              </a:defRPr>
            </a:lvl6pPr>
            <a:lvl7pPr>
              <a:defRPr sz="2325" b="1">
                <a:solidFill>
                  <a:srgbClr val="9C3A34"/>
                </a:solidFill>
                <a:latin typeface="Arial"/>
                <a:ea typeface="Arial"/>
                <a:cs typeface="Arial"/>
              </a:defRPr>
            </a:lvl7pPr>
            <a:lvl8pPr>
              <a:defRPr sz="2325" b="1">
                <a:solidFill>
                  <a:srgbClr val="9C3A34"/>
                </a:solidFill>
                <a:latin typeface="Arial"/>
                <a:ea typeface="Arial"/>
                <a:cs typeface="Arial"/>
              </a:defRPr>
            </a:lvl8pPr>
            <a:lvl9pPr>
              <a:defRPr sz="2325" b="1">
                <a:solidFill>
                  <a:srgbClr val="9C3A34"/>
                </a:solidFill>
                <a:latin typeface="Arial"/>
                <a:ea typeface="Arial"/>
                <a:cs typeface="Arial"/>
              </a:defRPr>
            </a:lvl9pPr>
          </a:lstStyle>
          <a:p xmlns:a="http://schemas.openxmlformats.org/drawingml/2006/main">
            <a:pPr>
              <a:defRPr sz="2325" b="1">
                <a:solidFill>
                  <a:srgbClr val="9C3A34"/>
                </a:solidFill>
                <a:latin typeface="Arial"/>
                <a:ea typeface="Arial"/>
                <a:cs typeface="Arial"/>
              </a:defRPr>
            </a:pPr>
            <a:r>
              <a:rPr sz="2325" b="1">
                <a:solidFill>
                  <a:srgbClr val="9C3A34"/>
                </a:solidFill>
                <a:latin typeface="Arial"/>
                <a:ea typeface="Arial"/>
                <a:cs typeface="Arial"/>
              </a:rPr>
              <a:t>Observed failure: remove mixed chunk → lose the correct amount</a:t>
            </a:r>
          </a:p>
        </p:txBody>
      </p:sp>
    </p:spTree>
    <p:extLst>
      <p:ext uri="{BB962C8B-B14F-4D97-AF65-F5344CB8AC3E}">
        <p14:creationId xmlns:p14="http://schemas.microsoft.com/office/powerpoint/2010/main" val="15138385"/>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051E56B-8FBE-407F-AFE4-40C8AA83AC32}"/>
              </a:ext>
            </a:extLst>
          </p:cNvPr>
          <p:cNvSpPr>
            <a:spLocks xmlns:a="http://schemas.openxmlformats.org/drawingml/2006/main" noGrp="1"/>
          </p:cNvSpPr>
          <p:nvPr/>
        </p:nvSpPr>
        <p:spPr>
          <a:xfrm xmlns:a="http://schemas.openxmlformats.org/drawingml/2006/main">
            <a:off x="685800" y="476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132D46"/>
                </a:solidFill>
                <a:latin typeface="Arial"/>
                <a:ea typeface="Arial"/>
                <a:cs typeface="Arial"/>
              </a:defRPr>
            </a:defPPr>
            <a:lvl1pPr>
              <a:defRPr sz="3000" b="1">
                <a:solidFill>
                  <a:srgbClr val="132D46"/>
                </a:solidFill>
                <a:latin typeface="Arial"/>
                <a:ea typeface="Arial"/>
                <a:cs typeface="Arial"/>
              </a:defRPr>
            </a:lvl1pPr>
            <a:lvl2pPr>
              <a:defRPr sz="3000" b="1">
                <a:solidFill>
                  <a:srgbClr val="132D46"/>
                </a:solidFill>
                <a:latin typeface="Arial"/>
                <a:ea typeface="Arial"/>
                <a:cs typeface="Arial"/>
              </a:defRPr>
            </a:lvl2pPr>
            <a:lvl3pPr>
              <a:defRPr sz="3000" b="1">
                <a:solidFill>
                  <a:srgbClr val="132D46"/>
                </a:solidFill>
                <a:latin typeface="Arial"/>
                <a:ea typeface="Arial"/>
                <a:cs typeface="Arial"/>
              </a:defRPr>
            </a:lvl3pPr>
            <a:lvl4pPr>
              <a:defRPr sz="3000" b="1">
                <a:solidFill>
                  <a:srgbClr val="132D46"/>
                </a:solidFill>
                <a:latin typeface="Arial"/>
                <a:ea typeface="Arial"/>
                <a:cs typeface="Arial"/>
              </a:defRPr>
            </a:lvl4pPr>
            <a:lvl5pPr>
              <a:defRPr sz="3000" b="1">
                <a:solidFill>
                  <a:srgbClr val="132D46"/>
                </a:solidFill>
                <a:latin typeface="Arial"/>
                <a:ea typeface="Arial"/>
                <a:cs typeface="Arial"/>
              </a:defRPr>
            </a:lvl5pPr>
            <a:lvl6pPr>
              <a:defRPr sz="3000" b="1">
                <a:solidFill>
                  <a:srgbClr val="132D46"/>
                </a:solidFill>
                <a:latin typeface="Arial"/>
                <a:ea typeface="Arial"/>
                <a:cs typeface="Arial"/>
              </a:defRPr>
            </a:lvl6pPr>
            <a:lvl7pPr>
              <a:defRPr sz="3000" b="1">
                <a:solidFill>
                  <a:srgbClr val="132D46"/>
                </a:solidFill>
                <a:latin typeface="Arial"/>
                <a:ea typeface="Arial"/>
                <a:cs typeface="Arial"/>
              </a:defRPr>
            </a:lvl7pPr>
            <a:lvl8pPr>
              <a:defRPr sz="3000" b="1">
                <a:solidFill>
                  <a:srgbClr val="132D46"/>
                </a:solidFill>
                <a:latin typeface="Arial"/>
                <a:ea typeface="Arial"/>
                <a:cs typeface="Arial"/>
              </a:defRPr>
            </a:lvl8pPr>
            <a:lvl9pPr>
              <a:defRPr sz="3000" b="1">
                <a:solidFill>
                  <a:srgbClr val="132D46"/>
                </a:solidFill>
                <a:latin typeface="Arial"/>
                <a:ea typeface="Arial"/>
                <a:cs typeface="Arial"/>
              </a:defRPr>
            </a:lvl9pPr>
          </a:lstStyle>
          <a:p xmlns:a="http://schemas.openxmlformats.org/drawingml/2006/main">
            <a:pPr>
              <a:defRPr sz="3000" b="1">
                <a:solidFill>
                  <a:srgbClr val="132D46"/>
                </a:solidFill>
                <a:latin typeface="Arial"/>
                <a:ea typeface="Arial"/>
                <a:cs typeface="Arial"/>
              </a:defRPr>
            </a:pPr>
            <a:r>
              <a:rPr sz="3000" b="1">
                <a:solidFill>
                  <a:srgbClr val="132D46"/>
                </a:solidFill>
                <a:latin typeface="Arial"/>
                <a:ea typeface="Arial"/>
                <a:cs typeface="Arial"/>
              </a:rPr>
              <a:t>The current gate needs task alignment before general use</a:t>
            </a:r>
          </a:p>
        </p:txBody>
      </p:sp>
      <p:sp>
        <p:nvSpPr>
          <p:cNvPr id="2" name="">
            <a:extLst xmlns:a="http://schemas.openxmlformats.org/drawingml/2006/main">
              <a:ext uri="{FF2B5EF4-FFF2-40B4-BE49-F238E27FC236}">
                <a16:creationId xmlns:a16="http://schemas.microsoft.com/office/drawing/2014/main" id="{FDF08C8B-F687-4120-83DD-1A438DFA7853}"/>
              </a:ext>
            </a:extLst>
          </p:cNvPr>
          <p:cNvSpPr>
            <a:spLocks xmlns:a="http://schemas.openxmlformats.org/drawingml/2006/main" noGrp="1"/>
          </p:cNvSpPr>
          <p:nvPr/>
        </p:nvSpPr>
        <p:spPr>
          <a:xfrm xmlns:a="http://schemas.openxmlformats.org/drawingml/2006/main">
            <a:off x="685800" y="1485900"/>
            <a:ext cx="800100" cy="476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6BF3540-F012-43DF-8D96-753ABEDCB65E}"/>
              </a:ext>
            </a:extLst>
          </p:cNvPr>
          <p:cNvSpPr>
            <a:spLocks xmlns:a="http://schemas.openxmlformats.org/drawingml/2006/main" noGrp="1"/>
          </p:cNvSpPr>
          <p:nvPr/>
        </p:nvSpPr>
        <p:spPr>
          <a:xfrm xmlns:a="http://schemas.openxmlformats.org/drawingml/2006/main">
            <a:off x="11191875" y="6334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4"/>
                </a:solidFill>
                <a:latin typeface="Arial"/>
                <a:ea typeface="Arial"/>
                <a:cs typeface="Arial"/>
              </a:defRPr>
            </a:defPPr>
            <a:lvl1pPr>
              <a:defRPr sz="1200" b="0">
                <a:solidFill>
                  <a:srgbClr val="526574"/>
                </a:solidFill>
                <a:latin typeface="Arial"/>
                <a:ea typeface="Arial"/>
                <a:cs typeface="Arial"/>
              </a:defRPr>
            </a:lvl1pPr>
            <a:lvl2pPr>
              <a:defRPr sz="1200" b="0">
                <a:solidFill>
                  <a:srgbClr val="526574"/>
                </a:solidFill>
                <a:latin typeface="Arial"/>
                <a:ea typeface="Arial"/>
                <a:cs typeface="Arial"/>
              </a:defRPr>
            </a:lvl2pPr>
            <a:lvl3pPr>
              <a:defRPr sz="1200" b="0">
                <a:solidFill>
                  <a:srgbClr val="526574"/>
                </a:solidFill>
                <a:latin typeface="Arial"/>
                <a:ea typeface="Arial"/>
                <a:cs typeface="Arial"/>
              </a:defRPr>
            </a:lvl3pPr>
            <a:lvl4pPr>
              <a:defRPr sz="1200" b="0">
                <a:solidFill>
                  <a:srgbClr val="526574"/>
                </a:solidFill>
                <a:latin typeface="Arial"/>
                <a:ea typeface="Arial"/>
                <a:cs typeface="Arial"/>
              </a:defRPr>
            </a:lvl4pPr>
            <a:lvl5pPr>
              <a:defRPr sz="1200" b="0">
                <a:solidFill>
                  <a:srgbClr val="526574"/>
                </a:solidFill>
                <a:latin typeface="Arial"/>
                <a:ea typeface="Arial"/>
                <a:cs typeface="Arial"/>
              </a:defRPr>
            </a:lvl5pPr>
            <a:lvl6pPr>
              <a:defRPr sz="1200" b="0">
                <a:solidFill>
                  <a:srgbClr val="526574"/>
                </a:solidFill>
                <a:latin typeface="Arial"/>
                <a:ea typeface="Arial"/>
                <a:cs typeface="Arial"/>
              </a:defRPr>
            </a:lvl6pPr>
            <a:lvl7pPr>
              <a:defRPr sz="1200" b="0">
                <a:solidFill>
                  <a:srgbClr val="526574"/>
                </a:solidFill>
                <a:latin typeface="Arial"/>
                <a:ea typeface="Arial"/>
                <a:cs typeface="Arial"/>
              </a:defRPr>
            </a:lvl7pPr>
            <a:lvl8pPr>
              <a:defRPr sz="1200" b="0">
                <a:solidFill>
                  <a:srgbClr val="526574"/>
                </a:solidFill>
                <a:latin typeface="Arial"/>
                <a:ea typeface="Arial"/>
                <a:cs typeface="Arial"/>
              </a:defRPr>
            </a:lvl8pPr>
            <a:lvl9pPr>
              <a:defRPr sz="1200" b="0">
                <a:solidFill>
                  <a:srgbClr val="526574"/>
                </a:solidFill>
                <a:latin typeface="Arial"/>
                <a:ea typeface="Arial"/>
                <a:cs typeface="Arial"/>
              </a:defRPr>
            </a:lvl9pPr>
          </a:lstStyle>
          <a:p xmlns:a="http://schemas.openxmlformats.org/drawingml/2006/main">
            <a:pPr>
              <a:defRPr sz="1200" b="0">
                <a:solidFill>
                  <a:srgbClr val="526574"/>
                </a:solidFill>
                <a:latin typeface="Arial"/>
                <a:ea typeface="Arial"/>
                <a:cs typeface="Arial"/>
              </a:defRPr>
            </a:pPr>
            <a:r>
              <a:rPr sz="1200" b="0">
                <a:solidFill>
                  <a:srgbClr val="526574"/>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0A188E50-BB20-4481-8344-3AE13F699C11}"/>
              </a:ext>
            </a:extLst>
          </p:cNvPr>
          <p:cNvSpPr>
            <a:spLocks xmlns:a="http://schemas.openxmlformats.org/drawingml/2006/main" noGrp="1"/>
          </p:cNvSpPr>
          <p:nvPr/>
        </p:nvSpPr>
        <p:spPr>
          <a:xfrm xmlns:a="http://schemas.openxmlformats.org/drawingml/2006/main">
            <a:off x="685800" y="209550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Measured</a:t>
            </a:r>
          </a:p>
        </p:txBody>
      </p:sp>
      <p:sp>
        <p:nvSpPr>
          <p:cNvPr id="5" name="">
            <a:extLst xmlns:a="http://schemas.openxmlformats.org/drawingml/2006/main">
              <a:ext uri="{FF2B5EF4-FFF2-40B4-BE49-F238E27FC236}">
                <a16:creationId xmlns:a16="http://schemas.microsoft.com/office/drawing/2014/main" id="{87FC5863-4567-4544-BD07-3746DBDA3454}"/>
              </a:ext>
            </a:extLst>
          </p:cNvPr>
          <p:cNvSpPr>
            <a:spLocks xmlns:a="http://schemas.openxmlformats.org/drawingml/2006/main" noGrp="1"/>
          </p:cNvSpPr>
          <p:nvPr/>
        </p:nvSpPr>
        <p:spPr>
          <a:xfrm xmlns:a="http://schemas.openxmlformats.org/drawingml/2006/main">
            <a:off x="685800" y="295275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22638"/>
                </a:solidFill>
                <a:latin typeface="Arial"/>
                <a:ea typeface="Arial"/>
                <a:cs typeface="Arial"/>
              </a:defRPr>
            </a:defPPr>
            <a:lvl1pPr>
              <a:defRPr sz="2250" b="0">
                <a:solidFill>
                  <a:srgbClr val="122638"/>
                </a:solidFill>
                <a:latin typeface="Arial"/>
                <a:ea typeface="Arial"/>
                <a:cs typeface="Arial"/>
              </a:defRPr>
            </a:lvl1pPr>
            <a:lvl2pPr>
              <a:defRPr sz="2250" b="0">
                <a:solidFill>
                  <a:srgbClr val="122638"/>
                </a:solidFill>
                <a:latin typeface="Arial"/>
                <a:ea typeface="Arial"/>
                <a:cs typeface="Arial"/>
              </a:defRPr>
            </a:lvl2pPr>
            <a:lvl3pPr>
              <a:defRPr sz="2250" b="0">
                <a:solidFill>
                  <a:srgbClr val="122638"/>
                </a:solidFill>
                <a:latin typeface="Arial"/>
                <a:ea typeface="Arial"/>
                <a:cs typeface="Arial"/>
              </a:defRPr>
            </a:lvl3pPr>
            <a:lvl4pPr>
              <a:defRPr sz="2250" b="0">
                <a:solidFill>
                  <a:srgbClr val="122638"/>
                </a:solidFill>
                <a:latin typeface="Arial"/>
                <a:ea typeface="Arial"/>
                <a:cs typeface="Arial"/>
              </a:defRPr>
            </a:lvl4pPr>
            <a:lvl5pPr>
              <a:defRPr sz="2250" b="0">
                <a:solidFill>
                  <a:srgbClr val="122638"/>
                </a:solidFill>
                <a:latin typeface="Arial"/>
                <a:ea typeface="Arial"/>
                <a:cs typeface="Arial"/>
              </a:defRPr>
            </a:lvl5pPr>
            <a:lvl6pPr>
              <a:defRPr sz="2250" b="0">
                <a:solidFill>
                  <a:srgbClr val="122638"/>
                </a:solidFill>
                <a:latin typeface="Arial"/>
                <a:ea typeface="Arial"/>
                <a:cs typeface="Arial"/>
              </a:defRPr>
            </a:lvl6pPr>
            <a:lvl7pPr>
              <a:defRPr sz="2250" b="0">
                <a:solidFill>
                  <a:srgbClr val="122638"/>
                </a:solidFill>
                <a:latin typeface="Arial"/>
                <a:ea typeface="Arial"/>
                <a:cs typeface="Arial"/>
              </a:defRPr>
            </a:lvl7pPr>
            <a:lvl8pPr>
              <a:defRPr sz="2250" b="0">
                <a:solidFill>
                  <a:srgbClr val="122638"/>
                </a:solidFill>
                <a:latin typeface="Arial"/>
                <a:ea typeface="Arial"/>
                <a:cs typeface="Arial"/>
              </a:defRPr>
            </a:lvl8pPr>
            <a:lvl9pPr>
              <a:defRPr sz="2250" b="0">
                <a:solidFill>
                  <a:srgbClr val="122638"/>
                </a:solidFill>
                <a:latin typeface="Arial"/>
                <a:ea typeface="Arial"/>
                <a:cs typeface="Arial"/>
              </a:defRPr>
            </a:lvl9pPr>
          </a:lstStyle>
          <a:p xmlns:a="http://schemas.openxmlformats.org/drawingml/2006/main">
            <a:pPr>
              <a:defRPr sz="2250" b="0">
                <a:solidFill>
                  <a:srgbClr val="122638"/>
                </a:solidFill>
                <a:latin typeface="Arial"/>
                <a:ea typeface="Arial"/>
                <a:cs typeface="Arial"/>
              </a:defRPr>
            </a:pPr>
            <a:r>
              <a:rPr sz="2250" b="0">
                <a:solidFill>
                  <a:srgbClr val="122638"/>
                </a:solidFill>
                <a:latin typeface="Arial"/>
                <a:ea typeface="Arial"/>
                <a:cs typeface="Arial"/>
              </a:rPr>
              <a:t>Complementary attack coverage</a:t>
            </a:r>
          </a:p>
          <a:p xmlns:a="http://schemas.openxmlformats.org/drawingml/2006/main">
            <a:pPr>
              <a:defRPr sz="2250" b="0">
                <a:solidFill>
                  <a:srgbClr val="122638"/>
                </a:solidFill>
                <a:latin typeface="Arial"/>
                <a:ea typeface="Arial"/>
                <a:cs typeface="Arial"/>
              </a:defRPr>
            </a:pPr>
            <a:r>
              <a:rPr sz="2250" b="0">
                <a:solidFill>
                  <a:srgbClr val="122638"/>
                </a:solidFill>
                <a:latin typeface="Arial"/>
                <a:ea typeface="Arial"/>
                <a:cs typeface="Arial"/>
              </a:rPr>
              <a:t>Complete RAG outcomes</a:t>
            </a:r>
          </a:p>
          <a:p xmlns:a="http://schemas.openxmlformats.org/drawingml/2006/main">
            <a:pPr>
              <a:defRPr sz="2250" b="0">
                <a:solidFill>
                  <a:srgbClr val="122638"/>
                </a:solidFill>
                <a:latin typeface="Arial"/>
                <a:ea typeface="Arial"/>
                <a:cs typeface="Arial"/>
              </a:defRPr>
            </a:pPr>
            <a:r>
              <a:rPr sz="2250" b="0">
                <a:solidFill>
                  <a:srgbClr val="122638"/>
                </a:solidFill>
                <a:latin typeface="Arial"/>
                <a:ea typeface="Arial"/>
                <a:cs typeface="Arial"/>
              </a:rPr>
              <a:t>Severe benign transfer failure</a:t>
            </a:r>
          </a:p>
        </p:txBody>
      </p:sp>
      <p:sp>
        <p:nvSpPr>
          <p:cNvPr id="6" name="">
            <a:extLst xmlns:a="http://schemas.openxmlformats.org/drawingml/2006/main">
              <a:ext uri="{FF2B5EF4-FFF2-40B4-BE49-F238E27FC236}">
                <a16:creationId xmlns:a16="http://schemas.microsoft.com/office/drawing/2014/main" id="{E31776FC-66A6-4709-A573-82A839BC6ED4}"/>
              </a:ext>
            </a:extLst>
          </p:cNvPr>
          <p:cNvSpPr>
            <a:spLocks xmlns:a="http://schemas.openxmlformats.org/drawingml/2006/main" noGrp="1"/>
          </p:cNvSpPr>
          <p:nvPr/>
        </p:nvSpPr>
        <p:spPr>
          <a:xfrm xmlns:a="http://schemas.openxmlformats.org/drawingml/2006/main">
            <a:off x="6572250" y="2095500"/>
            <a:ext cx="495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9C3A34"/>
                </a:solidFill>
                <a:latin typeface="Arial"/>
                <a:ea typeface="Arial"/>
                <a:cs typeface="Arial"/>
              </a:defRPr>
            </a:defPPr>
            <a:lvl1pPr>
              <a:defRPr sz="2175" b="1">
                <a:solidFill>
                  <a:srgbClr val="9C3A34"/>
                </a:solidFill>
                <a:latin typeface="Arial"/>
                <a:ea typeface="Arial"/>
                <a:cs typeface="Arial"/>
              </a:defRPr>
            </a:lvl1pPr>
            <a:lvl2pPr>
              <a:defRPr sz="2175" b="1">
                <a:solidFill>
                  <a:srgbClr val="9C3A34"/>
                </a:solidFill>
                <a:latin typeface="Arial"/>
                <a:ea typeface="Arial"/>
                <a:cs typeface="Arial"/>
              </a:defRPr>
            </a:lvl2pPr>
            <a:lvl3pPr>
              <a:defRPr sz="2175" b="1">
                <a:solidFill>
                  <a:srgbClr val="9C3A34"/>
                </a:solidFill>
                <a:latin typeface="Arial"/>
                <a:ea typeface="Arial"/>
                <a:cs typeface="Arial"/>
              </a:defRPr>
            </a:lvl3pPr>
            <a:lvl4pPr>
              <a:defRPr sz="2175" b="1">
                <a:solidFill>
                  <a:srgbClr val="9C3A34"/>
                </a:solidFill>
                <a:latin typeface="Arial"/>
                <a:ea typeface="Arial"/>
                <a:cs typeface="Arial"/>
              </a:defRPr>
            </a:lvl4pPr>
            <a:lvl5pPr>
              <a:defRPr sz="2175" b="1">
                <a:solidFill>
                  <a:srgbClr val="9C3A34"/>
                </a:solidFill>
                <a:latin typeface="Arial"/>
                <a:ea typeface="Arial"/>
                <a:cs typeface="Arial"/>
              </a:defRPr>
            </a:lvl5pPr>
            <a:lvl6pPr>
              <a:defRPr sz="2175" b="1">
                <a:solidFill>
                  <a:srgbClr val="9C3A34"/>
                </a:solidFill>
                <a:latin typeface="Arial"/>
                <a:ea typeface="Arial"/>
                <a:cs typeface="Arial"/>
              </a:defRPr>
            </a:lvl6pPr>
            <a:lvl7pPr>
              <a:defRPr sz="2175" b="1">
                <a:solidFill>
                  <a:srgbClr val="9C3A34"/>
                </a:solidFill>
                <a:latin typeface="Arial"/>
                <a:ea typeface="Arial"/>
                <a:cs typeface="Arial"/>
              </a:defRPr>
            </a:lvl7pPr>
            <a:lvl8pPr>
              <a:defRPr sz="2175" b="1">
                <a:solidFill>
                  <a:srgbClr val="9C3A34"/>
                </a:solidFill>
                <a:latin typeface="Arial"/>
                <a:ea typeface="Arial"/>
                <a:cs typeface="Arial"/>
              </a:defRPr>
            </a:lvl8pPr>
            <a:lvl9pPr>
              <a:defRPr sz="2175" b="1">
                <a:solidFill>
                  <a:srgbClr val="9C3A34"/>
                </a:solidFill>
                <a:latin typeface="Arial"/>
                <a:ea typeface="Arial"/>
                <a:cs typeface="Arial"/>
              </a:defRPr>
            </a:lvl9pPr>
          </a:lstStyle>
          <a:p xmlns:a="http://schemas.openxmlformats.org/drawingml/2006/main">
            <a:pPr>
              <a:defRPr sz="2175" b="1">
                <a:solidFill>
                  <a:srgbClr val="9C3A34"/>
                </a:solidFill>
                <a:latin typeface="Arial"/>
                <a:ea typeface="Arial"/>
                <a:cs typeface="Arial"/>
              </a:defRPr>
            </a:pPr>
            <a:r>
              <a:rPr sz="2175" b="1">
                <a:solidFill>
                  <a:srgbClr val="9C3A34"/>
                </a:solidFill>
                <a:latin typeface="Arial"/>
                <a:ea typeface="Arial"/>
                <a:cs typeface="Arial"/>
              </a:rPr>
              <a:t>Still constrained</a:t>
            </a:r>
          </a:p>
        </p:txBody>
      </p:sp>
      <p:sp>
        <p:nvSpPr>
          <p:cNvPr id="7" name="">
            <a:extLst xmlns:a="http://schemas.openxmlformats.org/drawingml/2006/main">
              <a:ext uri="{FF2B5EF4-FFF2-40B4-BE49-F238E27FC236}">
                <a16:creationId xmlns:a16="http://schemas.microsoft.com/office/drawing/2014/main" id="{7EDBBCF0-9E57-4780-894A-9AB1EFC6ACC0}"/>
              </a:ext>
            </a:extLst>
          </p:cNvPr>
          <p:cNvSpPr>
            <a:spLocks xmlns:a="http://schemas.openxmlformats.org/drawingml/2006/main" noGrp="1"/>
          </p:cNvSpPr>
          <p:nvPr/>
        </p:nvSpPr>
        <p:spPr>
          <a:xfrm xmlns:a="http://schemas.openxmlformats.org/drawingml/2006/main">
            <a:off x="6572250" y="2952750"/>
            <a:ext cx="4953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b="0">
                <a:solidFill>
                  <a:srgbClr val="122638"/>
                </a:solidFill>
                <a:latin typeface="Arial"/>
                <a:ea typeface="Arial"/>
                <a:cs typeface="Arial"/>
              </a:defRPr>
            </a:defPPr>
            <a:lvl1pPr>
              <a:defRPr sz="2250" b="0">
                <a:solidFill>
                  <a:srgbClr val="122638"/>
                </a:solidFill>
                <a:latin typeface="Arial"/>
                <a:ea typeface="Arial"/>
                <a:cs typeface="Arial"/>
              </a:defRPr>
            </a:lvl1pPr>
            <a:lvl2pPr>
              <a:defRPr sz="2250" b="0">
                <a:solidFill>
                  <a:srgbClr val="122638"/>
                </a:solidFill>
                <a:latin typeface="Arial"/>
                <a:ea typeface="Arial"/>
                <a:cs typeface="Arial"/>
              </a:defRPr>
            </a:lvl2pPr>
            <a:lvl3pPr>
              <a:defRPr sz="2250" b="0">
                <a:solidFill>
                  <a:srgbClr val="122638"/>
                </a:solidFill>
                <a:latin typeface="Arial"/>
                <a:ea typeface="Arial"/>
                <a:cs typeface="Arial"/>
              </a:defRPr>
            </a:lvl3pPr>
            <a:lvl4pPr>
              <a:defRPr sz="2250" b="0">
                <a:solidFill>
                  <a:srgbClr val="122638"/>
                </a:solidFill>
                <a:latin typeface="Arial"/>
                <a:ea typeface="Arial"/>
                <a:cs typeface="Arial"/>
              </a:defRPr>
            </a:lvl4pPr>
            <a:lvl5pPr>
              <a:defRPr sz="2250" b="0">
                <a:solidFill>
                  <a:srgbClr val="122638"/>
                </a:solidFill>
                <a:latin typeface="Arial"/>
                <a:ea typeface="Arial"/>
                <a:cs typeface="Arial"/>
              </a:defRPr>
            </a:lvl5pPr>
            <a:lvl6pPr>
              <a:defRPr sz="2250" b="0">
                <a:solidFill>
                  <a:srgbClr val="122638"/>
                </a:solidFill>
                <a:latin typeface="Arial"/>
                <a:ea typeface="Arial"/>
                <a:cs typeface="Arial"/>
              </a:defRPr>
            </a:lvl6pPr>
            <a:lvl7pPr>
              <a:defRPr sz="2250" b="0">
                <a:solidFill>
                  <a:srgbClr val="122638"/>
                </a:solidFill>
                <a:latin typeface="Arial"/>
                <a:ea typeface="Arial"/>
                <a:cs typeface="Arial"/>
              </a:defRPr>
            </a:lvl7pPr>
            <a:lvl8pPr>
              <a:defRPr sz="2250" b="0">
                <a:solidFill>
                  <a:srgbClr val="122638"/>
                </a:solidFill>
                <a:latin typeface="Arial"/>
                <a:ea typeface="Arial"/>
                <a:cs typeface="Arial"/>
              </a:defRPr>
            </a:lvl8pPr>
            <a:lvl9pPr>
              <a:defRPr sz="2250" b="0">
                <a:solidFill>
                  <a:srgbClr val="122638"/>
                </a:solidFill>
                <a:latin typeface="Arial"/>
                <a:ea typeface="Arial"/>
                <a:cs typeface="Arial"/>
              </a:defRPr>
            </a:lvl9pPr>
          </a:lstStyle>
          <a:p xmlns:a="http://schemas.openxmlformats.org/drawingml/2006/main">
            <a:pPr>
              <a:defRPr sz="2250" b="0">
                <a:solidFill>
                  <a:srgbClr val="122638"/>
                </a:solidFill>
                <a:latin typeface="Arial"/>
                <a:ea typeface="Arial"/>
                <a:cs typeface="Arial"/>
              </a:defRPr>
            </a:pPr>
            <a:r>
              <a:rPr sz="2250" b="0">
                <a:solidFill>
                  <a:srgbClr val="122638"/>
                </a:solidFill>
                <a:latin typeface="Arial"/>
                <a:ea typeface="Arial"/>
                <a:cs typeface="Arial"/>
              </a:rPr>
              <a:t>One small generator</a:t>
            </a:r>
          </a:p>
          <a:p xmlns:a="http://schemas.openxmlformats.org/drawingml/2006/main">
            <a:pPr>
              <a:defRPr sz="2250" b="0">
                <a:solidFill>
                  <a:srgbClr val="122638"/>
                </a:solidFill>
                <a:latin typeface="Arial"/>
                <a:ea typeface="Arial"/>
                <a:cs typeface="Arial"/>
              </a:defRPr>
            </a:pPr>
            <a:r>
              <a:rPr sz="2250" b="0">
                <a:solidFill>
                  <a:srgbClr val="122638"/>
                </a:solidFill>
                <a:latin typeface="Arial"/>
                <a:ea typeface="Arial"/>
                <a:cs typeface="Arial"/>
              </a:rPr>
              <a:t>33 source emails; fixed templates</a:t>
            </a:r>
          </a:p>
          <a:p xmlns:a="http://schemas.openxmlformats.org/drawingml/2006/main">
            <a:pPr>
              <a:defRPr sz="2250" b="0">
                <a:solidFill>
                  <a:srgbClr val="122638"/>
                </a:solidFill>
                <a:latin typeface="Arial"/>
                <a:ea typeface="Arial"/>
                <a:cs typeface="Arial"/>
              </a:defRPr>
            </a:pPr>
            <a:r>
              <a:rPr sz="2250" b="0">
                <a:solidFill>
                  <a:srgbClr val="122638"/>
                </a:solidFill>
                <a:latin typeface="Arial"/>
                <a:ea typeface="Arial"/>
                <a:cs typeface="Arial"/>
              </a:rPr>
              <a:t>No adaptive attacker</a:t>
            </a:r>
          </a:p>
        </p:txBody>
      </p:sp>
      <p:sp>
        <p:nvSpPr>
          <p:cNvPr id="8" name="">
            <a:extLst xmlns:a="http://schemas.openxmlformats.org/drawingml/2006/main">
              <a:ext uri="{FF2B5EF4-FFF2-40B4-BE49-F238E27FC236}">
                <a16:creationId xmlns:a16="http://schemas.microsoft.com/office/drawing/2014/main" id="{1B04E1A2-CB7C-4297-BD78-592A03FC18A2}"/>
              </a:ext>
            </a:extLst>
          </p:cNvPr>
          <p:cNvSpPr>
            <a:spLocks xmlns:a="http://schemas.openxmlformats.org/drawingml/2006/main" noGrp="1"/>
          </p:cNvSpPr>
          <p:nvPr/>
        </p:nvSpPr>
        <p:spPr>
          <a:xfrm xmlns:a="http://schemas.openxmlformats.org/drawingml/2006/main">
            <a:off x="685800" y="5572125"/>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526574"/>
                </a:solidFill>
                <a:latin typeface="Arial"/>
                <a:ea typeface="Arial"/>
                <a:cs typeface="Arial"/>
              </a:defRPr>
            </a:defPPr>
            <a:lvl1pPr>
              <a:defRPr sz="1950" b="0">
                <a:solidFill>
                  <a:srgbClr val="526574"/>
                </a:solidFill>
                <a:latin typeface="Arial"/>
                <a:ea typeface="Arial"/>
                <a:cs typeface="Arial"/>
              </a:defRPr>
            </a:lvl1pPr>
            <a:lvl2pPr>
              <a:defRPr sz="1950" b="0">
                <a:solidFill>
                  <a:srgbClr val="526574"/>
                </a:solidFill>
                <a:latin typeface="Arial"/>
                <a:ea typeface="Arial"/>
                <a:cs typeface="Arial"/>
              </a:defRPr>
            </a:lvl2pPr>
            <a:lvl3pPr>
              <a:defRPr sz="1950" b="0">
                <a:solidFill>
                  <a:srgbClr val="526574"/>
                </a:solidFill>
                <a:latin typeface="Arial"/>
                <a:ea typeface="Arial"/>
                <a:cs typeface="Arial"/>
              </a:defRPr>
            </a:lvl3pPr>
            <a:lvl4pPr>
              <a:defRPr sz="1950" b="0">
                <a:solidFill>
                  <a:srgbClr val="526574"/>
                </a:solidFill>
                <a:latin typeface="Arial"/>
                <a:ea typeface="Arial"/>
                <a:cs typeface="Arial"/>
              </a:defRPr>
            </a:lvl4pPr>
            <a:lvl5pPr>
              <a:defRPr sz="1950" b="0">
                <a:solidFill>
                  <a:srgbClr val="526574"/>
                </a:solidFill>
                <a:latin typeface="Arial"/>
                <a:ea typeface="Arial"/>
                <a:cs typeface="Arial"/>
              </a:defRPr>
            </a:lvl5pPr>
            <a:lvl6pPr>
              <a:defRPr sz="1950" b="0">
                <a:solidFill>
                  <a:srgbClr val="526574"/>
                </a:solidFill>
                <a:latin typeface="Arial"/>
                <a:ea typeface="Arial"/>
                <a:cs typeface="Arial"/>
              </a:defRPr>
            </a:lvl6pPr>
            <a:lvl7pPr>
              <a:defRPr sz="1950" b="0">
                <a:solidFill>
                  <a:srgbClr val="526574"/>
                </a:solidFill>
                <a:latin typeface="Arial"/>
                <a:ea typeface="Arial"/>
                <a:cs typeface="Arial"/>
              </a:defRPr>
            </a:lvl7pPr>
            <a:lvl8pPr>
              <a:defRPr sz="1950" b="0">
                <a:solidFill>
                  <a:srgbClr val="526574"/>
                </a:solidFill>
                <a:latin typeface="Arial"/>
                <a:ea typeface="Arial"/>
                <a:cs typeface="Arial"/>
              </a:defRPr>
            </a:lvl8pPr>
            <a:lvl9pPr>
              <a:defRPr sz="1950" b="0">
                <a:solidFill>
                  <a:srgbClr val="526574"/>
                </a:solidFill>
                <a:latin typeface="Arial"/>
                <a:ea typeface="Arial"/>
                <a:cs typeface="Arial"/>
              </a:defRPr>
            </a:lvl9pPr>
          </a:lstStyle>
          <a:p xmlns:a="http://schemas.openxmlformats.org/drawingml/2006/main">
            <a:pPr>
              <a:defRPr sz="1950" b="0">
                <a:solidFill>
                  <a:srgbClr val="526574"/>
                </a:solidFill>
                <a:latin typeface="Arial"/>
                <a:ea typeface="Arial"/>
                <a:cs typeface="Arial"/>
              </a:defRPr>
            </a:pPr>
            <a:r>
              <a:rPr sz="1950" b="0">
                <a:solidFill>
                  <a:srgbClr val="526574"/>
                </a:solidFill>
                <a:latin typeface="Arial"/>
                <a:ea typeface="Arial"/>
                <a:cs typeface="Arial"/>
              </a:rPr>
              <a:t>Next: representative calibration, task-conditioned scoring, finer removal</a:t>
            </a:r>
          </a:p>
        </p:txBody>
      </p:sp>
    </p:spTree>
    <p:extLst>
      <p:ext uri="{BB962C8B-B14F-4D97-AF65-F5344CB8AC3E}">
        <p14:creationId xmlns:p14="http://schemas.microsoft.com/office/powerpoint/2010/main" val="949147508"/>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98F0BCF-F525-46E3-9151-6DA28A90A051}"/>
              </a:ext>
            </a:extLst>
          </p:cNvPr>
          <p:cNvSpPr>
            <a:spLocks xmlns:a="http://schemas.openxmlformats.org/drawingml/2006/main" noGrp="1"/>
          </p:cNvSpPr>
          <p:nvPr/>
        </p:nvSpPr>
        <p:spPr>
          <a:xfrm xmlns:a="http://schemas.openxmlformats.org/drawingml/2006/main">
            <a:off x="685800" y="47625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000" b="1">
                <a:solidFill>
                  <a:srgbClr val="132D46"/>
                </a:solidFill>
                <a:latin typeface="Arial"/>
                <a:ea typeface="Arial"/>
                <a:cs typeface="Arial"/>
              </a:defRPr>
            </a:defPPr>
            <a:lvl1pPr>
              <a:defRPr sz="3000" b="1">
                <a:solidFill>
                  <a:srgbClr val="132D46"/>
                </a:solidFill>
                <a:latin typeface="Arial"/>
                <a:ea typeface="Arial"/>
                <a:cs typeface="Arial"/>
              </a:defRPr>
            </a:lvl1pPr>
            <a:lvl2pPr>
              <a:defRPr sz="3000" b="1">
                <a:solidFill>
                  <a:srgbClr val="132D46"/>
                </a:solidFill>
                <a:latin typeface="Arial"/>
                <a:ea typeface="Arial"/>
                <a:cs typeface="Arial"/>
              </a:defRPr>
            </a:lvl2pPr>
            <a:lvl3pPr>
              <a:defRPr sz="3000" b="1">
                <a:solidFill>
                  <a:srgbClr val="132D46"/>
                </a:solidFill>
                <a:latin typeface="Arial"/>
                <a:ea typeface="Arial"/>
                <a:cs typeface="Arial"/>
              </a:defRPr>
            </a:lvl3pPr>
            <a:lvl4pPr>
              <a:defRPr sz="3000" b="1">
                <a:solidFill>
                  <a:srgbClr val="132D46"/>
                </a:solidFill>
                <a:latin typeface="Arial"/>
                <a:ea typeface="Arial"/>
                <a:cs typeface="Arial"/>
              </a:defRPr>
            </a:lvl4pPr>
            <a:lvl5pPr>
              <a:defRPr sz="3000" b="1">
                <a:solidFill>
                  <a:srgbClr val="132D46"/>
                </a:solidFill>
                <a:latin typeface="Arial"/>
                <a:ea typeface="Arial"/>
                <a:cs typeface="Arial"/>
              </a:defRPr>
            </a:lvl5pPr>
            <a:lvl6pPr>
              <a:defRPr sz="3000" b="1">
                <a:solidFill>
                  <a:srgbClr val="132D46"/>
                </a:solidFill>
                <a:latin typeface="Arial"/>
                <a:ea typeface="Arial"/>
                <a:cs typeface="Arial"/>
              </a:defRPr>
            </a:lvl6pPr>
            <a:lvl7pPr>
              <a:defRPr sz="3000" b="1">
                <a:solidFill>
                  <a:srgbClr val="132D46"/>
                </a:solidFill>
                <a:latin typeface="Arial"/>
                <a:ea typeface="Arial"/>
                <a:cs typeface="Arial"/>
              </a:defRPr>
            </a:lvl7pPr>
            <a:lvl8pPr>
              <a:defRPr sz="3000" b="1">
                <a:solidFill>
                  <a:srgbClr val="132D46"/>
                </a:solidFill>
                <a:latin typeface="Arial"/>
                <a:ea typeface="Arial"/>
                <a:cs typeface="Arial"/>
              </a:defRPr>
            </a:lvl8pPr>
            <a:lvl9pPr>
              <a:defRPr sz="3000" b="1">
                <a:solidFill>
                  <a:srgbClr val="132D46"/>
                </a:solidFill>
                <a:latin typeface="Arial"/>
                <a:ea typeface="Arial"/>
                <a:cs typeface="Arial"/>
              </a:defRPr>
            </a:lvl9pPr>
          </a:lstStyle>
          <a:p xmlns:a="http://schemas.openxmlformats.org/drawingml/2006/main">
            <a:pPr>
              <a:defRPr sz="3000" b="1">
                <a:solidFill>
                  <a:srgbClr val="132D46"/>
                </a:solidFill>
                <a:latin typeface="Arial"/>
                <a:ea typeface="Arial"/>
                <a:cs typeface="Arial"/>
              </a:defRPr>
            </a:pPr>
            <a:r>
              <a:rPr sz="3000" b="1">
                <a:solidFill>
                  <a:srgbClr val="132D46"/>
                </a:solidFill>
                <a:latin typeface="Arial"/>
                <a:ea typeface="Arial"/>
                <a:cs typeface="Arial"/>
              </a:rPr>
              <a:t>Coverage alone is not a useful defence</a:t>
            </a:r>
          </a:p>
        </p:txBody>
      </p:sp>
      <p:sp>
        <p:nvSpPr>
          <p:cNvPr id="2" name="">
            <a:extLst xmlns:a="http://schemas.openxmlformats.org/drawingml/2006/main">
              <a:ext uri="{FF2B5EF4-FFF2-40B4-BE49-F238E27FC236}">
                <a16:creationId xmlns:a16="http://schemas.microsoft.com/office/drawing/2014/main" id="{12BB3341-5EE7-4831-A1C6-5C525CCA779D}"/>
              </a:ext>
            </a:extLst>
          </p:cNvPr>
          <p:cNvSpPr>
            <a:spLocks xmlns:a="http://schemas.openxmlformats.org/drawingml/2006/main" noGrp="1"/>
          </p:cNvSpPr>
          <p:nvPr/>
        </p:nvSpPr>
        <p:spPr>
          <a:xfrm xmlns:a="http://schemas.openxmlformats.org/drawingml/2006/main">
            <a:off x="685800" y="1485900"/>
            <a:ext cx="800100" cy="47625"/>
          </a:xfrm>
          <a:prstGeom xmlns:a="http://schemas.openxmlformats.org/drawingml/2006/main" prst="rect">
            <a:avLst/>
          </a:prstGeom>
          <a:solidFill xmlns:a="http://schemas.openxmlformats.org/drawingml/2006/main">
            <a:srgbClr val="087F8C"/>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C859FB6-30D6-4D7C-A762-92E582F1E162}"/>
              </a:ext>
            </a:extLst>
          </p:cNvPr>
          <p:cNvSpPr>
            <a:spLocks xmlns:a="http://schemas.openxmlformats.org/drawingml/2006/main" noGrp="1"/>
          </p:cNvSpPr>
          <p:nvPr/>
        </p:nvSpPr>
        <p:spPr>
          <a:xfrm xmlns:a="http://schemas.openxmlformats.org/drawingml/2006/main">
            <a:off x="11191875" y="6334125"/>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00" b="0">
                <a:solidFill>
                  <a:srgbClr val="526574"/>
                </a:solidFill>
                <a:latin typeface="Arial"/>
                <a:ea typeface="Arial"/>
                <a:cs typeface="Arial"/>
              </a:defRPr>
            </a:defPPr>
            <a:lvl1pPr>
              <a:defRPr sz="1200" b="0">
                <a:solidFill>
                  <a:srgbClr val="526574"/>
                </a:solidFill>
                <a:latin typeface="Arial"/>
                <a:ea typeface="Arial"/>
                <a:cs typeface="Arial"/>
              </a:defRPr>
            </a:lvl1pPr>
            <a:lvl2pPr>
              <a:defRPr sz="1200" b="0">
                <a:solidFill>
                  <a:srgbClr val="526574"/>
                </a:solidFill>
                <a:latin typeface="Arial"/>
                <a:ea typeface="Arial"/>
                <a:cs typeface="Arial"/>
              </a:defRPr>
            </a:lvl2pPr>
            <a:lvl3pPr>
              <a:defRPr sz="1200" b="0">
                <a:solidFill>
                  <a:srgbClr val="526574"/>
                </a:solidFill>
                <a:latin typeface="Arial"/>
                <a:ea typeface="Arial"/>
                <a:cs typeface="Arial"/>
              </a:defRPr>
            </a:lvl3pPr>
            <a:lvl4pPr>
              <a:defRPr sz="1200" b="0">
                <a:solidFill>
                  <a:srgbClr val="526574"/>
                </a:solidFill>
                <a:latin typeface="Arial"/>
                <a:ea typeface="Arial"/>
                <a:cs typeface="Arial"/>
              </a:defRPr>
            </a:lvl4pPr>
            <a:lvl5pPr>
              <a:defRPr sz="1200" b="0">
                <a:solidFill>
                  <a:srgbClr val="526574"/>
                </a:solidFill>
                <a:latin typeface="Arial"/>
                <a:ea typeface="Arial"/>
                <a:cs typeface="Arial"/>
              </a:defRPr>
            </a:lvl5pPr>
            <a:lvl6pPr>
              <a:defRPr sz="1200" b="0">
                <a:solidFill>
                  <a:srgbClr val="526574"/>
                </a:solidFill>
                <a:latin typeface="Arial"/>
                <a:ea typeface="Arial"/>
                <a:cs typeface="Arial"/>
              </a:defRPr>
            </a:lvl6pPr>
            <a:lvl7pPr>
              <a:defRPr sz="1200" b="0">
                <a:solidFill>
                  <a:srgbClr val="526574"/>
                </a:solidFill>
                <a:latin typeface="Arial"/>
                <a:ea typeface="Arial"/>
                <a:cs typeface="Arial"/>
              </a:defRPr>
            </a:lvl7pPr>
            <a:lvl8pPr>
              <a:defRPr sz="1200" b="0">
                <a:solidFill>
                  <a:srgbClr val="526574"/>
                </a:solidFill>
                <a:latin typeface="Arial"/>
                <a:ea typeface="Arial"/>
                <a:cs typeface="Arial"/>
              </a:defRPr>
            </a:lvl8pPr>
            <a:lvl9pPr>
              <a:defRPr sz="1200" b="0">
                <a:solidFill>
                  <a:srgbClr val="526574"/>
                </a:solidFill>
                <a:latin typeface="Arial"/>
                <a:ea typeface="Arial"/>
                <a:cs typeface="Arial"/>
              </a:defRPr>
            </a:lvl9pPr>
          </a:lstStyle>
          <a:p xmlns:a="http://schemas.openxmlformats.org/drawingml/2006/main">
            <a:pPr>
              <a:defRPr sz="1200" b="0">
                <a:solidFill>
                  <a:srgbClr val="526574"/>
                </a:solidFill>
                <a:latin typeface="Arial"/>
                <a:ea typeface="Arial"/>
                <a:cs typeface="Arial"/>
              </a:defRPr>
            </a:pPr>
            <a:r>
              <a:rPr sz="1200" b="0">
                <a:solidFill>
                  <a:srgbClr val="526574"/>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B5D7D936-3CBF-4F0D-BE00-CCE651C8E7A3}"/>
              </a:ext>
            </a:extLst>
          </p:cNvPr>
          <p:cNvSpPr>
            <a:spLocks xmlns:a="http://schemas.openxmlformats.org/drawingml/2006/main" noGrp="1"/>
          </p:cNvSpPr>
          <p:nvPr/>
        </p:nvSpPr>
        <p:spPr>
          <a:xfrm xmlns:a="http://schemas.openxmlformats.org/drawingml/2006/main">
            <a:off x="685800" y="2238375"/>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225" b="1">
                <a:solidFill>
                  <a:srgbClr val="132D46"/>
                </a:solidFill>
                <a:latin typeface="Arial"/>
                <a:ea typeface="Arial"/>
                <a:cs typeface="Arial"/>
              </a:defRPr>
            </a:defPPr>
            <a:lvl1pPr>
              <a:defRPr sz="3225" b="1">
                <a:solidFill>
                  <a:srgbClr val="132D46"/>
                </a:solidFill>
                <a:latin typeface="Arial"/>
                <a:ea typeface="Arial"/>
                <a:cs typeface="Arial"/>
              </a:defRPr>
            </a:lvl1pPr>
            <a:lvl2pPr>
              <a:defRPr sz="3225" b="1">
                <a:solidFill>
                  <a:srgbClr val="132D46"/>
                </a:solidFill>
                <a:latin typeface="Arial"/>
                <a:ea typeface="Arial"/>
                <a:cs typeface="Arial"/>
              </a:defRPr>
            </a:lvl2pPr>
            <a:lvl3pPr>
              <a:defRPr sz="3225" b="1">
                <a:solidFill>
                  <a:srgbClr val="132D46"/>
                </a:solidFill>
                <a:latin typeface="Arial"/>
                <a:ea typeface="Arial"/>
                <a:cs typeface="Arial"/>
              </a:defRPr>
            </a:lvl3pPr>
            <a:lvl4pPr>
              <a:defRPr sz="3225" b="1">
                <a:solidFill>
                  <a:srgbClr val="132D46"/>
                </a:solidFill>
                <a:latin typeface="Arial"/>
                <a:ea typeface="Arial"/>
                <a:cs typeface="Arial"/>
              </a:defRPr>
            </a:lvl4pPr>
            <a:lvl5pPr>
              <a:defRPr sz="3225" b="1">
                <a:solidFill>
                  <a:srgbClr val="132D46"/>
                </a:solidFill>
                <a:latin typeface="Arial"/>
                <a:ea typeface="Arial"/>
                <a:cs typeface="Arial"/>
              </a:defRPr>
            </a:lvl5pPr>
            <a:lvl6pPr>
              <a:defRPr sz="3225" b="1">
                <a:solidFill>
                  <a:srgbClr val="132D46"/>
                </a:solidFill>
                <a:latin typeface="Arial"/>
                <a:ea typeface="Arial"/>
                <a:cs typeface="Arial"/>
              </a:defRPr>
            </a:lvl6pPr>
            <a:lvl7pPr>
              <a:defRPr sz="3225" b="1">
                <a:solidFill>
                  <a:srgbClr val="132D46"/>
                </a:solidFill>
                <a:latin typeface="Arial"/>
                <a:ea typeface="Arial"/>
                <a:cs typeface="Arial"/>
              </a:defRPr>
            </a:lvl7pPr>
            <a:lvl8pPr>
              <a:defRPr sz="3225" b="1">
                <a:solidFill>
                  <a:srgbClr val="132D46"/>
                </a:solidFill>
                <a:latin typeface="Arial"/>
                <a:ea typeface="Arial"/>
                <a:cs typeface="Arial"/>
              </a:defRPr>
            </a:lvl8pPr>
            <a:lvl9pPr>
              <a:defRPr sz="3225" b="1">
                <a:solidFill>
                  <a:srgbClr val="132D46"/>
                </a:solidFill>
                <a:latin typeface="Arial"/>
                <a:ea typeface="Arial"/>
                <a:cs typeface="Arial"/>
              </a:defRPr>
            </a:lvl9pPr>
          </a:lstStyle>
          <a:p xmlns:a="http://schemas.openxmlformats.org/drawingml/2006/main">
            <a:pPr>
              <a:defRPr sz="3225" b="1">
                <a:solidFill>
                  <a:srgbClr val="132D46"/>
                </a:solidFill>
                <a:latin typeface="Arial"/>
                <a:ea typeface="Arial"/>
                <a:cs typeface="Arial"/>
              </a:defRPr>
            </a:pPr>
            <a:r>
              <a:rPr sz="3225" b="1">
                <a:solidFill>
                  <a:srgbClr val="132D46"/>
                </a:solidFill>
                <a:latin typeface="Arial"/>
                <a:ea typeface="Arial"/>
                <a:cs typeface="Arial"/>
              </a:rPr>
              <a:t>Measure attacks, legitimate content, answers and cost together</a:t>
            </a:r>
          </a:p>
        </p:txBody>
      </p:sp>
      <p:sp>
        <p:nvSpPr>
          <p:cNvPr id="5" name="">
            <a:extLst xmlns:a="http://schemas.openxmlformats.org/drawingml/2006/main">
              <a:ext uri="{FF2B5EF4-FFF2-40B4-BE49-F238E27FC236}">
                <a16:creationId xmlns:a16="http://schemas.microsoft.com/office/drawing/2014/main" id="{14A705E4-C83A-407C-874C-951F43F7CBC5}"/>
              </a:ext>
            </a:extLst>
          </p:cNvPr>
          <p:cNvSpPr>
            <a:spLocks xmlns:a="http://schemas.openxmlformats.org/drawingml/2006/main" noGrp="1"/>
          </p:cNvSpPr>
          <p:nvPr/>
        </p:nvSpPr>
        <p:spPr>
          <a:xfrm xmlns:a="http://schemas.openxmlformats.org/drawingml/2006/main">
            <a:off x="685800" y="4048125"/>
            <a:ext cx="10668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75" b="1">
                <a:solidFill>
                  <a:srgbClr val="9C3A34"/>
                </a:solidFill>
                <a:latin typeface="Arial"/>
                <a:ea typeface="Arial"/>
                <a:cs typeface="Arial"/>
              </a:defRPr>
            </a:defPPr>
            <a:lvl1pPr>
              <a:defRPr sz="2475" b="1">
                <a:solidFill>
                  <a:srgbClr val="9C3A34"/>
                </a:solidFill>
                <a:latin typeface="Arial"/>
                <a:ea typeface="Arial"/>
                <a:cs typeface="Arial"/>
              </a:defRPr>
            </a:lvl1pPr>
            <a:lvl2pPr>
              <a:defRPr sz="2475" b="1">
                <a:solidFill>
                  <a:srgbClr val="9C3A34"/>
                </a:solidFill>
                <a:latin typeface="Arial"/>
                <a:ea typeface="Arial"/>
                <a:cs typeface="Arial"/>
              </a:defRPr>
            </a:lvl2pPr>
            <a:lvl3pPr>
              <a:defRPr sz="2475" b="1">
                <a:solidFill>
                  <a:srgbClr val="9C3A34"/>
                </a:solidFill>
                <a:latin typeface="Arial"/>
                <a:ea typeface="Arial"/>
                <a:cs typeface="Arial"/>
              </a:defRPr>
            </a:lvl3pPr>
            <a:lvl4pPr>
              <a:defRPr sz="2475" b="1">
                <a:solidFill>
                  <a:srgbClr val="9C3A34"/>
                </a:solidFill>
                <a:latin typeface="Arial"/>
                <a:ea typeface="Arial"/>
                <a:cs typeface="Arial"/>
              </a:defRPr>
            </a:lvl4pPr>
            <a:lvl5pPr>
              <a:defRPr sz="2475" b="1">
                <a:solidFill>
                  <a:srgbClr val="9C3A34"/>
                </a:solidFill>
                <a:latin typeface="Arial"/>
                <a:ea typeface="Arial"/>
                <a:cs typeface="Arial"/>
              </a:defRPr>
            </a:lvl5pPr>
            <a:lvl6pPr>
              <a:defRPr sz="2475" b="1">
                <a:solidFill>
                  <a:srgbClr val="9C3A34"/>
                </a:solidFill>
                <a:latin typeface="Arial"/>
                <a:ea typeface="Arial"/>
                <a:cs typeface="Arial"/>
              </a:defRPr>
            </a:lvl6pPr>
            <a:lvl7pPr>
              <a:defRPr sz="2475" b="1">
                <a:solidFill>
                  <a:srgbClr val="9C3A34"/>
                </a:solidFill>
                <a:latin typeface="Arial"/>
                <a:ea typeface="Arial"/>
                <a:cs typeface="Arial"/>
              </a:defRPr>
            </a:lvl7pPr>
            <a:lvl8pPr>
              <a:defRPr sz="2475" b="1">
                <a:solidFill>
                  <a:srgbClr val="9C3A34"/>
                </a:solidFill>
                <a:latin typeface="Arial"/>
                <a:ea typeface="Arial"/>
                <a:cs typeface="Arial"/>
              </a:defRPr>
            </a:lvl8pPr>
            <a:lvl9pPr>
              <a:defRPr sz="2475" b="1">
                <a:solidFill>
                  <a:srgbClr val="9C3A34"/>
                </a:solidFill>
                <a:latin typeface="Arial"/>
                <a:ea typeface="Arial"/>
                <a:cs typeface="Arial"/>
              </a:defRPr>
            </a:lvl9pPr>
          </a:lstStyle>
          <a:p xmlns:a="http://schemas.openxmlformats.org/drawingml/2006/main">
            <a:pPr>
              <a:defRPr sz="2475" b="1">
                <a:solidFill>
                  <a:srgbClr val="9C3A34"/>
                </a:solidFill>
                <a:latin typeface="Arial"/>
                <a:ea typeface="Arial"/>
                <a:cs typeface="Arial"/>
              </a:defRPr>
            </a:pPr>
            <a:r>
              <a:rPr sz="2475" b="1">
                <a:solidFill>
                  <a:srgbClr val="9C3A34"/>
                </a:solidFill>
                <a:latin typeface="Arial"/>
                <a:ea typeface="Arial"/>
                <a:cs typeface="Arial"/>
              </a:rPr>
              <a:t>Retain negative findings: 24/24 benign items rejected</a:t>
            </a:r>
          </a:p>
        </p:txBody>
      </p:sp>
      <p:sp>
        <p:nvSpPr>
          <p:cNvPr id="6" name="">
            <a:extLst xmlns:a="http://schemas.openxmlformats.org/drawingml/2006/main">
              <a:ext uri="{FF2B5EF4-FFF2-40B4-BE49-F238E27FC236}">
                <a16:creationId xmlns:a16="http://schemas.microsoft.com/office/drawing/2014/main" id="{5CE3D481-49DF-4F10-B726-9ABEAD693EEB}"/>
              </a:ext>
            </a:extLst>
          </p:cNvPr>
          <p:cNvSpPr>
            <a:spLocks xmlns:a="http://schemas.openxmlformats.org/drawingml/2006/main" noGrp="1"/>
          </p:cNvSpPr>
          <p:nvPr/>
        </p:nvSpPr>
        <p:spPr>
          <a:xfrm xmlns:a="http://schemas.openxmlformats.org/drawingml/2006/main">
            <a:off x="685800" y="5524500"/>
            <a:ext cx="10668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0">
                <a:solidFill>
                  <a:srgbClr val="087F8C"/>
                </a:solidFill>
                <a:latin typeface="Arial"/>
                <a:ea typeface="Arial"/>
                <a:cs typeface="Arial"/>
              </a:defRPr>
            </a:defPPr>
            <a:lvl1pPr>
              <a:defRPr sz="1800" b="0">
                <a:solidFill>
                  <a:srgbClr val="087F8C"/>
                </a:solidFill>
                <a:latin typeface="Arial"/>
                <a:ea typeface="Arial"/>
                <a:cs typeface="Arial"/>
              </a:defRPr>
            </a:lvl1pPr>
            <a:lvl2pPr>
              <a:defRPr sz="1800" b="0">
                <a:solidFill>
                  <a:srgbClr val="087F8C"/>
                </a:solidFill>
                <a:latin typeface="Arial"/>
                <a:ea typeface="Arial"/>
                <a:cs typeface="Arial"/>
              </a:defRPr>
            </a:lvl2pPr>
            <a:lvl3pPr>
              <a:defRPr sz="1800" b="0">
                <a:solidFill>
                  <a:srgbClr val="087F8C"/>
                </a:solidFill>
                <a:latin typeface="Arial"/>
                <a:ea typeface="Arial"/>
                <a:cs typeface="Arial"/>
              </a:defRPr>
            </a:lvl3pPr>
            <a:lvl4pPr>
              <a:defRPr sz="1800" b="0">
                <a:solidFill>
                  <a:srgbClr val="087F8C"/>
                </a:solidFill>
                <a:latin typeface="Arial"/>
                <a:ea typeface="Arial"/>
                <a:cs typeface="Arial"/>
              </a:defRPr>
            </a:lvl4pPr>
            <a:lvl5pPr>
              <a:defRPr sz="1800" b="0">
                <a:solidFill>
                  <a:srgbClr val="087F8C"/>
                </a:solidFill>
                <a:latin typeface="Arial"/>
                <a:ea typeface="Arial"/>
                <a:cs typeface="Arial"/>
              </a:defRPr>
            </a:lvl5pPr>
            <a:lvl6pPr>
              <a:defRPr sz="1800" b="0">
                <a:solidFill>
                  <a:srgbClr val="087F8C"/>
                </a:solidFill>
                <a:latin typeface="Arial"/>
                <a:ea typeface="Arial"/>
                <a:cs typeface="Arial"/>
              </a:defRPr>
            </a:lvl6pPr>
            <a:lvl7pPr>
              <a:defRPr sz="1800" b="0">
                <a:solidFill>
                  <a:srgbClr val="087F8C"/>
                </a:solidFill>
                <a:latin typeface="Arial"/>
                <a:ea typeface="Arial"/>
                <a:cs typeface="Arial"/>
              </a:defRPr>
            </a:lvl7pPr>
            <a:lvl8pPr>
              <a:defRPr sz="1800" b="0">
                <a:solidFill>
                  <a:srgbClr val="087F8C"/>
                </a:solidFill>
                <a:latin typeface="Arial"/>
                <a:ea typeface="Arial"/>
                <a:cs typeface="Arial"/>
              </a:defRPr>
            </a:lvl8pPr>
            <a:lvl9pPr>
              <a:defRPr sz="1800" b="0">
                <a:solidFill>
                  <a:srgbClr val="087F8C"/>
                </a:solidFill>
                <a:latin typeface="Arial"/>
                <a:ea typeface="Arial"/>
                <a:cs typeface="Arial"/>
              </a:defRPr>
            </a:lvl9pPr>
          </a:lstStyle>
          <a:p xmlns:a="http://schemas.openxmlformats.org/drawingml/2006/main">
            <a:pPr>
              <a:defRPr sz="1800" b="0">
                <a:solidFill>
                  <a:srgbClr val="087F8C"/>
                </a:solidFill>
                <a:latin typeface="Arial"/>
                <a:ea typeface="Arial"/>
                <a:cs typeface="Arial"/>
              </a:defRPr>
            </a:pPr>
            <a:r>
              <a:rPr sz="1800" b="0">
                <a:solidFill>
                  <a:srgbClr val="087F8C"/>
                </a:solidFill>
                <a:latin typeface="Arial"/>
                <a:ea typeface="Arial"/>
                <a:cs typeface="Arial"/>
              </a:rPr>
              <a:t>Code + raw results: github.com/wxia639-dot/cs764-rag-security</a:t>
            </a:r>
          </a:p>
        </p:txBody>
      </p:sp>
    </p:spTree>
    <p:extLst>
      <p:ext uri="{BB962C8B-B14F-4D97-AF65-F5344CB8AC3E}">
        <p14:creationId xmlns:p14="http://schemas.microsoft.com/office/powerpoint/2010/main" val="12671905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2026-10-18T21:26:39.1280000Z</dcterms:created>
  <dcterms:modified xsi:type="dcterms:W3CDTF">2026-10-18T21:26:39.1280000Z</dcterms:modified>
</coreProperties>
</file>